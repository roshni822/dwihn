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395b82081243db" /><Relationship Type="http://schemas.openxmlformats.org/officeDocument/2006/relationships/extended-properties" Target="/docProps/app.xml" Id="R999dc15f46b0443d" /><Relationship Type="http://schemas.openxmlformats.org/officeDocument/2006/relationships/officeDocument" Target="/ppt/presentation.xml" Id="Re83c086c5cfb439c" /></Relationships>
</file>

<file path=ppt/presentation.xml><?xml version="1.0" encoding="utf-8"?>
<p:presentation xmlns:p="http://schemas.openxmlformats.org/presentationml/2006/main">
  <p:sldMasterIdLst>
    <p:sldMasterId xmlns:r="http://schemas.openxmlformats.org/officeDocument/2006/relationships" id="2147483648" r:id="R326f32a94b64412e"/>
  </p:sldMasterIdLst>
  <p:notesMasterIdLst>
    <p:notesMasterId xmlns:r="http://schemas.openxmlformats.org/officeDocument/2006/relationships" r:id="R54b07e3ff5244f77"/>
  </p:notesMasterIdLst>
  <p:sldIdLst>
    <p:sldId xmlns:r="http://schemas.openxmlformats.org/officeDocument/2006/relationships" id="256" r:id="R9155f70918504ab4"/>
    <p:sldId xmlns:r="http://schemas.openxmlformats.org/officeDocument/2006/relationships" id="257" r:id="Re8e6fde3a8d8471a"/>
    <p:sldId xmlns:r="http://schemas.openxmlformats.org/officeDocument/2006/relationships" id="258" r:id="Reb5a2a95777b4d39"/>
    <p:sldId xmlns:r="http://schemas.openxmlformats.org/officeDocument/2006/relationships" id="259" r:id="R11cc17acb6ae4c27"/>
    <p:sldId xmlns:r="http://schemas.openxmlformats.org/officeDocument/2006/relationships" id="260" r:id="Rcb84c746ec0c47cf"/>
    <p:sldId xmlns:r="http://schemas.openxmlformats.org/officeDocument/2006/relationships" id="261" r:id="Rc35b5ec0e13b4807"/>
    <p:sldId xmlns:r="http://schemas.openxmlformats.org/officeDocument/2006/relationships" id="262" r:id="R2d259e511bb149e6"/>
    <p:sldId xmlns:r="http://schemas.openxmlformats.org/officeDocument/2006/relationships" id="263" r:id="Rcb2fdf67f6dd4147"/>
    <p:sldId xmlns:r="http://schemas.openxmlformats.org/officeDocument/2006/relationships" id="264" r:id="R361182693a3b4cc3"/>
    <p:sldId xmlns:r="http://schemas.openxmlformats.org/officeDocument/2006/relationships" id="265" r:id="Rbd7ee675cc4c424a"/>
    <p:sldId xmlns:r="http://schemas.openxmlformats.org/officeDocument/2006/relationships" id="266" r:id="Rb76e8e98f3374557"/>
    <p:sldId xmlns:r="http://schemas.openxmlformats.org/officeDocument/2006/relationships" id="267" r:id="R13c8af13b48d43fa"/>
    <p:sldId xmlns:r="http://schemas.openxmlformats.org/officeDocument/2006/relationships" id="268" r:id="Rbc19a9f6faf0445b"/>
    <p:sldId xmlns:r="http://schemas.openxmlformats.org/officeDocument/2006/relationships" id="269" r:id="R38ae40e81e684a1d"/>
    <p:sldId xmlns:r="http://schemas.openxmlformats.org/officeDocument/2006/relationships" id="270" r:id="R8e1f5a5c86ad4fa0"/>
    <p:sldId xmlns:r="http://schemas.openxmlformats.org/officeDocument/2006/relationships" id="271" r:id="Rb57a406643784f49"/>
    <p:sldId xmlns:r="http://schemas.openxmlformats.org/officeDocument/2006/relationships" id="272" r:id="R472f4970b40341d1"/>
    <p:sldId xmlns:r="http://schemas.openxmlformats.org/officeDocument/2006/relationships" id="273" r:id="Rffea3088158d4e37"/>
    <p:sldId xmlns:r="http://schemas.openxmlformats.org/officeDocument/2006/relationships" id="274" r:id="Reeff35b1f5934045"/>
    <p:sldId xmlns:r="http://schemas.openxmlformats.org/officeDocument/2006/relationships" id="275" r:id="Rabc99efdbbd741ed"/>
    <p:sldId xmlns:r="http://schemas.openxmlformats.org/officeDocument/2006/relationships" id="276" r:id="Rcb76b79ba26f4901"/>
    <p:sldId xmlns:r="http://schemas.openxmlformats.org/officeDocument/2006/relationships" id="277" r:id="R66462e75d1264bb1"/>
    <p:sldId xmlns:r="http://schemas.openxmlformats.org/officeDocument/2006/relationships" id="278" r:id="R39dd0d914a264530"/>
    <p:sldId xmlns:r="http://schemas.openxmlformats.org/officeDocument/2006/relationships" id="279" r:id="R65d23ea4d48049ab"/>
    <p:sldId xmlns:r="http://schemas.openxmlformats.org/officeDocument/2006/relationships" id="280" r:id="Rae3a157c744d4375"/>
    <p:sldId xmlns:r="http://schemas.openxmlformats.org/officeDocument/2006/relationships" id="281" r:id="R414b2307d96d4d86"/>
    <p:sldId xmlns:r="http://schemas.openxmlformats.org/officeDocument/2006/relationships" id="282" r:id="Ra119de233c7644a1"/>
    <p:sldId xmlns:r="http://schemas.openxmlformats.org/officeDocument/2006/relationships" id="283" r:id="Re005ea110947497e"/>
    <p:sldId xmlns:r="http://schemas.openxmlformats.org/officeDocument/2006/relationships" id="284" r:id="Rfe959352d8c4414a"/>
    <p:sldId xmlns:r="http://schemas.openxmlformats.org/officeDocument/2006/relationships" id="285" r:id="R29f57e118fd44bb8"/>
    <p:sldId xmlns:r="http://schemas.openxmlformats.org/officeDocument/2006/relationships" id="286" r:id="R92eda3ec82724919"/>
    <p:sldId xmlns:r="http://schemas.openxmlformats.org/officeDocument/2006/relationships" id="287" r:id="R9cf0a4007d114d21"/>
    <p:sldId xmlns:r="http://schemas.openxmlformats.org/officeDocument/2006/relationships" id="288" r:id="Rde86a6eeaf474fde"/>
    <p:sldId xmlns:r="http://schemas.openxmlformats.org/officeDocument/2006/relationships" id="289" r:id="Rbf8c7883775e4ffc"/>
    <p:sldId xmlns:r="http://schemas.openxmlformats.org/officeDocument/2006/relationships" id="290" r:id="Rd3d36aabf92a4c0e"/>
    <p:sldId xmlns:r="http://schemas.openxmlformats.org/officeDocument/2006/relationships" id="291" r:id="R038803ed8d854b3d"/>
    <p:sldId xmlns:r="http://schemas.openxmlformats.org/officeDocument/2006/relationships" id="292" r:id="R9ae387f5d2c648f5"/>
    <p:sldId xmlns:r="http://schemas.openxmlformats.org/officeDocument/2006/relationships" id="293" r:id="R825ba4771b4c4db9"/>
    <p:sldId xmlns:r="http://schemas.openxmlformats.org/officeDocument/2006/relationships" id="294" r:id="R5a82935257a84edd"/>
    <p:sldId xmlns:r="http://schemas.openxmlformats.org/officeDocument/2006/relationships" id="295" r:id="Rba3d0d72ef934c60"/>
    <p:sldId xmlns:r="http://schemas.openxmlformats.org/officeDocument/2006/relationships" id="296" r:id="R13b05118d5434eab"/>
    <p:sldId xmlns:r="http://schemas.openxmlformats.org/officeDocument/2006/relationships" id="297" r:id="R9bef185031fc4c17"/>
    <p:sldId xmlns:r="http://schemas.openxmlformats.org/officeDocument/2006/relationships" id="298" r:id="Rb43cae89fcf249ce"/>
    <p:sldId xmlns:r="http://schemas.openxmlformats.org/officeDocument/2006/relationships" id="299" r:id="R1a7da01655fb40a9"/>
    <p:sldId xmlns:r="http://schemas.openxmlformats.org/officeDocument/2006/relationships" id="300" r:id="R91f6d32829cd4a35"/>
    <p:sldId xmlns:r="http://schemas.openxmlformats.org/officeDocument/2006/relationships" id="301" r:id="R5dba00ddbf64462f"/>
    <p:sldId xmlns:r="http://schemas.openxmlformats.org/officeDocument/2006/relationships" id="302" r:id="Rb3c31bfcd5f44d60"/>
    <p:sldId xmlns:r="http://schemas.openxmlformats.org/officeDocument/2006/relationships" id="303" r:id="R1f512cdf04424bc9"/>
    <p:sldId xmlns:r="http://schemas.openxmlformats.org/officeDocument/2006/relationships" id="304" r:id="R5d96ece15133406c"/>
    <p:sldId xmlns:r="http://schemas.openxmlformats.org/officeDocument/2006/relationships" id="305" r:id="R73d86002a1984760"/>
    <p:sldId xmlns:r="http://schemas.openxmlformats.org/officeDocument/2006/relationships" id="306" r:id="R1d2efa948c21445a"/>
    <p:sldId xmlns:r="http://schemas.openxmlformats.org/officeDocument/2006/relationships" id="307" r:id="R605ead20fb2c4995"/>
    <p:sldId xmlns:r="http://schemas.openxmlformats.org/officeDocument/2006/relationships" id="308" r:id="R40cfda703a4c4078"/>
    <p:sldId xmlns:r="http://schemas.openxmlformats.org/officeDocument/2006/relationships" id="309" r:id="R508969cdb6b742d5"/>
    <p:sldId xmlns:r="http://schemas.openxmlformats.org/officeDocument/2006/relationships" id="310" r:id="R5e8d4ca3bd514d30"/>
    <p:sldId xmlns:r="http://schemas.openxmlformats.org/officeDocument/2006/relationships" id="311" r:id="Re73b819f913347a3"/>
    <p:sldId xmlns:r="http://schemas.openxmlformats.org/officeDocument/2006/relationships" id="312" r:id="Ra4dbfc9d232d4256"/>
    <p:sldId xmlns:r="http://schemas.openxmlformats.org/officeDocument/2006/relationships" id="313" r:id="Rce6055684df745be"/>
    <p:sldId xmlns:r="http://schemas.openxmlformats.org/officeDocument/2006/relationships" id="314" r:id="R099018cd2f264763"/>
    <p:sldId xmlns:r="http://schemas.openxmlformats.org/officeDocument/2006/relationships" id="315" r:id="Rf53df79b8b73476f"/>
    <p:sldId xmlns:r="http://schemas.openxmlformats.org/officeDocument/2006/relationships" id="316" r:id="Rcf8b74b8e5ff4c42"/>
    <p:sldId xmlns:r="http://schemas.openxmlformats.org/officeDocument/2006/relationships" id="317" r:id="R337ca2a40ca6489e"/>
    <p:sldId xmlns:r="http://schemas.openxmlformats.org/officeDocument/2006/relationships" id="318" r:id="Rb79cf6278d7d458e"/>
    <p:sldId xmlns:r="http://schemas.openxmlformats.org/officeDocument/2006/relationships" id="319" r:id="Rb787a8b6525b4c6f"/>
    <p:sldId xmlns:r="http://schemas.openxmlformats.org/officeDocument/2006/relationships" id="320" r:id="R60b06ac6fb9f46c9"/>
    <p:sldId xmlns:r="http://schemas.openxmlformats.org/officeDocument/2006/relationships" id="321" r:id="R049b45eb7e464aed"/>
    <p:sldId xmlns:r="http://schemas.openxmlformats.org/officeDocument/2006/relationships" id="322" r:id="R937b02db39604221"/>
    <p:sldId xmlns:r="http://schemas.openxmlformats.org/officeDocument/2006/relationships" id="323" r:id="Re87f636b4c0242f9"/>
    <p:sldId xmlns:r="http://schemas.openxmlformats.org/officeDocument/2006/relationships" id="324" r:id="R85f79ee8d35546bb"/>
    <p:sldId xmlns:r="http://schemas.openxmlformats.org/officeDocument/2006/relationships" id="325" r:id="R6f9f7ba7387d4860"/>
    <p:sldId xmlns:r="http://schemas.openxmlformats.org/officeDocument/2006/relationships" id="326" r:id="R5a295b771eb24b4b"/>
    <p:sldId xmlns:r="http://schemas.openxmlformats.org/officeDocument/2006/relationships" id="327" r:id="Rfcb35b6b450946d0"/>
    <p:sldId xmlns:r="http://schemas.openxmlformats.org/officeDocument/2006/relationships" id="328" r:id="R9c2e8c21661346d7"/>
    <p:sldId xmlns:r="http://schemas.openxmlformats.org/officeDocument/2006/relationships" id="329" r:id="R5c1bb13ad584453e"/>
    <p:sldId xmlns:r="http://schemas.openxmlformats.org/officeDocument/2006/relationships" id="330" r:id="R19d4251114424ddf"/>
    <p:sldId xmlns:r="http://schemas.openxmlformats.org/officeDocument/2006/relationships" id="331" r:id="Ree13ae4fb17a4dd1"/>
    <p:sldId xmlns:r="http://schemas.openxmlformats.org/officeDocument/2006/relationships" id="332" r:id="R83b6bd89d19d4dc1"/>
    <p:sldId xmlns:r="http://schemas.openxmlformats.org/officeDocument/2006/relationships" id="333" r:id="Ra1d90cf85d5b40ce"/>
    <p:sldId xmlns:r="http://schemas.openxmlformats.org/officeDocument/2006/relationships" id="334" r:id="R0215f504e4ba4eaf"/>
    <p:sldId xmlns:r="http://schemas.openxmlformats.org/officeDocument/2006/relationships" id="335" r:id="Rbdeb6f48c80c44ec"/>
    <p:sldId xmlns:r="http://schemas.openxmlformats.org/officeDocument/2006/relationships" id="336" r:id="R8ec67c41ff634aa4"/>
    <p:sldId xmlns:r="http://schemas.openxmlformats.org/officeDocument/2006/relationships" id="337" r:id="Rc3570d801d024cec"/>
    <p:sldId xmlns:r="http://schemas.openxmlformats.org/officeDocument/2006/relationships" id="338" r:id="R56eeec077d1448c6"/>
    <p:sldId xmlns:r="http://schemas.openxmlformats.org/officeDocument/2006/relationships" id="339" r:id="R40da1d163be54d38"/>
    <p:sldId xmlns:r="http://schemas.openxmlformats.org/officeDocument/2006/relationships" id="340" r:id="R8c3ffaabca814711"/>
    <p:sldId xmlns:r="http://schemas.openxmlformats.org/officeDocument/2006/relationships" id="341" r:id="Re05c1ff2767146be"/>
    <p:sldId xmlns:r="http://schemas.openxmlformats.org/officeDocument/2006/relationships" id="342" r:id="Red99504adae04dbd"/>
    <p:sldId xmlns:r="http://schemas.openxmlformats.org/officeDocument/2006/relationships" id="343" r:id="R29137a8083584db7"/>
    <p:sldId xmlns:r="http://schemas.openxmlformats.org/officeDocument/2006/relationships" id="344" r:id="Rd0954b897a414e3a"/>
    <p:sldId xmlns:r="http://schemas.openxmlformats.org/officeDocument/2006/relationships" id="345" r:id="Rd3523c2254074ffb"/>
    <p:sldId xmlns:r="http://schemas.openxmlformats.org/officeDocument/2006/relationships" id="346" r:id="R0a4b8838c1bd4851"/>
    <p:sldId xmlns:r="http://schemas.openxmlformats.org/officeDocument/2006/relationships" id="347" r:id="R77c04f2709394acc"/>
    <p:sldId xmlns:r="http://schemas.openxmlformats.org/officeDocument/2006/relationships" id="348" r:id="R06e566f49f4842d2"/>
    <p:sldId xmlns:r="http://schemas.openxmlformats.org/officeDocument/2006/relationships" id="349" r:id="R2bf5145648d441d4"/>
    <p:sldId xmlns:r="http://schemas.openxmlformats.org/officeDocument/2006/relationships" id="350" r:id="R1a63f2ed527d44b3"/>
    <p:sldId xmlns:r="http://schemas.openxmlformats.org/officeDocument/2006/relationships" id="351" r:id="R41fb0a2a42ab42ca"/>
    <p:sldId xmlns:r="http://schemas.openxmlformats.org/officeDocument/2006/relationships" id="352" r:id="Rd7dfcaf302724085"/>
    <p:sldId xmlns:r="http://schemas.openxmlformats.org/officeDocument/2006/relationships" id="353" r:id="Rb2c591fa749b4a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e087f1d7cb4307" /><Relationship Type="http://schemas.openxmlformats.org/officeDocument/2006/relationships/slideMaster" Target="/ppt/slideMasters/slideMaster1.xml" Id="R326f32a94b64412e" /><Relationship Type="http://schemas.openxmlformats.org/officeDocument/2006/relationships/notesMaster" Target="/ppt/notesMasters/notesMaster1.xml" Id="R54b07e3ff5244f77" /><Relationship Type="http://schemas.openxmlformats.org/officeDocument/2006/relationships/presProps" Target="/ppt/presProps.xml" Id="R1677b1cc68494249" /><Relationship Type="http://schemas.openxmlformats.org/officeDocument/2006/relationships/tableStyles" Target="/ppt/tableStyles.xml" Id="Raaf938f90110423c" /><Relationship Type="http://schemas.openxmlformats.org/officeDocument/2006/relationships/slide" Target="/ppt/slides/slide1.xml" Id="R9155f70918504ab4" /><Relationship Type="http://schemas.openxmlformats.org/officeDocument/2006/relationships/slide" Target="/ppt/slides/slide2.xml" Id="Re8e6fde3a8d8471a" /><Relationship Type="http://schemas.openxmlformats.org/officeDocument/2006/relationships/slide" Target="/ppt/slides/slide3.xml" Id="Reb5a2a95777b4d39" /><Relationship Type="http://schemas.openxmlformats.org/officeDocument/2006/relationships/slide" Target="/ppt/slides/slide4.xml" Id="R11cc17acb6ae4c27" /><Relationship Type="http://schemas.openxmlformats.org/officeDocument/2006/relationships/slide" Target="/ppt/slides/slide5.xml" Id="Rcb84c746ec0c47cf" /><Relationship Type="http://schemas.openxmlformats.org/officeDocument/2006/relationships/slide" Target="/ppt/slides/slide6.xml" Id="Rc35b5ec0e13b4807" /><Relationship Type="http://schemas.openxmlformats.org/officeDocument/2006/relationships/slide" Target="/ppt/slides/slide7.xml" Id="R2d259e511bb149e6" /><Relationship Type="http://schemas.openxmlformats.org/officeDocument/2006/relationships/slide" Target="/ppt/slides/slide8.xml" Id="Rcb2fdf67f6dd4147" /><Relationship Type="http://schemas.openxmlformats.org/officeDocument/2006/relationships/slide" Target="/ppt/slides/slide9.xml" Id="R361182693a3b4cc3" /><Relationship Type="http://schemas.openxmlformats.org/officeDocument/2006/relationships/slide" Target="/ppt/slides/slide10.xml" Id="Rbd7ee675cc4c424a" /><Relationship Type="http://schemas.openxmlformats.org/officeDocument/2006/relationships/slide" Target="/ppt/slides/slide11.xml" Id="Rb76e8e98f3374557" /><Relationship Type="http://schemas.openxmlformats.org/officeDocument/2006/relationships/slide" Target="/ppt/slides/slide12.xml" Id="R13c8af13b48d43fa" /><Relationship Type="http://schemas.openxmlformats.org/officeDocument/2006/relationships/slide" Target="/ppt/slides/slide13.xml" Id="Rbc19a9f6faf0445b" /><Relationship Type="http://schemas.openxmlformats.org/officeDocument/2006/relationships/slide" Target="/ppt/slides/slide14.xml" Id="R38ae40e81e684a1d" /><Relationship Type="http://schemas.openxmlformats.org/officeDocument/2006/relationships/slide" Target="/ppt/slides/slide15.xml" Id="R8e1f5a5c86ad4fa0" /><Relationship Type="http://schemas.openxmlformats.org/officeDocument/2006/relationships/slide" Target="/ppt/slides/slide16.xml" Id="Rb57a406643784f49" /><Relationship Type="http://schemas.openxmlformats.org/officeDocument/2006/relationships/slide" Target="/ppt/slides/slide17.xml" Id="R472f4970b40341d1" /><Relationship Type="http://schemas.openxmlformats.org/officeDocument/2006/relationships/slide" Target="/ppt/slides/slide18.xml" Id="Rffea3088158d4e37" /><Relationship Type="http://schemas.openxmlformats.org/officeDocument/2006/relationships/slide" Target="/ppt/slides/slide19.xml" Id="Reeff35b1f5934045" /><Relationship Type="http://schemas.openxmlformats.org/officeDocument/2006/relationships/slide" Target="/ppt/slides/slide20.xml" Id="Rabc99efdbbd741ed" /><Relationship Type="http://schemas.openxmlformats.org/officeDocument/2006/relationships/slide" Target="/ppt/slides/slide21.xml" Id="Rcb76b79ba26f4901" /><Relationship Type="http://schemas.openxmlformats.org/officeDocument/2006/relationships/slide" Target="/ppt/slides/slide22.xml" Id="R66462e75d1264bb1" /><Relationship Type="http://schemas.openxmlformats.org/officeDocument/2006/relationships/slide" Target="/ppt/slides/slide23.xml" Id="R39dd0d914a264530" /><Relationship Type="http://schemas.openxmlformats.org/officeDocument/2006/relationships/slide" Target="/ppt/slides/slide24.xml" Id="R65d23ea4d48049ab" /><Relationship Type="http://schemas.openxmlformats.org/officeDocument/2006/relationships/slide" Target="/ppt/slides/slide25.xml" Id="Rae3a157c744d4375" /><Relationship Type="http://schemas.openxmlformats.org/officeDocument/2006/relationships/slide" Target="/ppt/slides/slide26.xml" Id="R414b2307d96d4d86" /><Relationship Type="http://schemas.openxmlformats.org/officeDocument/2006/relationships/slide" Target="/ppt/slides/slide27.xml" Id="Ra119de233c7644a1" /><Relationship Type="http://schemas.openxmlformats.org/officeDocument/2006/relationships/slide" Target="/ppt/slides/slide28.xml" Id="Re005ea110947497e" /><Relationship Type="http://schemas.openxmlformats.org/officeDocument/2006/relationships/slide" Target="/ppt/slides/slide29.xml" Id="Rfe959352d8c4414a" /><Relationship Type="http://schemas.openxmlformats.org/officeDocument/2006/relationships/slide" Target="/ppt/slides/slide30.xml" Id="R29f57e118fd44bb8" /><Relationship Type="http://schemas.openxmlformats.org/officeDocument/2006/relationships/slide" Target="/ppt/slides/slide31.xml" Id="R92eda3ec82724919" /><Relationship Type="http://schemas.openxmlformats.org/officeDocument/2006/relationships/slide" Target="/ppt/slides/slide32.xml" Id="R9cf0a4007d114d21" /><Relationship Type="http://schemas.openxmlformats.org/officeDocument/2006/relationships/slide" Target="/ppt/slides/slide33.xml" Id="Rde86a6eeaf474fde" /><Relationship Type="http://schemas.openxmlformats.org/officeDocument/2006/relationships/slide" Target="/ppt/slides/slide34.xml" Id="Rbf8c7883775e4ffc" /><Relationship Type="http://schemas.openxmlformats.org/officeDocument/2006/relationships/slide" Target="/ppt/slides/slide35.xml" Id="Rd3d36aabf92a4c0e" /><Relationship Type="http://schemas.openxmlformats.org/officeDocument/2006/relationships/slide" Target="/ppt/slides/slide36.xml" Id="R038803ed8d854b3d" /><Relationship Type="http://schemas.openxmlformats.org/officeDocument/2006/relationships/slide" Target="/ppt/slides/slide37.xml" Id="R9ae387f5d2c648f5" /><Relationship Type="http://schemas.openxmlformats.org/officeDocument/2006/relationships/slide" Target="/ppt/slides/slide38.xml" Id="R825ba4771b4c4db9" /><Relationship Type="http://schemas.openxmlformats.org/officeDocument/2006/relationships/slide" Target="/ppt/slides/slide39.xml" Id="R5a82935257a84edd" /><Relationship Type="http://schemas.openxmlformats.org/officeDocument/2006/relationships/slide" Target="/ppt/slides/slide40.xml" Id="Rba3d0d72ef934c60" /><Relationship Type="http://schemas.openxmlformats.org/officeDocument/2006/relationships/slide" Target="/ppt/slides/slide41.xml" Id="R13b05118d5434eab" /><Relationship Type="http://schemas.openxmlformats.org/officeDocument/2006/relationships/slide" Target="/ppt/slides/slide42.xml" Id="R9bef185031fc4c17" /><Relationship Type="http://schemas.openxmlformats.org/officeDocument/2006/relationships/slide" Target="/ppt/slides/slide43.xml" Id="Rb43cae89fcf249ce" /><Relationship Type="http://schemas.openxmlformats.org/officeDocument/2006/relationships/slide" Target="/ppt/slides/slide44.xml" Id="R1a7da01655fb40a9" /><Relationship Type="http://schemas.openxmlformats.org/officeDocument/2006/relationships/slide" Target="/ppt/slides/slide45.xml" Id="R91f6d32829cd4a35" /><Relationship Type="http://schemas.openxmlformats.org/officeDocument/2006/relationships/slide" Target="/ppt/slides/slide46.xml" Id="R5dba00ddbf64462f" /><Relationship Type="http://schemas.openxmlformats.org/officeDocument/2006/relationships/slide" Target="/ppt/slides/slide47.xml" Id="Rb3c31bfcd5f44d60" /><Relationship Type="http://schemas.openxmlformats.org/officeDocument/2006/relationships/slide" Target="/ppt/slides/slide48.xml" Id="R1f512cdf04424bc9" /><Relationship Type="http://schemas.openxmlformats.org/officeDocument/2006/relationships/slide" Target="/ppt/slides/slide49.xml" Id="R5d96ece15133406c" /><Relationship Type="http://schemas.openxmlformats.org/officeDocument/2006/relationships/slide" Target="/ppt/slides/slide50.xml" Id="R73d86002a1984760" /><Relationship Type="http://schemas.openxmlformats.org/officeDocument/2006/relationships/slide" Target="/ppt/slides/slide51.xml" Id="R1d2efa948c21445a" /><Relationship Type="http://schemas.openxmlformats.org/officeDocument/2006/relationships/slide" Target="/ppt/slides/slide52.xml" Id="R605ead20fb2c4995" /><Relationship Type="http://schemas.openxmlformats.org/officeDocument/2006/relationships/slide" Target="/ppt/slides/slide53.xml" Id="R40cfda703a4c4078" /><Relationship Type="http://schemas.openxmlformats.org/officeDocument/2006/relationships/slide" Target="/ppt/slides/slide54.xml" Id="R508969cdb6b742d5" /><Relationship Type="http://schemas.openxmlformats.org/officeDocument/2006/relationships/slide" Target="/ppt/slides/slide55.xml" Id="R5e8d4ca3bd514d30" /><Relationship Type="http://schemas.openxmlformats.org/officeDocument/2006/relationships/slide" Target="/ppt/slides/slide56.xml" Id="Re73b819f913347a3" /><Relationship Type="http://schemas.openxmlformats.org/officeDocument/2006/relationships/slide" Target="/ppt/slides/slide57.xml" Id="Ra4dbfc9d232d4256" /><Relationship Type="http://schemas.openxmlformats.org/officeDocument/2006/relationships/slide" Target="/ppt/slides/slide58.xml" Id="Rce6055684df745be" /><Relationship Type="http://schemas.openxmlformats.org/officeDocument/2006/relationships/slide" Target="/ppt/slides/slide59.xml" Id="R099018cd2f264763" /><Relationship Type="http://schemas.openxmlformats.org/officeDocument/2006/relationships/slide" Target="/ppt/slides/slide60.xml" Id="Rf53df79b8b73476f" /><Relationship Type="http://schemas.openxmlformats.org/officeDocument/2006/relationships/slide" Target="/ppt/slides/slide61.xml" Id="Rcf8b74b8e5ff4c42" /><Relationship Type="http://schemas.openxmlformats.org/officeDocument/2006/relationships/slide" Target="/ppt/slides/slide62.xml" Id="R337ca2a40ca6489e" /><Relationship Type="http://schemas.openxmlformats.org/officeDocument/2006/relationships/slide" Target="/ppt/slides/slide63.xml" Id="Rb79cf6278d7d458e" /><Relationship Type="http://schemas.openxmlformats.org/officeDocument/2006/relationships/slide" Target="/ppt/slides/slide64.xml" Id="Rb787a8b6525b4c6f" /><Relationship Type="http://schemas.openxmlformats.org/officeDocument/2006/relationships/slide" Target="/ppt/slides/slide65.xml" Id="R60b06ac6fb9f46c9" /><Relationship Type="http://schemas.openxmlformats.org/officeDocument/2006/relationships/slide" Target="/ppt/slides/slide66.xml" Id="R049b45eb7e464aed" /><Relationship Type="http://schemas.openxmlformats.org/officeDocument/2006/relationships/slide" Target="/ppt/slides/slide67.xml" Id="R937b02db39604221" /><Relationship Type="http://schemas.openxmlformats.org/officeDocument/2006/relationships/slide" Target="/ppt/slides/slide68.xml" Id="Re87f636b4c0242f9" /><Relationship Type="http://schemas.openxmlformats.org/officeDocument/2006/relationships/slide" Target="/ppt/slides/slide69.xml" Id="R85f79ee8d35546bb" /><Relationship Type="http://schemas.openxmlformats.org/officeDocument/2006/relationships/slide" Target="/ppt/slides/slide70.xml" Id="R6f9f7ba7387d4860" /><Relationship Type="http://schemas.openxmlformats.org/officeDocument/2006/relationships/slide" Target="/ppt/slides/slide71.xml" Id="R5a295b771eb24b4b" /><Relationship Type="http://schemas.openxmlformats.org/officeDocument/2006/relationships/slide" Target="/ppt/slides/slide72.xml" Id="Rfcb35b6b450946d0" /><Relationship Type="http://schemas.openxmlformats.org/officeDocument/2006/relationships/slide" Target="/ppt/slides/slide73.xml" Id="R9c2e8c21661346d7" /><Relationship Type="http://schemas.openxmlformats.org/officeDocument/2006/relationships/slide" Target="/ppt/slides/slide74.xml" Id="R5c1bb13ad584453e" /><Relationship Type="http://schemas.openxmlformats.org/officeDocument/2006/relationships/slide" Target="/ppt/slides/slide75.xml" Id="R19d4251114424ddf" /><Relationship Type="http://schemas.openxmlformats.org/officeDocument/2006/relationships/slide" Target="/ppt/slides/slide76.xml" Id="Ree13ae4fb17a4dd1" /><Relationship Type="http://schemas.openxmlformats.org/officeDocument/2006/relationships/slide" Target="/ppt/slides/slide77.xml" Id="R83b6bd89d19d4dc1" /><Relationship Type="http://schemas.openxmlformats.org/officeDocument/2006/relationships/slide" Target="/ppt/slides/slide78.xml" Id="Ra1d90cf85d5b40ce" /><Relationship Type="http://schemas.openxmlformats.org/officeDocument/2006/relationships/slide" Target="/ppt/slides/slide79.xml" Id="R0215f504e4ba4eaf" /><Relationship Type="http://schemas.openxmlformats.org/officeDocument/2006/relationships/slide" Target="/ppt/slides/slide80.xml" Id="Rbdeb6f48c80c44ec" /><Relationship Type="http://schemas.openxmlformats.org/officeDocument/2006/relationships/slide" Target="/ppt/slides/slide81.xml" Id="R8ec67c41ff634aa4" /><Relationship Type="http://schemas.openxmlformats.org/officeDocument/2006/relationships/slide" Target="/ppt/slides/slide82.xml" Id="Rc3570d801d024cec" /><Relationship Type="http://schemas.openxmlformats.org/officeDocument/2006/relationships/slide" Target="/ppt/slides/slide83.xml" Id="R56eeec077d1448c6" /><Relationship Type="http://schemas.openxmlformats.org/officeDocument/2006/relationships/slide" Target="/ppt/slides/slide84.xml" Id="R40da1d163be54d38" /><Relationship Type="http://schemas.openxmlformats.org/officeDocument/2006/relationships/slide" Target="/ppt/slides/slide85.xml" Id="R8c3ffaabca814711" /><Relationship Type="http://schemas.openxmlformats.org/officeDocument/2006/relationships/slide" Target="/ppt/slides/slide86.xml" Id="Re05c1ff2767146be" /><Relationship Type="http://schemas.openxmlformats.org/officeDocument/2006/relationships/slide" Target="/ppt/slides/slide87.xml" Id="Red99504adae04dbd" /><Relationship Type="http://schemas.openxmlformats.org/officeDocument/2006/relationships/slide" Target="/ppt/slides/slide88.xml" Id="R29137a8083584db7" /><Relationship Type="http://schemas.openxmlformats.org/officeDocument/2006/relationships/slide" Target="/ppt/slides/slide89.xml" Id="Rd0954b897a414e3a" /><Relationship Type="http://schemas.openxmlformats.org/officeDocument/2006/relationships/slide" Target="/ppt/slides/slide90.xml" Id="Rd3523c2254074ffb" /><Relationship Type="http://schemas.openxmlformats.org/officeDocument/2006/relationships/slide" Target="/ppt/slides/slide91.xml" Id="R0a4b8838c1bd4851" /><Relationship Type="http://schemas.openxmlformats.org/officeDocument/2006/relationships/slide" Target="/ppt/slides/slide92.xml" Id="R77c04f2709394acc" /><Relationship Type="http://schemas.openxmlformats.org/officeDocument/2006/relationships/slide" Target="/ppt/slides/slide93.xml" Id="R06e566f49f4842d2" /><Relationship Type="http://schemas.openxmlformats.org/officeDocument/2006/relationships/slide" Target="/ppt/slides/slide94.xml" Id="R2bf5145648d441d4" /><Relationship Type="http://schemas.openxmlformats.org/officeDocument/2006/relationships/slide" Target="/ppt/slides/slide95.xml" Id="R1a63f2ed527d44b3" /><Relationship Type="http://schemas.openxmlformats.org/officeDocument/2006/relationships/slide" Target="/ppt/slides/slide96.xml" Id="R41fb0a2a42ab42ca" /><Relationship Type="http://schemas.openxmlformats.org/officeDocument/2006/relationships/slide" Target="/ppt/slides/slide97.xml" Id="Rd7dfcaf302724085" /><Relationship Type="http://schemas.openxmlformats.org/officeDocument/2006/relationships/slide" Target="/ppt/slides/slide98.xml" Id="Rb2c591fa749b4a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9ffb98a2824c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8e238fb14b4c0b" /><Relationship Type="http://schemas.openxmlformats.org/officeDocument/2006/relationships/notesMaster" Target="/ppt/notesMasters/notesMaster1.xml" Id="Re614007d5eb34f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5598e405574407" /><Relationship Type="http://schemas.openxmlformats.org/officeDocument/2006/relationships/notesMaster" Target="/ppt/notesMasters/notesMaster1.xml" Id="Rcb62ff69f08148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c0839fe9724c22" /><Relationship Type="http://schemas.openxmlformats.org/officeDocument/2006/relationships/notesMaster" Target="/ppt/notesMasters/notesMaster1.xml" Id="Rd5ff1e70dd0a4e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79f19ea4214c80" /><Relationship Type="http://schemas.openxmlformats.org/officeDocument/2006/relationships/notesMaster" Target="/ppt/notesMasters/notesMaster1.xml" Id="R80f9f6c3b9f14a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e8a038a6344328" /><Relationship Type="http://schemas.openxmlformats.org/officeDocument/2006/relationships/notesMaster" Target="/ppt/notesMasters/notesMaster1.xml" Id="R32ad07afda4444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9e70ff7ff24d17" /><Relationship Type="http://schemas.openxmlformats.org/officeDocument/2006/relationships/notesMaster" Target="/ppt/notesMasters/notesMaster1.xml" Id="R3d66713d4ae24c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d0daf389ce43ec" /><Relationship Type="http://schemas.openxmlformats.org/officeDocument/2006/relationships/notesMaster" Target="/ppt/notesMasters/notesMaster1.xml" Id="R343a77e347974f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345f2241b1430c" /><Relationship Type="http://schemas.openxmlformats.org/officeDocument/2006/relationships/notesMaster" Target="/ppt/notesMasters/notesMaster1.xml" Id="R0f77b9cce95840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cc9b04561447f7" /><Relationship Type="http://schemas.openxmlformats.org/officeDocument/2006/relationships/notesMaster" Target="/ppt/notesMasters/notesMaster1.xml" Id="R83b2382f3c6843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05e34653ca41e5" /><Relationship Type="http://schemas.openxmlformats.org/officeDocument/2006/relationships/notesMaster" Target="/ppt/notesMasters/notesMaster1.xml" Id="R56365ead508c40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5f9844f1144236" /><Relationship Type="http://schemas.openxmlformats.org/officeDocument/2006/relationships/notesMaster" Target="/ppt/notesMasters/notesMaster1.xml" Id="R736a1f9ae27040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ae8b2802e64cb7" /><Relationship Type="http://schemas.openxmlformats.org/officeDocument/2006/relationships/notesMaster" Target="/ppt/notesMasters/notesMaster1.xml" Id="Rcc7a368fd7e145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04e04c5388434d" /><Relationship Type="http://schemas.openxmlformats.org/officeDocument/2006/relationships/notesMaster" Target="/ppt/notesMasters/notesMaster1.xml" Id="Ra46c531f544c48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f1401b888c49b8" /><Relationship Type="http://schemas.openxmlformats.org/officeDocument/2006/relationships/notesMaster" Target="/ppt/notesMasters/notesMaster1.xml" Id="R7e54f33af83143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5893d3de3d4523" /><Relationship Type="http://schemas.openxmlformats.org/officeDocument/2006/relationships/notesMaster" Target="/ppt/notesMasters/notesMaster1.xml" Id="Ra74ecc5038804f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af438caf204423" /><Relationship Type="http://schemas.openxmlformats.org/officeDocument/2006/relationships/notesMaster" Target="/ppt/notesMasters/notesMaster1.xml" Id="Rdfe120f6911442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1ab2044a3642a2" /><Relationship Type="http://schemas.openxmlformats.org/officeDocument/2006/relationships/notesMaster" Target="/ppt/notesMasters/notesMaster1.xml" Id="R5ceadf0f1077473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8bd3272d434bd5" /><Relationship Type="http://schemas.openxmlformats.org/officeDocument/2006/relationships/notesMaster" Target="/ppt/notesMasters/notesMaster1.xml" Id="Re8b38e8c9b9b43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87eeee75d744084" /><Relationship Type="http://schemas.openxmlformats.org/officeDocument/2006/relationships/notesMaster" Target="/ppt/notesMasters/notesMaster1.xml" Id="R7309fd14e51849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4c0cccf97c4000" /><Relationship Type="http://schemas.openxmlformats.org/officeDocument/2006/relationships/notesMaster" Target="/ppt/notesMasters/notesMaster1.xml" Id="Rbe8398361eaa47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269ba8c88a4b1d" /><Relationship Type="http://schemas.openxmlformats.org/officeDocument/2006/relationships/notesMaster" Target="/ppt/notesMasters/notesMaster1.xml" Id="R3a4771e48d9f44b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4174799075446a" /><Relationship Type="http://schemas.openxmlformats.org/officeDocument/2006/relationships/notesMaster" Target="/ppt/notesMasters/notesMaster1.xml" Id="R0d2591d97c1a45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966be88ed44366" /><Relationship Type="http://schemas.openxmlformats.org/officeDocument/2006/relationships/notesMaster" Target="/ppt/notesMasters/notesMaster1.xml" Id="R194dbb6db67b4d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bd5e5bd4ce3405b" /><Relationship Type="http://schemas.openxmlformats.org/officeDocument/2006/relationships/notesMaster" Target="/ppt/notesMasters/notesMaster1.xml" Id="R462e4c0c5bab493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29b7bc9f9b04f96" /><Relationship Type="http://schemas.openxmlformats.org/officeDocument/2006/relationships/notesMaster" Target="/ppt/notesMasters/notesMaster1.xml" Id="Rcceb480a0d454b1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84ef32a9af64d98" /><Relationship Type="http://schemas.openxmlformats.org/officeDocument/2006/relationships/notesMaster" Target="/ppt/notesMasters/notesMaster1.xml" Id="Rdf3fae2e6c9844b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934ea956e92429d" /><Relationship Type="http://schemas.openxmlformats.org/officeDocument/2006/relationships/notesMaster" Target="/ppt/notesMasters/notesMaster1.xml" Id="R6cf8321801e0416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b3c2d7b77a4326" /><Relationship Type="http://schemas.openxmlformats.org/officeDocument/2006/relationships/notesMaster" Target="/ppt/notesMasters/notesMaster1.xml" Id="Rac7e4ffa27704b1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b2f45f31c2747f2" /><Relationship Type="http://schemas.openxmlformats.org/officeDocument/2006/relationships/notesMaster" Target="/ppt/notesMasters/notesMaster1.xml" Id="Rea85e98714df401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951d2fd54aa471b" /><Relationship Type="http://schemas.openxmlformats.org/officeDocument/2006/relationships/notesMaster" Target="/ppt/notesMasters/notesMaster1.xml" Id="R091e45883110476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f9471bc540041ed" /><Relationship Type="http://schemas.openxmlformats.org/officeDocument/2006/relationships/notesMaster" Target="/ppt/notesMasters/notesMaster1.xml" Id="R3fd2a7b575de4d5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2f0bf522d09453e" /><Relationship Type="http://schemas.openxmlformats.org/officeDocument/2006/relationships/notesMaster" Target="/ppt/notesMasters/notesMaster1.xml" Id="R7dbad58a19bf4cb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a3cc766d650447c" /><Relationship Type="http://schemas.openxmlformats.org/officeDocument/2006/relationships/notesMaster" Target="/ppt/notesMasters/notesMaster1.xml" Id="Rcb7a7e0dae7e4da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0269e3c54cc4ab8" /><Relationship Type="http://schemas.openxmlformats.org/officeDocument/2006/relationships/notesMaster" Target="/ppt/notesMasters/notesMaster1.xml" Id="Rb67ecd8461244b3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43b360b047d4fd4" /><Relationship Type="http://schemas.openxmlformats.org/officeDocument/2006/relationships/notesMaster" Target="/ppt/notesMasters/notesMaster1.xml" Id="R7652eda7a430413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a9d2fd4660b490a" /><Relationship Type="http://schemas.openxmlformats.org/officeDocument/2006/relationships/notesMaster" Target="/ppt/notesMasters/notesMaster1.xml" Id="Rb815d6191e21450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443505e0d464971" /><Relationship Type="http://schemas.openxmlformats.org/officeDocument/2006/relationships/notesMaster" Target="/ppt/notesMasters/notesMaster1.xml" Id="R721501faffe84e1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6d4e0b4b2984b49" /><Relationship Type="http://schemas.openxmlformats.org/officeDocument/2006/relationships/notesMaster" Target="/ppt/notesMasters/notesMaster1.xml" Id="R848a979ffe414e1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aa55a1da7084640" /><Relationship Type="http://schemas.openxmlformats.org/officeDocument/2006/relationships/notesMaster" Target="/ppt/notesMasters/notesMaster1.xml" Id="R2ae78860273f4e1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7d75e217c9b41c7" /><Relationship Type="http://schemas.openxmlformats.org/officeDocument/2006/relationships/notesMaster" Target="/ppt/notesMasters/notesMaster1.xml" Id="R3402d7da553d4d0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805ec5087494a01" /><Relationship Type="http://schemas.openxmlformats.org/officeDocument/2006/relationships/notesMaster" Target="/ppt/notesMasters/notesMaster1.xml" Id="R61b5b8e03c894fe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943a8e1f84446dc" /><Relationship Type="http://schemas.openxmlformats.org/officeDocument/2006/relationships/notesMaster" Target="/ppt/notesMasters/notesMaster1.xml" Id="Re68b27acb262422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4eec86a495d402d" /><Relationship Type="http://schemas.openxmlformats.org/officeDocument/2006/relationships/notesMaster" Target="/ppt/notesMasters/notesMaster1.xml" Id="Ra6eea28967ee41e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f6bffe0be2d4eda" /><Relationship Type="http://schemas.openxmlformats.org/officeDocument/2006/relationships/notesMaster" Target="/ppt/notesMasters/notesMaster1.xml" Id="R0b234473037c42c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0992049da8d4ba7" /><Relationship Type="http://schemas.openxmlformats.org/officeDocument/2006/relationships/notesMaster" Target="/ppt/notesMasters/notesMaster1.xml" Id="Rfe746ebcd40740f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4fcbae1213a490e" /><Relationship Type="http://schemas.openxmlformats.org/officeDocument/2006/relationships/notesMaster" Target="/ppt/notesMasters/notesMaster1.xml" Id="R2000205fa3f741f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7a74d933dc944f8" /><Relationship Type="http://schemas.openxmlformats.org/officeDocument/2006/relationships/notesMaster" Target="/ppt/notesMasters/notesMaster1.xml" Id="Re10cc1f8aef2405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df0c78ca9c04caf" /><Relationship Type="http://schemas.openxmlformats.org/officeDocument/2006/relationships/notesMaster" Target="/ppt/notesMasters/notesMaster1.xml" Id="R4795f1b03cc5417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fb05c9213714275" /><Relationship Type="http://schemas.openxmlformats.org/officeDocument/2006/relationships/notesMaster" Target="/ppt/notesMasters/notesMaster1.xml" Id="R7ca8f619cb884a5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4424e2260394b45" /><Relationship Type="http://schemas.openxmlformats.org/officeDocument/2006/relationships/notesMaster" Target="/ppt/notesMasters/notesMaster1.xml" Id="R9f539ff46d644be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f204ec8ecfa4570" /><Relationship Type="http://schemas.openxmlformats.org/officeDocument/2006/relationships/notesMaster" Target="/ppt/notesMasters/notesMaster1.xml" Id="Rf4fc4fe8939441c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7459640bb43439e" /><Relationship Type="http://schemas.openxmlformats.org/officeDocument/2006/relationships/notesMaster" Target="/ppt/notesMasters/notesMaster1.xml" Id="R79c3699aa1cb4a1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e63adfa23034540" /><Relationship Type="http://schemas.openxmlformats.org/officeDocument/2006/relationships/notesMaster" Target="/ppt/notesMasters/notesMaster1.xml" Id="R6286a99ef87448a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4cdcfd75def4be0" /><Relationship Type="http://schemas.openxmlformats.org/officeDocument/2006/relationships/notesMaster" Target="/ppt/notesMasters/notesMaster1.xml" Id="R6735d4ecabc8447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ce8b153abb54e6d" /><Relationship Type="http://schemas.openxmlformats.org/officeDocument/2006/relationships/notesMaster" Target="/ppt/notesMasters/notesMaster1.xml" Id="R859f60850c244e5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446c979a3814bee" /><Relationship Type="http://schemas.openxmlformats.org/officeDocument/2006/relationships/notesMaster" Target="/ppt/notesMasters/notesMaster1.xml" Id="Rdff50dca920049f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d518176671248f1" /><Relationship Type="http://schemas.openxmlformats.org/officeDocument/2006/relationships/notesMaster" Target="/ppt/notesMasters/notesMaster1.xml" Id="Reca954338d6f4cd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333fe5f369947cd" /><Relationship Type="http://schemas.openxmlformats.org/officeDocument/2006/relationships/notesMaster" Target="/ppt/notesMasters/notesMaster1.xml" Id="R0569f23daedd479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c660f4e23624014" /><Relationship Type="http://schemas.openxmlformats.org/officeDocument/2006/relationships/notesMaster" Target="/ppt/notesMasters/notesMaster1.xml" Id="R5bfdf92c9b8c466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fcbaae1b1924484" /><Relationship Type="http://schemas.openxmlformats.org/officeDocument/2006/relationships/notesMaster" Target="/ppt/notesMasters/notesMaster1.xml" Id="Rf09153681a564c8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77edadf02474b58" /><Relationship Type="http://schemas.openxmlformats.org/officeDocument/2006/relationships/notesMaster" Target="/ppt/notesMasters/notesMaster1.xml" Id="Rb346f81c02884db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9814e7d9e384974" /><Relationship Type="http://schemas.openxmlformats.org/officeDocument/2006/relationships/notesMaster" Target="/ppt/notesMasters/notesMaster1.xml" Id="Rbe4cfc5628984c0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f68965a61ad44cd" /><Relationship Type="http://schemas.openxmlformats.org/officeDocument/2006/relationships/notesMaster" Target="/ppt/notesMasters/notesMaster1.xml" Id="R25f308080cac4fd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e4e7063ebca4679" /><Relationship Type="http://schemas.openxmlformats.org/officeDocument/2006/relationships/notesMaster" Target="/ppt/notesMasters/notesMaster1.xml" Id="R5205e322ad5b4ce9"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e4581b2800046d4" /><Relationship Type="http://schemas.openxmlformats.org/officeDocument/2006/relationships/notesMaster" Target="/ppt/notesMasters/notesMaster1.xml" Id="R112788f198ca4ca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bf158961cf14272" /><Relationship Type="http://schemas.openxmlformats.org/officeDocument/2006/relationships/notesMaster" Target="/ppt/notesMasters/notesMaster1.xml" Id="R5fda209aca3a431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410af62c33c4217" /><Relationship Type="http://schemas.openxmlformats.org/officeDocument/2006/relationships/notesMaster" Target="/ppt/notesMasters/notesMaster1.xml" Id="R1455291c72a04b6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662097eaff24132" /><Relationship Type="http://schemas.openxmlformats.org/officeDocument/2006/relationships/notesMaster" Target="/ppt/notesMasters/notesMaster1.xml" Id="R0d7c4713ae0e4255"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2a2a9f1748c4076" /><Relationship Type="http://schemas.openxmlformats.org/officeDocument/2006/relationships/notesMaster" Target="/ppt/notesMasters/notesMaster1.xml" Id="Rb4fafcc540e44b21"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c2e3f70c4080473e" /><Relationship Type="http://schemas.openxmlformats.org/officeDocument/2006/relationships/notesMaster" Target="/ppt/notesMasters/notesMaster1.xml" Id="R7d679f82a7b34cf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481e7f646794c28" /><Relationship Type="http://schemas.openxmlformats.org/officeDocument/2006/relationships/notesMaster" Target="/ppt/notesMasters/notesMaster1.xml" Id="R6c47eee3d0d74c68"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8e436c8d4f034452" /><Relationship Type="http://schemas.openxmlformats.org/officeDocument/2006/relationships/notesMaster" Target="/ppt/notesMasters/notesMaster1.xml" Id="R1a188c6368064457"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a432bc5eb53f42b2" /><Relationship Type="http://schemas.openxmlformats.org/officeDocument/2006/relationships/notesMaster" Target="/ppt/notesMasters/notesMaster1.xml" Id="Rda6329378b3a41c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14184125bae4b88" /><Relationship Type="http://schemas.openxmlformats.org/officeDocument/2006/relationships/notesMaster" Target="/ppt/notesMasters/notesMaster1.xml" Id="Ra80b6b407d474c6d"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4b9d9c6ba604e70" /><Relationship Type="http://schemas.openxmlformats.org/officeDocument/2006/relationships/notesMaster" Target="/ppt/notesMasters/notesMaster1.xml" Id="Rc4f0c099108e44b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dc07361cc504368" /><Relationship Type="http://schemas.openxmlformats.org/officeDocument/2006/relationships/notesMaster" Target="/ppt/notesMasters/notesMaster1.xml" Id="R479bca449c5e43e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db4e661334b5432c" /><Relationship Type="http://schemas.openxmlformats.org/officeDocument/2006/relationships/notesMaster" Target="/ppt/notesMasters/notesMaster1.xml" Id="Rb9ef3b9b3082417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231fdbae7ea4f5d" /><Relationship Type="http://schemas.openxmlformats.org/officeDocument/2006/relationships/notesMaster" Target="/ppt/notesMasters/notesMaster1.xml" Id="Re7d6e2a0472d4478"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9413a197e7814db9" /><Relationship Type="http://schemas.openxmlformats.org/officeDocument/2006/relationships/notesMaster" Target="/ppt/notesMasters/notesMaster1.xml" Id="R72e999f1599b4f0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2b7a2dd9327a4887" /><Relationship Type="http://schemas.openxmlformats.org/officeDocument/2006/relationships/notesMaster" Target="/ppt/notesMasters/notesMaster1.xml" Id="R3076b5d0fa6f4d09"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279827d14994013" /><Relationship Type="http://schemas.openxmlformats.org/officeDocument/2006/relationships/notesMaster" Target="/ppt/notesMasters/notesMaster1.xml" Id="R6a03ab45201542e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5917bbad3e604f07" /><Relationship Type="http://schemas.openxmlformats.org/officeDocument/2006/relationships/notesMaster" Target="/ppt/notesMasters/notesMaster1.xml" Id="R2e1dfbce6b8643cc"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e166c4a70d1340d7" /><Relationship Type="http://schemas.openxmlformats.org/officeDocument/2006/relationships/notesMaster" Target="/ppt/notesMasters/notesMaster1.xml" Id="R203fdc9e7c204f27"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ee8648ea4d434e22" /><Relationship Type="http://schemas.openxmlformats.org/officeDocument/2006/relationships/notesMaster" Target="/ppt/notesMasters/notesMaster1.xml" Id="R12626505fd654b89"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7b6c01917d1744f1" /><Relationship Type="http://schemas.openxmlformats.org/officeDocument/2006/relationships/notesMaster" Target="/ppt/notesMasters/notesMaster1.xml" Id="Re4e9e4c16dc247d4"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9d0e279e586140f7" /><Relationship Type="http://schemas.openxmlformats.org/officeDocument/2006/relationships/notesMaster" Target="/ppt/notesMasters/notesMaster1.xml" Id="Rda9cb661d6694953"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a63ab44bc5e844a4" /><Relationship Type="http://schemas.openxmlformats.org/officeDocument/2006/relationships/notesMaster" Target="/ppt/notesMasters/notesMaster1.xml" Id="Rdcd96a5aa6a641ea"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4b78d254d785427f" /><Relationship Type="http://schemas.openxmlformats.org/officeDocument/2006/relationships/notesMaster" Target="/ppt/notesMasters/notesMaster1.xml" Id="Rf227100833354ef2"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81437994b8374631" /><Relationship Type="http://schemas.openxmlformats.org/officeDocument/2006/relationships/notesMaster" Target="/ppt/notesMasters/notesMaster1.xml" Id="R85098360f40a41b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8f6271d9b9e14d49" /><Relationship Type="http://schemas.openxmlformats.org/officeDocument/2006/relationships/notesMaster" Target="/ppt/notesMasters/notesMaster1.xml" Id="R594d144194ef4f66"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7f5e759285584a9b" /><Relationship Type="http://schemas.openxmlformats.org/officeDocument/2006/relationships/notesMaster" Target="/ppt/notesMasters/notesMaster1.xml" Id="R4e22e5eaa4a44c8e"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eea6989f19084752" /><Relationship Type="http://schemas.openxmlformats.org/officeDocument/2006/relationships/notesMaster" Target="/ppt/notesMasters/notesMaster1.xml" Id="R23035d75162f4e70"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10e544c0453f455c" /><Relationship Type="http://schemas.openxmlformats.org/officeDocument/2006/relationships/notesMaster" Target="/ppt/notesMasters/notesMaster1.xml" Id="R798027453d1e431d"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f26c72fe56d44ad9" /><Relationship Type="http://schemas.openxmlformats.org/officeDocument/2006/relationships/notesMaster" Target="/ppt/notesMasters/notesMaster1.xml" Id="R699d307484a945b6"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4f0dccb2d81c48bf" /><Relationship Type="http://schemas.openxmlformats.org/officeDocument/2006/relationships/notesMaster" Target="/ppt/notesMasters/notesMaster1.xml" Id="Rba1a45ae00e84968"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e83e546022244bbf" /><Relationship Type="http://schemas.openxmlformats.org/officeDocument/2006/relationships/notesMaster" Target="/ppt/notesMasters/notesMaster1.xml" Id="Re027d867650d41c7"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3961e0a1b2c94768" /><Relationship Type="http://schemas.openxmlformats.org/officeDocument/2006/relationships/notesMaster" Target="/ppt/notesMasters/notesMaster1.xml" Id="R555f2cb903894719"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036876c470ae4668" /><Relationship Type="http://schemas.openxmlformats.org/officeDocument/2006/relationships/notesMaster" Target="/ppt/notesMasters/notesMaster1.xml" Id="Re3e791091f6744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f8fbe6869a4b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08bfa469cc44ae" /><Relationship Type="http://schemas.openxmlformats.org/officeDocument/2006/relationships/slideLayout" Target="/ppt/slideLayouts/slideLayout1.xml" Id="Raf43e905b7cc4e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43e905b7cc4e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70777bcbe84a64" /><Relationship Type="http://schemas.openxmlformats.org/officeDocument/2006/relationships/notesSlide" Target="/ppt/notesSlides/notesSlide1.xml" Id="Ra388ca1b568846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0c4cb0e60c4702" /><Relationship Type="http://schemas.openxmlformats.org/officeDocument/2006/relationships/notesSlide" Target="/ppt/notesSlides/notesSlide2.xml" Id="R8c2fe2c9c1f44c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99e302f05a45c9" /><Relationship Type="http://schemas.openxmlformats.org/officeDocument/2006/relationships/notesSlide" Target="/ppt/notesSlides/notesSlide3.xml" Id="Rff77aa283bf84f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f61d29252b4f16" /><Relationship Type="http://schemas.openxmlformats.org/officeDocument/2006/relationships/notesSlide" Target="/ppt/notesSlides/notesSlide4.xml" Id="Re004c1f0a7c941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8e56c722534418" /><Relationship Type="http://schemas.openxmlformats.org/officeDocument/2006/relationships/notesSlide" Target="/ppt/notesSlides/notesSlide5.xml" Id="Rdf64b4a597b644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88cbcf6fbd49f4" /><Relationship Type="http://schemas.openxmlformats.org/officeDocument/2006/relationships/notesSlide" Target="/ppt/notesSlides/notesSlide6.xml" Id="Rc985a88223394c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006294e74141ca" /><Relationship Type="http://schemas.openxmlformats.org/officeDocument/2006/relationships/notesSlide" Target="/ppt/notesSlides/notesSlide7.xml" Id="R4bbae6aa4e6e41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52c9be2e7f4b0d" /><Relationship Type="http://schemas.openxmlformats.org/officeDocument/2006/relationships/notesSlide" Target="/ppt/notesSlides/notesSlide8.xml" Id="R92239c0dc79542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c299353e734fe0" /><Relationship Type="http://schemas.openxmlformats.org/officeDocument/2006/relationships/notesSlide" Target="/ppt/notesSlides/notesSlide9.xml" Id="R273493545c0340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e00a7bd94f47a5" /><Relationship Type="http://schemas.openxmlformats.org/officeDocument/2006/relationships/notesSlide" Target="/ppt/notesSlides/notesSlide10.xml" Id="R173d695037174d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9961a16a904794" /><Relationship Type="http://schemas.openxmlformats.org/officeDocument/2006/relationships/notesSlide" Target="/ppt/notesSlides/notesSlide11.xml" Id="Ra62e6c2904f642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e4999a5e0a94f38" /><Relationship Type="http://schemas.openxmlformats.org/officeDocument/2006/relationships/notesSlide" Target="/ppt/notesSlides/notesSlide12.xml" Id="Rb6f64505d39745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136d3b767f4367" /><Relationship Type="http://schemas.openxmlformats.org/officeDocument/2006/relationships/notesSlide" Target="/ppt/notesSlides/notesSlide13.xml" Id="R85d424f6a1bc49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4e5dba8174f431a" /><Relationship Type="http://schemas.openxmlformats.org/officeDocument/2006/relationships/notesSlide" Target="/ppt/notesSlides/notesSlide14.xml" Id="R841e04bc40ff46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af0b532bc644e8" /><Relationship Type="http://schemas.openxmlformats.org/officeDocument/2006/relationships/notesSlide" Target="/ppt/notesSlides/notesSlide15.xml" Id="R62c1daeee3b140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50596ef1d644cbf" /><Relationship Type="http://schemas.openxmlformats.org/officeDocument/2006/relationships/notesSlide" Target="/ppt/notesSlides/notesSlide16.xml" Id="R9f475c30d25b41a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c7bb7af5b624d68" /><Relationship Type="http://schemas.openxmlformats.org/officeDocument/2006/relationships/notesSlide" Target="/ppt/notesSlides/notesSlide17.xml" Id="R123af0d0968d46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71c756e9b5c4a73" /><Relationship Type="http://schemas.openxmlformats.org/officeDocument/2006/relationships/notesSlide" Target="/ppt/notesSlides/notesSlide18.xml" Id="R936b9176f2cf4c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d893c5aeac34401" /><Relationship Type="http://schemas.openxmlformats.org/officeDocument/2006/relationships/notesSlide" Target="/ppt/notesSlides/notesSlide19.xml" Id="Rc3a38fc0be1e41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572e6790a4940b7" /><Relationship Type="http://schemas.openxmlformats.org/officeDocument/2006/relationships/notesSlide" Target="/ppt/notesSlides/notesSlide20.xml" Id="Rf7952b8deb9c430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5f688a7cb54e31" /><Relationship Type="http://schemas.openxmlformats.org/officeDocument/2006/relationships/notesSlide" Target="/ppt/notesSlides/notesSlide21.xml" Id="R4513c1b556fb4c4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7dac2486a254008" /><Relationship Type="http://schemas.openxmlformats.org/officeDocument/2006/relationships/notesSlide" Target="/ppt/notesSlides/notesSlide22.xml" Id="Racaa74db262440e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f2c5a7749114d12" /><Relationship Type="http://schemas.openxmlformats.org/officeDocument/2006/relationships/notesSlide" Target="/ppt/notesSlides/notesSlide23.xml" Id="Rbe5f3680a77d4c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a9d5ee7d55a4696" /><Relationship Type="http://schemas.openxmlformats.org/officeDocument/2006/relationships/notesSlide" Target="/ppt/notesSlides/notesSlide24.xml" Id="R80797e019cc544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e47031cd33142e7" /><Relationship Type="http://schemas.openxmlformats.org/officeDocument/2006/relationships/notesSlide" Target="/ppt/notesSlides/notesSlide25.xml" Id="Refdd807507a04b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64aebe444514a1c" /><Relationship Type="http://schemas.openxmlformats.org/officeDocument/2006/relationships/notesSlide" Target="/ppt/notesSlides/notesSlide26.xml" Id="R773a5e596804449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c1c761bbd5847f8" /><Relationship Type="http://schemas.openxmlformats.org/officeDocument/2006/relationships/notesSlide" Target="/ppt/notesSlides/notesSlide27.xml" Id="R0200831f3956458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0d974f5d8284ea0" /><Relationship Type="http://schemas.openxmlformats.org/officeDocument/2006/relationships/notesSlide" Target="/ppt/notesSlides/notesSlide28.xml" Id="R8131ecc786404d0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04c8c9ef9df4a7f" /><Relationship Type="http://schemas.openxmlformats.org/officeDocument/2006/relationships/notesSlide" Target="/ppt/notesSlides/notesSlide29.xml" Id="R1ec01f6c847649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fd4c212fafd43a7" /><Relationship Type="http://schemas.openxmlformats.org/officeDocument/2006/relationships/notesSlide" Target="/ppt/notesSlides/notesSlide30.xml" Id="R8a16517d676549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a732fd85c3748b9" /><Relationship Type="http://schemas.openxmlformats.org/officeDocument/2006/relationships/notesSlide" Target="/ppt/notesSlides/notesSlide31.xml" Id="Reb062181e007429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5ec507ae38e4f9b" /><Relationship Type="http://schemas.openxmlformats.org/officeDocument/2006/relationships/notesSlide" Target="/ppt/notesSlides/notesSlide32.xml" Id="R55e3f26b206d45c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3e21ef52f9f4868" /><Relationship Type="http://schemas.openxmlformats.org/officeDocument/2006/relationships/notesSlide" Target="/ppt/notesSlides/notesSlide33.xml" Id="R4ce01c975e56474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ea2a186d0e24551" /><Relationship Type="http://schemas.openxmlformats.org/officeDocument/2006/relationships/notesSlide" Target="/ppt/notesSlides/notesSlide34.xml" Id="R238f03aabf17434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48dcb11d32a4ba6" /><Relationship Type="http://schemas.openxmlformats.org/officeDocument/2006/relationships/notesSlide" Target="/ppt/notesSlides/notesSlide35.xml" Id="R41f1b0c95fb34d0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6cea2be34bb4caf" /><Relationship Type="http://schemas.openxmlformats.org/officeDocument/2006/relationships/notesSlide" Target="/ppt/notesSlides/notesSlide36.xml" Id="R3b593f779978467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01566c0c85249b6" /><Relationship Type="http://schemas.openxmlformats.org/officeDocument/2006/relationships/notesSlide" Target="/ppt/notesSlides/notesSlide37.xml" Id="R13b79776391f4fb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4e5a62f17974cb0" /><Relationship Type="http://schemas.openxmlformats.org/officeDocument/2006/relationships/notesSlide" Target="/ppt/notesSlides/notesSlide38.xml" Id="Re7294dff1ee0479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eda9dfdca284625" /><Relationship Type="http://schemas.openxmlformats.org/officeDocument/2006/relationships/notesSlide" Target="/ppt/notesSlides/notesSlide39.xml" Id="Re52f3fd0f104442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9e1282ecb504e55" /><Relationship Type="http://schemas.openxmlformats.org/officeDocument/2006/relationships/notesSlide" Target="/ppt/notesSlides/notesSlide40.xml" Id="R55320266b8664ce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5f06ed2c0f54565" /><Relationship Type="http://schemas.openxmlformats.org/officeDocument/2006/relationships/notesSlide" Target="/ppt/notesSlides/notesSlide41.xml" Id="Rb5076903492d4a2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772a29b79a44ea2" /><Relationship Type="http://schemas.openxmlformats.org/officeDocument/2006/relationships/notesSlide" Target="/ppt/notesSlides/notesSlide42.xml" Id="Rc4389768549347f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39347784c4542c5" /><Relationship Type="http://schemas.openxmlformats.org/officeDocument/2006/relationships/notesSlide" Target="/ppt/notesSlides/notesSlide43.xml" Id="Rc3773f956a434eb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38fe1bdcaa34250" /><Relationship Type="http://schemas.openxmlformats.org/officeDocument/2006/relationships/notesSlide" Target="/ppt/notesSlides/notesSlide44.xml" Id="Rea17ce4e81ba451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3546c5b26ed4967" /><Relationship Type="http://schemas.openxmlformats.org/officeDocument/2006/relationships/notesSlide" Target="/ppt/notesSlides/notesSlide45.xml" Id="Rb29e58c19d7e497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63a6ddb1c3a4d4d" /><Relationship Type="http://schemas.openxmlformats.org/officeDocument/2006/relationships/notesSlide" Target="/ppt/notesSlides/notesSlide46.xml" Id="Rfc1233aa417f4fd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fcfb238056a4c3e" /><Relationship Type="http://schemas.openxmlformats.org/officeDocument/2006/relationships/notesSlide" Target="/ppt/notesSlides/notesSlide47.xml" Id="R83fe3b053fbb46c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6249ebcdfa749fb" /><Relationship Type="http://schemas.openxmlformats.org/officeDocument/2006/relationships/notesSlide" Target="/ppt/notesSlides/notesSlide48.xml" Id="R5dac500efa4a42c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d6373234f32437f" /><Relationship Type="http://schemas.openxmlformats.org/officeDocument/2006/relationships/notesSlide" Target="/ppt/notesSlides/notesSlide49.xml" Id="Rb793e9f89dbd4cf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57f1235f448423e" /><Relationship Type="http://schemas.openxmlformats.org/officeDocument/2006/relationships/notesSlide" Target="/ppt/notesSlides/notesSlide50.xml" Id="R36ad3c9714b1434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fef3cc729ab4285" /><Relationship Type="http://schemas.openxmlformats.org/officeDocument/2006/relationships/notesSlide" Target="/ppt/notesSlides/notesSlide51.xml" Id="R6c3877f41b10438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7c6497304f643c9" /><Relationship Type="http://schemas.openxmlformats.org/officeDocument/2006/relationships/notesSlide" Target="/ppt/notesSlides/notesSlide52.xml" Id="Rbc73cf7232644c9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add1f5f855f4509" /><Relationship Type="http://schemas.openxmlformats.org/officeDocument/2006/relationships/notesSlide" Target="/ppt/notesSlides/notesSlide53.xml" Id="R5087dd5b63f7402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8413616c7b44656" /><Relationship Type="http://schemas.openxmlformats.org/officeDocument/2006/relationships/notesSlide" Target="/ppt/notesSlides/notesSlide54.xml" Id="R5ff0a34d508a4f4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c1b49adb61347e8" /><Relationship Type="http://schemas.openxmlformats.org/officeDocument/2006/relationships/notesSlide" Target="/ppt/notesSlides/notesSlide55.xml" Id="R777acb02247c459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85a64bc1c21479d" /><Relationship Type="http://schemas.openxmlformats.org/officeDocument/2006/relationships/notesSlide" Target="/ppt/notesSlides/notesSlide56.xml" Id="R994bdf0ee50a4e3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5872d42b969d4898" /><Relationship Type="http://schemas.openxmlformats.org/officeDocument/2006/relationships/notesSlide" Target="/ppt/notesSlides/notesSlide57.xml" Id="R3d22faf42b1b4dc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33966816b7144722" /><Relationship Type="http://schemas.openxmlformats.org/officeDocument/2006/relationships/notesSlide" Target="/ppt/notesSlides/notesSlide58.xml" Id="R769e89629fea4f8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a066e9fb2fa4051" /><Relationship Type="http://schemas.openxmlformats.org/officeDocument/2006/relationships/notesSlide" Target="/ppt/notesSlides/notesSlide59.xml" Id="Rade3a218bc1848b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b5a28748f184d26" /><Relationship Type="http://schemas.openxmlformats.org/officeDocument/2006/relationships/notesSlide" Target="/ppt/notesSlides/notesSlide60.xml" Id="Rab032399a71d446a"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42072c0a8ed4f97" /><Relationship Type="http://schemas.openxmlformats.org/officeDocument/2006/relationships/notesSlide" Target="/ppt/notesSlides/notesSlide61.xml" Id="R19a50b6a58e644a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ec1fc1d7e484c3a" /><Relationship Type="http://schemas.openxmlformats.org/officeDocument/2006/relationships/notesSlide" Target="/ppt/notesSlides/notesSlide62.xml" Id="Rf14e81a85a44468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e691dac5d034055" /><Relationship Type="http://schemas.openxmlformats.org/officeDocument/2006/relationships/notesSlide" Target="/ppt/notesSlides/notesSlide63.xml" Id="R1095aba5d637483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ef01bbdf584e41bd" /><Relationship Type="http://schemas.openxmlformats.org/officeDocument/2006/relationships/notesSlide" Target="/ppt/notesSlides/notesSlide64.xml" Id="Rf806e720aeb148a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e9867597cfce4c6d" /><Relationship Type="http://schemas.openxmlformats.org/officeDocument/2006/relationships/notesSlide" Target="/ppt/notesSlides/notesSlide65.xml" Id="Rcbeb5259dbe74073"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aa6970a468d54209" /><Relationship Type="http://schemas.openxmlformats.org/officeDocument/2006/relationships/notesSlide" Target="/ppt/notesSlides/notesSlide66.xml" Id="R29f12fe94c2e46b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3b2b9990d24d444c" /><Relationship Type="http://schemas.openxmlformats.org/officeDocument/2006/relationships/notesSlide" Target="/ppt/notesSlides/notesSlide67.xml" Id="R95cf84bab40e459b"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8dfe0c4c29854b03" /><Relationship Type="http://schemas.openxmlformats.org/officeDocument/2006/relationships/notesSlide" Target="/ppt/notesSlides/notesSlide68.xml" Id="R2add0297b338470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d0d2c3b77abb44b3" /><Relationship Type="http://schemas.openxmlformats.org/officeDocument/2006/relationships/notesSlide" Target="/ppt/notesSlides/notesSlide69.xml" Id="R91b60d79253149cb"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a646fbfd196542a8" /><Relationship Type="http://schemas.openxmlformats.org/officeDocument/2006/relationships/notesSlide" Target="/ppt/notesSlides/notesSlide70.xml" Id="Reed684104d62444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e45c0a72951048ca" /><Relationship Type="http://schemas.openxmlformats.org/officeDocument/2006/relationships/notesSlide" Target="/ppt/notesSlides/notesSlide71.xml" Id="Rf3fc8fc7851342ef"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8542cddd9ec5435c" /><Relationship Type="http://schemas.openxmlformats.org/officeDocument/2006/relationships/notesSlide" Target="/ppt/notesSlides/notesSlide72.xml" Id="R180dcfe8e0484447"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e68d0b02e122416f" /><Relationship Type="http://schemas.openxmlformats.org/officeDocument/2006/relationships/notesSlide" Target="/ppt/notesSlides/notesSlide73.xml" Id="Rdb1efe30f144422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109dfd5f6ccb4834" /><Relationship Type="http://schemas.openxmlformats.org/officeDocument/2006/relationships/notesSlide" Target="/ppt/notesSlides/notesSlide74.xml" Id="Ra9015947256d4bef"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e167911300684584" /><Relationship Type="http://schemas.openxmlformats.org/officeDocument/2006/relationships/notesSlide" Target="/ppt/notesSlides/notesSlide75.xml" Id="Re159003ea04b4ca8"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9ce1e8d819e845e5" /><Relationship Type="http://schemas.openxmlformats.org/officeDocument/2006/relationships/notesSlide" Target="/ppt/notesSlides/notesSlide76.xml" Id="Rb7c14e78d168449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f846eef1cf5242ea" /><Relationship Type="http://schemas.openxmlformats.org/officeDocument/2006/relationships/notesSlide" Target="/ppt/notesSlides/notesSlide77.xml" Id="Rb93405768de047f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bbb99be6ec124a7f" /><Relationship Type="http://schemas.openxmlformats.org/officeDocument/2006/relationships/notesSlide" Target="/ppt/notesSlides/notesSlide78.xml" Id="R8b3921f05b8a4398"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6fb62c4713314341" /><Relationship Type="http://schemas.openxmlformats.org/officeDocument/2006/relationships/notesSlide" Target="/ppt/notesSlides/notesSlide79.xml" Id="R63a1df9a043f48e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923af205046c47e7" /><Relationship Type="http://schemas.openxmlformats.org/officeDocument/2006/relationships/notesSlide" Target="/ppt/notesSlides/notesSlide80.xml" Id="R78ef185840304810"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330e868df63842d2" /><Relationship Type="http://schemas.openxmlformats.org/officeDocument/2006/relationships/notesSlide" Target="/ppt/notesSlides/notesSlide81.xml" Id="R55147854578a4a1e"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936b4e3d9f7e47c6" /><Relationship Type="http://schemas.openxmlformats.org/officeDocument/2006/relationships/notesSlide" Target="/ppt/notesSlides/notesSlide82.xml" Id="R3820914874cd471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1376bd1eac814e33" /><Relationship Type="http://schemas.openxmlformats.org/officeDocument/2006/relationships/notesSlide" Target="/ppt/notesSlides/notesSlide83.xml" Id="R57b7db2e441c4873"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d2f7727b8718476c" /><Relationship Type="http://schemas.openxmlformats.org/officeDocument/2006/relationships/notesSlide" Target="/ppt/notesSlides/notesSlide84.xml" Id="Re542a990e2824582"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8dd9c1fa80c34e5b" /><Relationship Type="http://schemas.openxmlformats.org/officeDocument/2006/relationships/notesSlide" Target="/ppt/notesSlides/notesSlide85.xml" Id="R49ebf6ece69e4bd0"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efe3b8a1cc644883" /><Relationship Type="http://schemas.openxmlformats.org/officeDocument/2006/relationships/notesSlide" Target="/ppt/notesSlides/notesSlide86.xml" Id="R760ab26064bf43e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4aae79b6a92d437f" /><Relationship Type="http://schemas.openxmlformats.org/officeDocument/2006/relationships/notesSlide" Target="/ppt/notesSlides/notesSlide87.xml" Id="Rc66df5a12f9343b8"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10efebf4ec294676" /><Relationship Type="http://schemas.openxmlformats.org/officeDocument/2006/relationships/notesSlide" Target="/ppt/notesSlides/notesSlide88.xml" Id="Rf6def50320ed4d48"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d8d56eefecc94ad6" /><Relationship Type="http://schemas.openxmlformats.org/officeDocument/2006/relationships/notesSlide" Target="/ppt/notesSlides/notesSlide89.xml" Id="R13028fee74f347f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98e1df893c6a45b6" /><Relationship Type="http://schemas.openxmlformats.org/officeDocument/2006/relationships/notesSlide" Target="/ppt/notesSlides/notesSlide90.xml" Id="R7dbb8a5e42464122"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b66271821e744949" /><Relationship Type="http://schemas.openxmlformats.org/officeDocument/2006/relationships/notesSlide" Target="/ppt/notesSlides/notesSlide91.xml" Id="R98bf6ccd24944875"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fd38d2cfa857474b" /><Relationship Type="http://schemas.openxmlformats.org/officeDocument/2006/relationships/notesSlide" Target="/ppt/notesSlides/notesSlide92.xml" Id="Rc019c06b8bef4606"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e505f87fac564ba9" /><Relationship Type="http://schemas.openxmlformats.org/officeDocument/2006/relationships/notesSlide" Target="/ppt/notesSlides/notesSlide93.xml" Id="R4e54c245979c49b4"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b94b41f008414069" /><Relationship Type="http://schemas.openxmlformats.org/officeDocument/2006/relationships/notesSlide" Target="/ppt/notesSlides/notesSlide94.xml" Id="Ree367abf2d33434b"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ab017926719242ed" /><Relationship Type="http://schemas.openxmlformats.org/officeDocument/2006/relationships/notesSlide" Target="/ppt/notesSlides/notesSlide95.xml" Id="R18fe43a5b9a244cb"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640a4de547864dc8" /><Relationship Type="http://schemas.openxmlformats.org/officeDocument/2006/relationships/notesSlide" Target="/ppt/notesSlides/notesSlide96.xml" Id="Rc5992687ef584c1e"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8156bf4b2a614404" /><Relationship Type="http://schemas.openxmlformats.org/officeDocument/2006/relationships/notesSlide" Target="/ppt/notesSlides/notesSlide97.xml" Id="Rc4da3dd1899a45fa"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6a4691867da64a55" /><Relationship Type="http://schemas.openxmlformats.org/officeDocument/2006/relationships/notesSlide" Target="/ppt/notesSlides/notesSlide98.xml" Id="R441fa01c4ca9458b"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92A47C-018C-4F8F-B8FD-1A940CFE7996}"/>
              </a:ext>
            </a:extLst>
          </p:cNvPr>
          <p:cNvSpPr>
            <a:spLocks xmlns:a="http://schemas.openxmlformats.org/drawingml/2006/main" noGrp="1"/>
          </p:cNvSpPr>
          <p:nvPr/>
        </p:nvSpPr>
        <p:spPr>
          <a:xfrm xmlns:a="http://schemas.openxmlformats.org/drawingml/2006/main">
            <a:off x="685800" y="5524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i="0">
                <a:solidFill>
                  <a:srgbClr val="69C6CD"/>
                </a:solidFill>
                <a:latin typeface="Arial"/>
                <a:ea typeface="Arial"/>
                <a:cs typeface="Arial"/>
              </a:defRPr>
            </a:pPr>
            <a:r>
              <a:rPr sz="1800" b="1" i="0">
                <a:solidFill>
                  <a:srgbClr val="69C6CD"/>
                </a:solidFill>
                <a:latin typeface="Arial"/>
                <a:ea typeface="Arial"/>
                <a:cs typeface="Arial"/>
              </a:rPr>
              <a:t>DWIHN</a:t>
            </a:r>
          </a:p>
        </p:txBody>
      </p:sp>
      <p:sp>
        <p:nvSpPr>
          <p:cNvPr id="2" name="">
            <a:extLst xmlns:a="http://schemas.openxmlformats.org/drawingml/2006/main">
              <a:ext uri="{FF2B5EF4-FFF2-40B4-BE49-F238E27FC236}">
                <a16:creationId xmlns:a16="http://schemas.microsoft.com/office/drawing/2014/main" id="{7F124269-5626-4689-8A30-8BAB666DD014}"/>
              </a:ext>
            </a:extLst>
          </p:cNvPr>
          <p:cNvSpPr>
            <a:spLocks xmlns:a="http://schemas.openxmlformats.org/drawingml/2006/main" noGrp="1"/>
          </p:cNvSpPr>
          <p:nvPr/>
        </p:nvSpPr>
        <p:spPr>
          <a:xfrm xmlns:a="http://schemas.openxmlformats.org/drawingml/2006/main">
            <a:off x="685800" y="13811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950" b="1" i="0">
                <a:solidFill>
                  <a:srgbClr val="FFFFFF"/>
                </a:solidFill>
                <a:latin typeface="Arial"/>
                <a:ea typeface="Arial"/>
                <a:cs typeface="Arial"/>
              </a:defRPr>
            </a:pPr>
            <a:r>
              <a:rPr sz="4950" b="1" i="0">
                <a:solidFill>
                  <a:srgbClr val="FFFFFF"/>
                </a:solidFill>
                <a:latin typeface="Arial"/>
                <a:ea typeface="Arial"/>
                <a:cs typeface="Arial"/>
              </a:rPr>
              <a:t>AI Learning Curriculum</a:t>
            </a:r>
          </a:p>
        </p:txBody>
      </p:sp>
      <p:sp>
        <p:nvSpPr>
          <p:cNvPr id="3" name="">
            <a:extLst xmlns:a="http://schemas.openxmlformats.org/drawingml/2006/main">
              <a:ext uri="{FF2B5EF4-FFF2-40B4-BE49-F238E27FC236}">
                <a16:creationId xmlns:a16="http://schemas.microsoft.com/office/drawing/2014/main" id="{BA877E81-EB19-4B03-83CE-031C06CB3922}"/>
              </a:ext>
            </a:extLst>
          </p:cNvPr>
          <p:cNvSpPr>
            <a:spLocks xmlns:a="http://schemas.openxmlformats.org/drawingml/2006/main" noGrp="1"/>
          </p:cNvSpPr>
          <p:nvPr/>
        </p:nvSpPr>
        <p:spPr>
          <a:xfrm xmlns:a="http://schemas.openxmlformats.org/drawingml/2006/main">
            <a:off x="704850" y="266700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i="0">
                <a:solidFill>
                  <a:srgbClr val="D6E4EC"/>
                </a:solidFill>
                <a:latin typeface="Arial"/>
                <a:ea typeface="Arial"/>
                <a:cs typeface="Arial"/>
              </a:defRPr>
            </a:pPr>
            <a:r>
              <a:rPr sz="2250" b="0" i="0">
                <a:solidFill>
                  <a:srgbClr val="D6E4EC"/>
                </a:solidFill>
                <a:latin typeface="Arial"/>
                <a:ea typeface="Arial"/>
                <a:cs typeface="Arial"/>
              </a:rPr>
              <a:t>Complete module-wise presentation content from foundations to applied practice</a:t>
            </a:r>
          </a:p>
        </p:txBody>
      </p:sp>
      <p:sp>
        <p:nvSpPr>
          <p:cNvPr id="4" name="">
            <a:extLst xmlns:a="http://schemas.openxmlformats.org/drawingml/2006/main">
              <a:ext uri="{FF2B5EF4-FFF2-40B4-BE49-F238E27FC236}">
                <a16:creationId xmlns:a16="http://schemas.microsoft.com/office/drawing/2014/main" id="{C1EF4C88-9DD5-4610-802F-9C5455141989}"/>
              </a:ext>
            </a:extLst>
          </p:cNvPr>
          <p:cNvSpPr>
            <a:spLocks xmlns:a="http://schemas.openxmlformats.org/drawingml/2006/main" noGrp="1"/>
          </p:cNvSpPr>
          <p:nvPr/>
        </p:nvSpPr>
        <p:spPr>
          <a:xfrm xmlns:a="http://schemas.openxmlformats.org/drawingml/2006/main">
            <a:off x="704850" y="58102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9FC2D3"/>
                </a:solidFill>
                <a:latin typeface="Arial"/>
                <a:ea typeface="Arial"/>
                <a:cs typeface="Arial"/>
              </a:defRPr>
            </a:pPr>
            <a:r>
              <a:rPr sz="1500" b="0" i="0">
                <a:solidFill>
                  <a:srgbClr val="9FC2D3"/>
                </a:solidFill>
                <a:latin typeface="Arial"/>
                <a:ea typeface="Arial"/>
                <a:cs typeface="Arial"/>
              </a:rPr>
              <a:t>Content deck for facilitator-led training</a:t>
            </a:r>
          </a:p>
        </p:txBody>
      </p:sp>
      <p:sp>
        <p:nvSpPr>
          <p:cNvPr id="5" name="">
            <a:extLst xmlns:a="http://schemas.openxmlformats.org/drawingml/2006/main">
              <a:ext uri="{FF2B5EF4-FFF2-40B4-BE49-F238E27FC236}">
                <a16:creationId xmlns:a16="http://schemas.microsoft.com/office/drawing/2014/main" id="{F3913C38-5B1F-4A4A-8AB3-29F4F016E3A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Course introduction</a:t>
            </a:r>
          </a:p>
        </p:txBody>
      </p:sp>
      <p:sp>
        <p:nvSpPr>
          <p:cNvPr id="6" name="">
            <a:extLst xmlns:a="http://schemas.openxmlformats.org/drawingml/2006/main">
              <a:ext uri="{FF2B5EF4-FFF2-40B4-BE49-F238E27FC236}">
                <a16:creationId xmlns:a16="http://schemas.microsoft.com/office/drawing/2014/main" id="{CEB8010E-95BF-4167-B4EE-154CEAB65CB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a:t>
            </a:r>
          </a:p>
        </p:txBody>
      </p:sp>
    </p:spTree>
    <p:extLst>
      <p:ext uri="{BB962C8B-B14F-4D97-AF65-F5344CB8AC3E}">
        <p14:creationId xmlns:p14="http://schemas.microsoft.com/office/powerpoint/2010/main" val="5644413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BD67EC0-1ACC-408C-A5CC-F308CF09608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225ACAA9-4B48-445E-BBB2-2B61F4535ED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Purpose, audience, and learning approach</a:t>
            </a:r>
          </a:p>
        </p:txBody>
      </p:sp>
      <p:sp>
        <p:nvSpPr>
          <p:cNvPr id="3" name="">
            <a:extLst xmlns:a="http://schemas.openxmlformats.org/drawingml/2006/main">
              <a:ext uri="{FF2B5EF4-FFF2-40B4-BE49-F238E27FC236}">
                <a16:creationId xmlns:a16="http://schemas.microsoft.com/office/drawing/2014/main" id="{FFB31CB2-1051-4987-8FE0-99FDB7701D5D}"/>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Purpose</a:t>
            </a:r>
          </a:p>
        </p:txBody>
      </p:sp>
      <p:sp>
        <p:nvSpPr>
          <p:cNvPr id="4" name="">
            <a:extLst xmlns:a="http://schemas.openxmlformats.org/drawingml/2006/main">
              <a:ext uri="{FF2B5EF4-FFF2-40B4-BE49-F238E27FC236}">
                <a16:creationId xmlns:a16="http://schemas.microsoft.com/office/drawing/2014/main" id="{8EF32E0D-6D49-4544-9A6E-574F801A8680}"/>
              </a:ext>
            </a:extLst>
          </p:cNvPr>
          <p:cNvSpPr>
            <a:spLocks xmlns:a="http://schemas.openxmlformats.org/drawingml/2006/main" noGrp="1"/>
          </p:cNvSpPr>
          <p:nvPr/>
        </p:nvSpPr>
        <p:spPr>
          <a:xfrm xmlns:a="http://schemas.openxmlformats.org/drawingml/2006/main">
            <a:off x="666750" y="195262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This curriculum helps DWIHN staff use AI as a supervised workplace assistant. It builds practical skill while protecting information, preserving professional judgment, and keeping people responsible for final decisions.</a:t>
            </a:r>
          </a:p>
        </p:txBody>
      </p:sp>
      <p:sp>
        <p:nvSpPr>
          <p:cNvPr id="5" name="">
            <a:extLst xmlns:a="http://schemas.openxmlformats.org/drawingml/2006/main">
              <a:ext uri="{FF2B5EF4-FFF2-40B4-BE49-F238E27FC236}">
                <a16:creationId xmlns:a16="http://schemas.microsoft.com/office/drawing/2014/main" id="{6A1D9696-A69A-4A73-A51F-0B41F622E7CD}"/>
              </a:ext>
            </a:extLst>
          </p:cNvPr>
          <p:cNvSpPr>
            <a:spLocks xmlns:a="http://schemas.openxmlformats.org/drawingml/2006/main" noGrp="1"/>
          </p:cNvSpPr>
          <p:nvPr/>
        </p:nvSpPr>
        <p:spPr>
          <a:xfrm xmlns:a="http://schemas.openxmlformats.org/drawingml/2006/main">
            <a:off x="6381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Audience</a:t>
            </a:r>
          </a:p>
        </p:txBody>
      </p:sp>
      <p:sp>
        <p:nvSpPr>
          <p:cNvPr id="6" name="">
            <a:extLst xmlns:a="http://schemas.openxmlformats.org/drawingml/2006/main">
              <a:ext uri="{FF2B5EF4-FFF2-40B4-BE49-F238E27FC236}">
                <a16:creationId xmlns:a16="http://schemas.microsoft.com/office/drawing/2014/main" id="{D49A4D92-91C6-4593-91D4-E08368232516}"/>
              </a:ext>
            </a:extLst>
          </p:cNvPr>
          <p:cNvSpPr>
            <a:spLocks xmlns:a="http://schemas.openxmlformats.org/drawingml/2006/main" noGrp="1"/>
          </p:cNvSpPr>
          <p:nvPr/>
        </p:nvSpPr>
        <p:spPr>
          <a:xfrm xmlns:a="http://schemas.openxmlformats.org/drawingml/2006/main">
            <a:off x="6381750" y="1952625"/>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Staff who need a beginner-friendly introduction to AI</a:t>
            </a:r>
          </a:p>
          <a:p xmlns:a="http://schemas.openxmlformats.org/drawingml/2006/main">
            <a:pPr marL="254000" indent="-127000">
              <a:spcAft>
                <a:spcPts val="800"/>
              </a:spcAft>
              <a:buChar char="•"/>
              <a:defRPr sz="1725">
                <a:solidFill>
                  <a:srgbClr val="1D2833"/>
                </a:solidFill>
                <a:latin typeface="Arial"/>
                <a:ea typeface="Arial"/>
                <a:cs typeface="Arial"/>
              </a:defRPr>
            </a:pPr>
            <a:r>
              <a:t>Administrative, care coordination, call-center, program, and leadership roles</a:t>
            </a:r>
          </a:p>
          <a:p xmlns:a="http://schemas.openxmlformats.org/drawingml/2006/main">
            <a:pPr marL="254000" indent="-127000">
              <a:spcAft>
                <a:spcPts val="800"/>
              </a:spcAft>
              <a:buChar char="•"/>
              <a:defRPr sz="1725">
                <a:solidFill>
                  <a:srgbClr val="1D2833"/>
                </a:solidFill>
                <a:latin typeface="Arial"/>
                <a:ea typeface="Arial"/>
                <a:cs typeface="Arial"/>
              </a:defRPr>
            </a:pPr>
            <a:r>
              <a:t>Managers who approve, review, or monitor AI-supported work</a:t>
            </a:r>
          </a:p>
        </p:txBody>
      </p:sp>
      <p:sp>
        <p:nvSpPr>
          <p:cNvPr id="7" name="">
            <a:extLst xmlns:a="http://schemas.openxmlformats.org/drawingml/2006/main">
              <a:ext uri="{FF2B5EF4-FFF2-40B4-BE49-F238E27FC236}">
                <a16:creationId xmlns:a16="http://schemas.microsoft.com/office/drawing/2014/main" id="{85453F44-F253-47B6-A2A8-2BD2C566BB13}"/>
              </a:ext>
            </a:extLst>
          </p:cNvPr>
          <p:cNvSpPr>
            <a:spLocks xmlns:a="http://schemas.openxmlformats.org/drawingml/2006/main" noGrp="1"/>
          </p:cNvSpPr>
          <p:nvPr/>
        </p:nvSpPr>
        <p:spPr>
          <a:xfrm xmlns:a="http://schemas.openxmlformats.org/drawingml/2006/main">
            <a:off x="666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Learning approach</a:t>
            </a:r>
          </a:p>
        </p:txBody>
      </p:sp>
      <p:sp>
        <p:nvSpPr>
          <p:cNvPr id="8" name="">
            <a:extLst xmlns:a="http://schemas.openxmlformats.org/drawingml/2006/main">
              <a:ext uri="{FF2B5EF4-FFF2-40B4-BE49-F238E27FC236}">
                <a16:creationId xmlns:a16="http://schemas.microsoft.com/office/drawing/2014/main" id="{C31C35F7-0382-49B9-A2DB-29E7A2150CFF}"/>
              </a:ext>
            </a:extLst>
          </p:cNvPr>
          <p:cNvSpPr>
            <a:spLocks xmlns:a="http://schemas.openxmlformats.org/drawingml/2006/main" noGrp="1"/>
          </p:cNvSpPr>
          <p:nvPr/>
        </p:nvSpPr>
        <p:spPr>
          <a:xfrm xmlns:a="http://schemas.openxmlformats.org/drawingml/2006/main">
            <a:off x="666750" y="4381500"/>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67"/>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Plain-language explanations before technical detail</a:t>
            </a:r>
          </a:p>
          <a:p xmlns:a="http://schemas.openxmlformats.org/drawingml/2006/main">
            <a:pPr marL="254000" indent="-127000">
              <a:spcAft>
                <a:spcPts val="800"/>
              </a:spcAft>
              <a:buChar char="•"/>
              <a:defRPr sz="1725">
                <a:solidFill>
                  <a:srgbClr val="1D2833"/>
                </a:solidFill>
                <a:latin typeface="Arial"/>
                <a:ea typeface="Arial"/>
                <a:cs typeface="Arial"/>
              </a:defRPr>
            </a:pPr>
            <a:r>
              <a:t>Fictional workplace stories and realistic decisions</a:t>
            </a:r>
          </a:p>
          <a:p xmlns:a="http://schemas.openxmlformats.org/drawingml/2006/main">
            <a:pPr marL="254000" indent="-127000">
              <a:spcAft>
                <a:spcPts val="800"/>
              </a:spcAft>
              <a:buChar char="•"/>
              <a:defRPr sz="1725">
                <a:solidFill>
                  <a:srgbClr val="1D2833"/>
                </a:solidFill>
                <a:latin typeface="Arial"/>
                <a:ea typeface="Arial"/>
                <a:cs typeface="Arial"/>
              </a:defRPr>
            </a:pPr>
            <a:r>
              <a:t>Demonstrations, practice, discussion, and knowledge checks</a:t>
            </a:r>
          </a:p>
        </p:txBody>
      </p:sp>
      <p:sp>
        <p:nvSpPr>
          <p:cNvPr id="9" name="">
            <a:extLst xmlns:a="http://schemas.openxmlformats.org/drawingml/2006/main">
              <a:ext uri="{FF2B5EF4-FFF2-40B4-BE49-F238E27FC236}">
                <a16:creationId xmlns:a16="http://schemas.microsoft.com/office/drawing/2014/main" id="{614C65D4-E8D3-4672-A8ED-0C146CC4BEA2}"/>
              </a:ext>
            </a:extLst>
          </p:cNvPr>
          <p:cNvSpPr>
            <a:spLocks xmlns:a="http://schemas.openxmlformats.org/drawingml/2006/main" noGrp="1"/>
          </p:cNvSpPr>
          <p:nvPr/>
        </p:nvSpPr>
        <p:spPr>
          <a:xfrm xmlns:a="http://schemas.openxmlformats.org/drawingml/2006/main">
            <a:off x="6381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Prerequisites</a:t>
            </a:r>
          </a:p>
        </p:txBody>
      </p:sp>
      <p:sp>
        <p:nvSpPr>
          <p:cNvPr id="10" name="">
            <a:extLst xmlns:a="http://schemas.openxmlformats.org/drawingml/2006/main">
              <a:ext uri="{FF2B5EF4-FFF2-40B4-BE49-F238E27FC236}">
                <a16:creationId xmlns:a16="http://schemas.microsoft.com/office/drawing/2014/main" id="{5D082B7E-CDA3-4484-B354-F35BF990C03B}"/>
              </a:ext>
            </a:extLst>
          </p:cNvPr>
          <p:cNvSpPr>
            <a:spLocks xmlns:a="http://schemas.openxmlformats.org/drawingml/2006/main" noGrp="1"/>
          </p:cNvSpPr>
          <p:nvPr/>
        </p:nvSpPr>
        <p:spPr>
          <a:xfrm xmlns:a="http://schemas.openxmlformats.org/drawingml/2006/main">
            <a:off x="6381750" y="44005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Learners need basic workplace digital skills and access only to tools, accounts, information, and tasks approved for their role.</a:t>
            </a:r>
          </a:p>
        </p:txBody>
      </p:sp>
      <p:sp>
        <p:nvSpPr>
          <p:cNvPr id="11" name="">
            <a:extLst xmlns:a="http://schemas.openxmlformats.org/drawingml/2006/main">
              <a:ext uri="{FF2B5EF4-FFF2-40B4-BE49-F238E27FC236}">
                <a16:creationId xmlns:a16="http://schemas.microsoft.com/office/drawing/2014/main" id="{2E387BB0-20B7-48A2-BB32-EDB7367C009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12" name="">
            <a:extLst xmlns:a="http://schemas.openxmlformats.org/drawingml/2006/main">
              <a:ext uri="{FF2B5EF4-FFF2-40B4-BE49-F238E27FC236}">
                <a16:creationId xmlns:a16="http://schemas.microsoft.com/office/drawing/2014/main" id="{3CAA7782-9FE0-4F2B-9360-B80D0247D4F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a:t>
            </a:r>
          </a:p>
        </p:txBody>
      </p:sp>
    </p:spTree>
    <p:extLst>
      <p:ext uri="{BB962C8B-B14F-4D97-AF65-F5344CB8AC3E}">
        <p14:creationId xmlns:p14="http://schemas.microsoft.com/office/powerpoint/2010/main" val="8011414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ABE02A-2E33-43D9-B64E-9FB58FB647D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42BAF025-94E2-4898-AC0D-A22328F2695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Complete learning pathway</a:t>
            </a:r>
          </a:p>
        </p:txBody>
      </p:sp>
      <p:sp>
        <p:nvSpPr>
          <p:cNvPr id="3" name="">
            <a:extLst xmlns:a="http://schemas.openxmlformats.org/drawingml/2006/main">
              <a:ext uri="{FF2B5EF4-FFF2-40B4-BE49-F238E27FC236}">
                <a16:creationId xmlns:a16="http://schemas.microsoft.com/office/drawing/2014/main" id="{264825E9-F10E-452C-B6A3-DF9C62FB734A}"/>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Foundations and daily practice</a:t>
            </a:r>
          </a:p>
        </p:txBody>
      </p:sp>
      <p:sp>
        <p:nvSpPr>
          <p:cNvPr id="4" name="">
            <a:extLst xmlns:a="http://schemas.openxmlformats.org/drawingml/2006/main">
              <a:ext uri="{FF2B5EF4-FFF2-40B4-BE49-F238E27FC236}">
                <a16:creationId xmlns:a16="http://schemas.microsoft.com/office/drawing/2014/main" id="{78130311-9588-4B65-9406-A4993F973CDD}"/>
              </a:ext>
            </a:extLst>
          </p:cNvPr>
          <p:cNvSpPr>
            <a:spLocks xmlns:a="http://schemas.openxmlformats.org/drawingml/2006/main" noGrp="1"/>
          </p:cNvSpPr>
          <p:nvPr/>
        </p:nvSpPr>
        <p:spPr>
          <a:xfrm xmlns:a="http://schemas.openxmlformats.org/drawingml/2006/main">
            <a:off x="666750" y="2047875"/>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1800"/>
              </a:spcAft>
              <a:defRPr sz="1950">
                <a:solidFill>
                  <a:srgbClr val="1D2833"/>
                </a:solidFill>
                <a:latin typeface="Arial"/>
                <a:ea typeface="Arial"/>
                <a:cs typeface="Arial"/>
              </a:defRPr>
            </a:pPr>
            <a:r>
              <a:rPr b="1">
                <a:solidFill>
                  <a:srgbClr val="087F8C"/>
                </a:solidFill>
              </a:rPr>
              <a:t>1. </a:t>
            </a:r>
            <a:r>
              <a:t>What AI Is and Is Not</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2. </a:t>
            </a:r>
            <a:r>
              <a:t>Approved Tools and HIPAA Safety</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3. </a:t>
            </a:r>
            <a:r>
              <a:t>Data Classification in Practice</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4. </a:t>
            </a:r>
            <a:r>
              <a:t>Prompting Skills for DWIHN Roles</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5. </a:t>
            </a:r>
            <a:r>
              <a:t>AI in Daily DWIHN Work</a:t>
            </a:r>
          </a:p>
        </p:txBody>
      </p:sp>
      <p:sp>
        <p:nvSpPr>
          <p:cNvPr id="5" name="">
            <a:extLst xmlns:a="http://schemas.openxmlformats.org/drawingml/2006/main">
              <a:ext uri="{FF2B5EF4-FFF2-40B4-BE49-F238E27FC236}">
                <a16:creationId xmlns:a16="http://schemas.microsoft.com/office/drawing/2014/main" id="{CEC319D1-4B9B-42E5-B7CC-6E4A66B0450F}"/>
              </a:ext>
            </a:extLst>
          </p:cNvPr>
          <p:cNvSpPr>
            <a:spLocks xmlns:a="http://schemas.openxmlformats.org/drawingml/2006/main" noGrp="1"/>
          </p:cNvSpPr>
          <p:nvPr/>
        </p:nvSpPr>
        <p:spPr>
          <a:xfrm xmlns:a="http://schemas.openxmlformats.org/drawingml/2006/main">
            <a:off x="63817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Role tools and responsible application</a:t>
            </a:r>
          </a:p>
        </p:txBody>
      </p:sp>
      <p:sp>
        <p:nvSpPr>
          <p:cNvPr id="6" name="">
            <a:extLst xmlns:a="http://schemas.openxmlformats.org/drawingml/2006/main">
              <a:ext uri="{FF2B5EF4-FFF2-40B4-BE49-F238E27FC236}">
                <a16:creationId xmlns:a16="http://schemas.microsoft.com/office/drawing/2014/main" id="{02B1B2A6-3F07-466D-8518-49F3B0135FC5}"/>
              </a:ext>
            </a:extLst>
          </p:cNvPr>
          <p:cNvSpPr>
            <a:spLocks xmlns:a="http://schemas.openxmlformats.org/drawingml/2006/main" noGrp="1"/>
          </p:cNvSpPr>
          <p:nvPr/>
        </p:nvSpPr>
        <p:spPr>
          <a:xfrm xmlns:a="http://schemas.openxmlformats.org/drawingml/2006/main">
            <a:off x="6381750" y="2047875"/>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1800"/>
              </a:spcAft>
              <a:defRPr sz="1950">
                <a:solidFill>
                  <a:srgbClr val="1D2833"/>
                </a:solidFill>
                <a:latin typeface="Arial"/>
                <a:ea typeface="Arial"/>
                <a:cs typeface="Arial"/>
              </a:defRPr>
            </a:pPr>
            <a:r>
              <a:rPr b="1">
                <a:solidFill>
                  <a:srgbClr val="D85F45"/>
                </a:solidFill>
              </a:rPr>
              <a:t>6. </a:t>
            </a:r>
            <a:r>
              <a:t>Lumenore Impact Deep Dive</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7. </a:t>
            </a:r>
            <a:r>
              <a:t>Genesys AI for Call-Center Excellence</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8. </a:t>
            </a:r>
            <a:r>
              <a:t>Objective Decisions with Data</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9. </a:t>
            </a:r>
            <a:r>
              <a:t>AI Governance and Incident Handling</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10. </a:t>
            </a:r>
            <a:r>
              <a:t>Knowledge Consolidation and Applied Learning</a:t>
            </a:r>
          </a:p>
        </p:txBody>
      </p:sp>
      <p:sp>
        <p:nvSpPr>
          <p:cNvPr id="7" name="">
            <a:extLst xmlns:a="http://schemas.openxmlformats.org/drawingml/2006/main">
              <a:ext uri="{FF2B5EF4-FFF2-40B4-BE49-F238E27FC236}">
                <a16:creationId xmlns:a16="http://schemas.microsoft.com/office/drawing/2014/main" id="{43AE65B2-2681-4818-A68F-05A5658838F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8" name="">
            <a:extLst xmlns:a="http://schemas.openxmlformats.org/drawingml/2006/main">
              <a:ext uri="{FF2B5EF4-FFF2-40B4-BE49-F238E27FC236}">
                <a16:creationId xmlns:a16="http://schemas.microsoft.com/office/drawing/2014/main" id="{5DE6700A-5EC9-4989-A1D3-5B761E6F34C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a:t>
            </a:r>
          </a:p>
        </p:txBody>
      </p:sp>
    </p:spTree>
    <p:extLst>
      <p:ext uri="{BB962C8B-B14F-4D97-AF65-F5344CB8AC3E}">
        <p14:creationId xmlns:p14="http://schemas.microsoft.com/office/powerpoint/2010/main" val="8135494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43179D-B7DF-4850-952B-2027353EE27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4D0ED780-2007-4202-BF4F-0466B356C58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Course-wide safety and accountability</a:t>
            </a:r>
          </a:p>
        </p:txBody>
      </p:sp>
      <p:sp>
        <p:nvSpPr>
          <p:cNvPr id="3" name="">
            <a:extLst xmlns:a="http://schemas.openxmlformats.org/drawingml/2006/main">
              <a:ext uri="{FF2B5EF4-FFF2-40B4-BE49-F238E27FC236}">
                <a16:creationId xmlns:a16="http://schemas.microsoft.com/office/drawing/2014/main" id="{F8A47A5D-E678-4652-BAD8-B06259632342}"/>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The human-owned workflow</a:t>
            </a:r>
          </a:p>
        </p:txBody>
      </p:sp>
      <p:sp>
        <p:nvSpPr>
          <p:cNvPr id="4" name="">
            <a:extLst xmlns:a="http://schemas.openxmlformats.org/drawingml/2006/main">
              <a:ext uri="{FF2B5EF4-FFF2-40B4-BE49-F238E27FC236}">
                <a16:creationId xmlns:a16="http://schemas.microsoft.com/office/drawing/2014/main" id="{F802BADA-1D00-4103-AAD9-EC85C190FD4D}"/>
              </a:ext>
            </a:extLst>
          </p:cNvPr>
          <p:cNvSpPr>
            <a:spLocks xmlns:a="http://schemas.openxmlformats.org/drawingml/2006/main" noGrp="1"/>
          </p:cNvSpPr>
          <p:nvPr/>
        </p:nvSpPr>
        <p:spPr>
          <a:xfrm xmlns:a="http://schemas.openxmlformats.org/drawingml/2006/main">
            <a:off x="666750" y="2000250"/>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Define a legitimate workplace need.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Confirm the tool, account, information, task, and destination.</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Use a clear prompt or governed query.</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Verify the result against an approved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Apply professional judgment and required approval.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6. </a:t>
            </a:r>
            <a:r>
              <a:t>Store, share, monitor, and report through approved processes.</a:t>
            </a:r>
          </a:p>
        </p:txBody>
      </p:sp>
      <p:sp>
        <p:nvSpPr>
          <p:cNvPr id="5" name="">
            <a:extLst xmlns:a="http://schemas.openxmlformats.org/drawingml/2006/main">
              <a:ext uri="{FF2B5EF4-FFF2-40B4-BE49-F238E27FC236}">
                <a16:creationId xmlns:a16="http://schemas.microsoft.com/office/drawing/2014/main" id="{1541199B-8D36-4D1D-BAD9-5AC38865A8F8}"/>
              </a:ext>
            </a:extLst>
          </p:cNvPr>
          <p:cNvSpPr>
            <a:spLocks xmlns:a="http://schemas.openxmlformats.org/drawingml/2006/main" noGrp="1"/>
          </p:cNvSpPr>
          <p:nvPr/>
        </p:nvSpPr>
        <p:spPr>
          <a:xfrm xmlns:a="http://schemas.openxmlformats.org/drawingml/2006/main">
            <a:off x="6477000" y="15716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Training safeguards</a:t>
            </a:r>
          </a:p>
        </p:txBody>
      </p:sp>
      <p:sp>
        <p:nvSpPr>
          <p:cNvPr id="6" name="">
            <a:extLst xmlns:a="http://schemas.openxmlformats.org/drawingml/2006/main">
              <a:ext uri="{FF2B5EF4-FFF2-40B4-BE49-F238E27FC236}">
                <a16:creationId xmlns:a16="http://schemas.microsoft.com/office/drawing/2014/main" id="{F8DC47AF-5F5A-4AD6-8810-7411036B4826}"/>
              </a:ext>
            </a:extLst>
          </p:cNvPr>
          <p:cNvSpPr>
            <a:spLocks xmlns:a="http://schemas.openxmlformats.org/drawingml/2006/main" noGrp="1"/>
          </p:cNvSpPr>
          <p:nvPr/>
        </p:nvSpPr>
        <p:spPr>
          <a:xfrm xmlns:a="http://schemas.openxmlformats.org/drawingml/2006/main">
            <a:off x="6477000" y="2000250"/>
            <a:ext cx="4762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Use fictional or explicitly approved training information.</a:t>
            </a:r>
          </a:p>
          <a:p xmlns:a="http://schemas.openxmlformats.org/drawingml/2006/main">
            <a:pPr marL="254000" indent="-127000">
              <a:spcAft>
                <a:spcPts val="800"/>
              </a:spcAft>
              <a:buChar char="•"/>
              <a:defRPr sz="1725">
                <a:solidFill>
                  <a:srgbClr val="1D2833"/>
                </a:solidFill>
                <a:latin typeface="Arial"/>
                <a:ea typeface="Arial"/>
                <a:cs typeface="Arial"/>
              </a:defRPr>
            </a:pPr>
            <a:r>
              <a:t>Treat AI output as a draft, suggestion, signal, or estimate.</a:t>
            </a:r>
          </a:p>
          <a:p xmlns:a="http://schemas.openxmlformats.org/drawingml/2006/main">
            <a:pPr marL="254000" indent="-127000">
              <a:spcAft>
                <a:spcPts val="800"/>
              </a:spcAft>
              <a:buChar char="•"/>
              <a:defRPr sz="1725">
                <a:solidFill>
                  <a:srgbClr val="1D2833"/>
                </a:solidFill>
                <a:latin typeface="Arial"/>
                <a:ea typeface="Arial"/>
                <a:cs typeface="Arial"/>
              </a:defRPr>
            </a:pPr>
            <a:r>
              <a:t>Keep existing privacy, security, clinical, legal, and management duties.</a:t>
            </a:r>
          </a:p>
          <a:p xmlns:a="http://schemas.openxmlformats.org/drawingml/2006/main">
            <a:pPr marL="254000" indent="-127000">
              <a:spcAft>
                <a:spcPts val="800"/>
              </a:spcAft>
              <a:buChar char="•"/>
              <a:defRPr sz="1725">
                <a:solidFill>
                  <a:srgbClr val="1D2833"/>
                </a:solidFill>
                <a:latin typeface="Arial"/>
                <a:ea typeface="Arial"/>
                <a:cs typeface="Arial"/>
              </a:defRPr>
            </a:pPr>
            <a:r>
              <a:t>Escalate uncertainty instead of inventing a local policy answer.</a:t>
            </a:r>
          </a:p>
        </p:txBody>
      </p:sp>
      <p:sp>
        <p:nvSpPr>
          <p:cNvPr id="7" name="">
            <a:extLst xmlns:a="http://schemas.openxmlformats.org/drawingml/2006/main">
              <a:ext uri="{FF2B5EF4-FFF2-40B4-BE49-F238E27FC236}">
                <a16:creationId xmlns:a16="http://schemas.microsoft.com/office/drawing/2014/main" id="{94AA0E62-AAF7-4591-BC37-3651CD8938D1}"/>
              </a:ext>
            </a:extLst>
          </p:cNvPr>
          <p:cNvSpPr>
            <a:spLocks xmlns:a="http://schemas.openxmlformats.org/drawingml/2006/main" noGrp="1"/>
          </p:cNvSpPr>
          <p:nvPr/>
        </p:nvSpPr>
        <p:spPr>
          <a:xfrm xmlns:a="http://schemas.openxmlformats.org/drawingml/2006/main">
            <a:off x="6477000" y="481012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A96E00"/>
                </a:solidFill>
                <a:latin typeface="Arial"/>
                <a:ea typeface="Arial"/>
                <a:cs typeface="Arial"/>
              </a:defRPr>
            </a:pPr>
            <a:r>
              <a:rPr sz="1650" b="1" i="0">
                <a:solidFill>
                  <a:srgbClr val="A96E00"/>
                </a:solidFill>
                <a:latin typeface="Arial"/>
                <a:ea typeface="Arial"/>
                <a:cs typeface="Arial"/>
              </a:rPr>
              <a:t>Local confirmation required: approved tool catalog, enabled product features, DWIHN incident procedure, response timelines, and certification rules.</a:t>
            </a:r>
          </a:p>
        </p:txBody>
      </p:sp>
      <p:sp>
        <p:nvSpPr>
          <p:cNvPr id="8" name="">
            <a:extLst xmlns:a="http://schemas.openxmlformats.org/drawingml/2006/main">
              <a:ext uri="{FF2B5EF4-FFF2-40B4-BE49-F238E27FC236}">
                <a16:creationId xmlns:a16="http://schemas.microsoft.com/office/drawing/2014/main" id="{CABA8DA8-8A13-42FA-B75E-24596C7CB10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9" name="">
            <a:extLst xmlns:a="http://schemas.openxmlformats.org/drawingml/2006/main">
              <a:ext uri="{FF2B5EF4-FFF2-40B4-BE49-F238E27FC236}">
                <a16:creationId xmlns:a16="http://schemas.microsoft.com/office/drawing/2014/main" id="{A8DD2BBA-0927-475F-9FBA-F49F15279DA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a:t>
            </a:r>
          </a:p>
        </p:txBody>
      </p:sp>
    </p:spTree>
    <p:extLst>
      <p:ext uri="{BB962C8B-B14F-4D97-AF65-F5344CB8AC3E}">
        <p14:creationId xmlns:p14="http://schemas.microsoft.com/office/powerpoint/2010/main" val="2021560782"/>
      </p:ext>
    </p:extLst>
  </p:cSld>
</p:sld>
</file>

<file path=ppt/slides/slide5.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84FEEC-E96B-4D9E-A1FF-633BB8DF7A1C}"/>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66771787-B1BF-40E4-B810-A6777644F809}"/>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What AI Is and Is Not</a:t>
            </a:r>
          </a:p>
        </p:txBody>
      </p:sp>
      <p:sp>
        <p:nvSpPr>
          <p:cNvPr id="3" name="">
            <a:extLst xmlns:a="http://schemas.openxmlformats.org/drawingml/2006/main">
              <a:ext uri="{FF2B5EF4-FFF2-40B4-BE49-F238E27FC236}">
                <a16:creationId xmlns:a16="http://schemas.microsoft.com/office/drawing/2014/main" id="{BFDEB612-73B7-48DD-9792-403822F2C9E8}"/>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74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introduces AI in plain language and establishes the most important course habit: treat AI as an assistant whose work must be checked. It matters because staff need a realistic understanding of AI before they can decide when it is useful, when it is unsafe, and what responsibility remains with the employee.</a:t>
            </a:r>
          </a:p>
        </p:txBody>
      </p:sp>
      <p:sp>
        <p:nvSpPr>
          <p:cNvPr id="4" name="">
            <a:extLst xmlns:a="http://schemas.openxmlformats.org/drawingml/2006/main">
              <a:ext uri="{FF2B5EF4-FFF2-40B4-BE49-F238E27FC236}">
                <a16:creationId xmlns:a16="http://schemas.microsoft.com/office/drawing/2014/main" id="{66F7552E-26CE-42D6-8F75-BD4A2CD932A9}"/>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9AD8838B-FBB0-40E9-BE62-229624FD40BA}"/>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AI in plain language without presenting it as a person or expert.</a:t>
            </a:r>
          </a:p>
          <a:p xmlns:a="http://schemas.openxmlformats.org/drawingml/2006/main">
            <a:pPr marL="254000" indent="-127000">
              <a:spcAft>
                <a:spcPts val="600"/>
              </a:spcAft>
              <a:buChar char="•"/>
              <a:defRPr sz="1500">
                <a:solidFill>
                  <a:srgbClr val="F1F6F8"/>
                </a:solidFill>
                <a:latin typeface="Arial"/>
                <a:ea typeface="Arial"/>
                <a:cs typeface="Arial"/>
              </a:defRPr>
            </a:pPr>
            <a:r>
              <a:t>Distinguish generative AI, analytics AI, and rules-based automation.</a:t>
            </a:r>
          </a:p>
          <a:p xmlns:a="http://schemas.openxmlformats.org/drawingml/2006/main">
            <a:pPr marL="254000" indent="-127000">
              <a:spcAft>
                <a:spcPts val="600"/>
              </a:spcAft>
              <a:buChar char="•"/>
              <a:defRPr sz="1500">
                <a:solidFill>
                  <a:srgbClr val="F1F6F8"/>
                </a:solidFill>
                <a:latin typeface="Arial"/>
                <a:ea typeface="Arial"/>
                <a:cs typeface="Arial"/>
              </a:defRPr>
            </a:pPr>
            <a:r>
              <a:t>Identify tasks that are appropriate, inappropriate, or require approval.</a:t>
            </a:r>
          </a:p>
          <a:p xmlns:a="http://schemas.openxmlformats.org/drawingml/2006/main">
            <a:pPr marL="254000" indent="-127000">
              <a:spcAft>
                <a:spcPts val="600"/>
              </a:spcAft>
              <a:buChar char="•"/>
              <a:defRPr sz="1500">
                <a:solidFill>
                  <a:srgbClr val="F1F6F8"/>
                </a:solidFill>
                <a:latin typeface="Arial"/>
                <a:ea typeface="Arial"/>
                <a:cs typeface="Arial"/>
              </a:defRPr>
            </a:pPr>
            <a:r>
              <a:t>Recognize unsupported content and explain why human review is necessary.</a:t>
            </a:r>
          </a:p>
        </p:txBody>
      </p:sp>
      <p:sp>
        <p:nvSpPr>
          <p:cNvPr id="6" name="">
            <a:extLst xmlns:a="http://schemas.openxmlformats.org/drawingml/2006/main">
              <a:ext uri="{FF2B5EF4-FFF2-40B4-BE49-F238E27FC236}">
                <a16:creationId xmlns:a16="http://schemas.microsoft.com/office/drawing/2014/main" id="{1D41C157-E0E4-4C33-8A0E-57CCC0154B1F}"/>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662FC0B5-AB9A-4F8B-A479-B307F2463255}"/>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AI as a capable assistant</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What AI can help with</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What AI should not be used for</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AI errors and human responsibility</a:t>
            </a:r>
          </a:p>
        </p:txBody>
      </p:sp>
      <p:sp>
        <p:nvSpPr>
          <p:cNvPr id="8" name="">
            <a:extLst xmlns:a="http://schemas.openxmlformats.org/drawingml/2006/main">
              <a:ext uri="{FF2B5EF4-FFF2-40B4-BE49-F238E27FC236}">
                <a16:creationId xmlns:a16="http://schemas.microsoft.com/office/drawing/2014/main" id="{064F69EE-E1BA-444C-8916-C5BB15A874AB}"/>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7225367C-FB2F-415A-8002-219ABB6E7DD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a:t>
            </a:r>
          </a:p>
        </p:txBody>
      </p:sp>
      <p:sp>
        <p:nvSpPr>
          <p:cNvPr id="10" name="">
            <a:extLst xmlns:a="http://schemas.openxmlformats.org/drawingml/2006/main">
              <a:ext uri="{FF2B5EF4-FFF2-40B4-BE49-F238E27FC236}">
                <a16:creationId xmlns:a16="http://schemas.microsoft.com/office/drawing/2014/main" id="{BA2F5DC0-1E0D-44C8-9688-932F3829B3E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a:t>
            </a:r>
          </a:p>
        </p:txBody>
      </p:sp>
    </p:spTree>
    <p:extLst>
      <p:ext uri="{BB962C8B-B14F-4D97-AF65-F5344CB8AC3E}">
        <p14:creationId xmlns:p14="http://schemas.microsoft.com/office/powerpoint/2010/main" val="17986361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34C6431-0735-4098-B2AC-C697FE923EE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0856539A-1F41-4C4C-8C7B-B2A97B8CA16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a:t>
            </a:r>
          </a:p>
        </p:txBody>
      </p:sp>
      <p:sp>
        <p:nvSpPr>
          <p:cNvPr id="3" name="">
            <a:extLst xmlns:a="http://schemas.openxmlformats.org/drawingml/2006/main">
              <a:ext uri="{FF2B5EF4-FFF2-40B4-BE49-F238E27FC236}">
                <a16:creationId xmlns:a16="http://schemas.microsoft.com/office/drawing/2014/main" id="{9EEF9B78-85EB-4972-B47D-6E9E729B2CF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A57665B-05B0-4C0C-88B1-8E233804419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0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is best understood as a tool that supports part of a person's work. It can organize information, create a first draft, find patterns, or suggest a structure. It does not understand a member's complete situation, hold professional responsibility, or replace an employee's judgment.</a:t>
            </a:r>
          </a:p>
        </p:txBody>
      </p:sp>
      <p:sp>
        <p:nvSpPr>
          <p:cNvPr id="5" name="">
            <a:extLst xmlns:a="http://schemas.openxmlformats.org/drawingml/2006/main">
              <a:ext uri="{FF2B5EF4-FFF2-40B4-BE49-F238E27FC236}">
                <a16:creationId xmlns:a16="http://schemas.microsoft.com/office/drawing/2014/main" id="{3F685F49-72AD-4590-B72D-12FC1479B3E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7ED1D94-8791-4A54-B6DF-16A7451CD3A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AI supports a task; it does not own the task.</a:t>
            </a:r>
          </a:p>
          <a:p xmlns:a="http://schemas.openxmlformats.org/drawingml/2006/main">
            <a:pPr marL="254000" indent="-127000">
              <a:spcAft>
                <a:spcPts val="600"/>
              </a:spcAft>
              <a:buChar char="•"/>
              <a:defRPr sz="1650">
                <a:solidFill>
                  <a:srgbClr val="1D2833"/>
                </a:solidFill>
                <a:latin typeface="Arial"/>
                <a:ea typeface="Arial"/>
                <a:cs typeface="Arial"/>
              </a:defRPr>
            </a:pPr>
            <a:r>
              <a:t>AI is software, not a person, colleague, or licensed professional.</a:t>
            </a:r>
          </a:p>
          <a:p xmlns:a="http://schemas.openxmlformats.org/drawingml/2006/main">
            <a:pPr marL="254000" indent="-127000">
              <a:spcAft>
                <a:spcPts val="600"/>
              </a:spcAft>
              <a:buChar char="•"/>
              <a:defRPr sz="1650">
                <a:solidFill>
                  <a:srgbClr val="1D2833"/>
                </a:solidFill>
                <a:latin typeface="Arial"/>
                <a:ea typeface="Arial"/>
                <a:cs typeface="Arial"/>
              </a:defRPr>
            </a:pPr>
            <a:r>
              <a:t>The employee remains responsible for the final result and decision.</a:t>
            </a:r>
          </a:p>
        </p:txBody>
      </p:sp>
      <p:sp>
        <p:nvSpPr>
          <p:cNvPr id="7" name="">
            <a:extLst xmlns:a="http://schemas.openxmlformats.org/drawingml/2006/main">
              <a:ext uri="{FF2B5EF4-FFF2-40B4-BE49-F238E27FC236}">
                <a16:creationId xmlns:a16="http://schemas.microsoft.com/office/drawing/2014/main" id="{60A0C88E-F6BD-46AD-9E7B-7F742D3849C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BE0C8DB-D896-425D-A948-8D76AEEF113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assistant uses an approved AI tool to turn five confirmed training details into a reminder email. The assistant still checks the date, time, audience, and registration link before sending it.</a:t>
            </a:r>
          </a:p>
        </p:txBody>
      </p:sp>
      <p:sp>
        <p:nvSpPr>
          <p:cNvPr id="9" name="">
            <a:extLst xmlns:a="http://schemas.openxmlformats.org/drawingml/2006/main">
              <a:ext uri="{FF2B5EF4-FFF2-40B4-BE49-F238E27FC236}">
                <a16:creationId xmlns:a16="http://schemas.microsoft.com/office/drawing/2014/main" id="{23FF5F91-4B5C-4819-AB3E-3A3BFB08EAD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89AB10B-4775-4FF2-8AF0-15813571D7C6}"/>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Drafting communication, organizing notes, suggesting report structures, supporting data exploration, and preparing first versions of routine material.</a:t>
            </a:r>
          </a:p>
        </p:txBody>
      </p:sp>
      <p:sp>
        <p:nvSpPr>
          <p:cNvPr id="11" name="">
            <a:extLst xmlns:a="http://schemas.openxmlformats.org/drawingml/2006/main">
              <a:ext uri="{FF2B5EF4-FFF2-40B4-BE49-F238E27FC236}">
                <a16:creationId xmlns:a16="http://schemas.microsoft.com/office/drawing/2014/main" id="{E9DAA475-1C89-4E0E-B19F-932D84E3773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3733A768-81B7-471C-A7E2-E779577FCB6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a:t>
            </a:r>
          </a:p>
        </p:txBody>
      </p:sp>
    </p:spTree>
    <p:extLst>
      <p:ext uri="{BB962C8B-B14F-4D97-AF65-F5344CB8AC3E}">
        <p14:creationId xmlns:p14="http://schemas.microsoft.com/office/powerpoint/2010/main" val="10927505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259098-18CC-4953-BB03-DE913241268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167BCCD5-70F2-4606-A6CE-D425B15300D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 process and practice</a:t>
            </a:r>
          </a:p>
        </p:txBody>
      </p:sp>
      <p:sp>
        <p:nvSpPr>
          <p:cNvPr id="3" name="">
            <a:extLst xmlns:a="http://schemas.openxmlformats.org/drawingml/2006/main">
              <a:ext uri="{FF2B5EF4-FFF2-40B4-BE49-F238E27FC236}">
                <a16:creationId xmlns:a16="http://schemas.microsoft.com/office/drawing/2014/main" id="{2A872419-1167-444B-A48B-7F987953788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C40C515-0AFC-46A2-8686-D9F7FB1385A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A person defines the task.</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The person checks whether the tool and information are permitted.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The tool processes the instruction and produces an output.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The person compares the output with the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An authorized person approves, changes, or rejects the result.</a:t>
            </a:r>
          </a:p>
        </p:txBody>
      </p:sp>
      <p:sp>
        <p:nvSpPr>
          <p:cNvPr id="5" name="">
            <a:extLst xmlns:a="http://schemas.openxmlformats.org/drawingml/2006/main">
              <a:ext uri="{FF2B5EF4-FFF2-40B4-BE49-F238E27FC236}">
                <a16:creationId xmlns:a16="http://schemas.microsoft.com/office/drawing/2014/main" id="{D9A66DFF-A338-4075-937E-19ADBDFE802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FE2D09F-33D2-49DA-BB3F-D5E50AD29CB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simple AI workflow receives a prompt and permitted facts as input, processes patterns learned during training, and returns a likely response. The response is a generated result, not a verified record.</a:t>
            </a:r>
          </a:p>
        </p:txBody>
      </p:sp>
      <p:sp>
        <p:nvSpPr>
          <p:cNvPr id="7" name="">
            <a:extLst xmlns:a="http://schemas.openxmlformats.org/drawingml/2006/main">
              <a:ext uri="{FF2B5EF4-FFF2-40B4-BE49-F238E27FC236}">
                <a16:creationId xmlns:a16="http://schemas.microsoft.com/office/drawing/2014/main" id="{36440EEB-140D-4BBE-A2A2-B8F3F39471DE}"/>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BD0A01E-5AE6-455A-9C5C-AB8C1C436D8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Thinking AI understands the full situation like a person. - Treating a fluent answer as a verified fact. - Allowing AI to make a decision that belongs to an employee.</a:t>
            </a:r>
          </a:p>
        </p:txBody>
      </p:sp>
      <p:sp>
        <p:nvSpPr>
          <p:cNvPr id="9" name="">
            <a:extLst xmlns:a="http://schemas.openxmlformats.org/drawingml/2006/main">
              <a:ext uri="{FF2B5EF4-FFF2-40B4-BE49-F238E27FC236}">
                <a16:creationId xmlns:a16="http://schemas.microsoft.com/office/drawing/2014/main" id="{4657CBB0-3CC1-4B93-A9EF-0F657D6DD54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792AA413-35BF-492C-AB12-A930F654A72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a:t>
            </a:r>
          </a:p>
        </p:txBody>
      </p:sp>
    </p:spTree>
    <p:extLst>
      <p:ext uri="{BB962C8B-B14F-4D97-AF65-F5344CB8AC3E}">
        <p14:creationId xmlns:p14="http://schemas.microsoft.com/office/powerpoint/2010/main" val="2612762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F8D209-4A6B-4653-B860-2B7934EEF70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38D6B0C8-9441-4CDD-AD8B-20B52AAFAC1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a:t>
            </a:r>
          </a:p>
        </p:txBody>
      </p:sp>
      <p:sp>
        <p:nvSpPr>
          <p:cNvPr id="3" name="">
            <a:extLst xmlns:a="http://schemas.openxmlformats.org/drawingml/2006/main">
              <a:ext uri="{FF2B5EF4-FFF2-40B4-BE49-F238E27FC236}">
                <a16:creationId xmlns:a16="http://schemas.microsoft.com/office/drawing/2014/main" id="{EDCB0944-0330-4FA8-B4D8-90FB0FCD1C0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026DBC0-B2DA-4A0E-9E44-2EC37EF7D69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4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Useful beginner tasks include drafting routine communication, summarizing supplied material, simplifying general information, organizing notes, comparing text, and exploring governed data. These tasks work well when the source is clear and the result can be checked.</a:t>
            </a:r>
          </a:p>
        </p:txBody>
      </p:sp>
      <p:sp>
        <p:nvSpPr>
          <p:cNvPr id="5" name="">
            <a:extLst xmlns:a="http://schemas.openxmlformats.org/drawingml/2006/main">
              <a:ext uri="{FF2B5EF4-FFF2-40B4-BE49-F238E27FC236}">
                <a16:creationId xmlns:a16="http://schemas.microsoft.com/office/drawing/2014/main" id="{0501FCEC-979F-49C3-A62D-F4F1CD17138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9DADCBD-5C1B-4C12-878B-5F3C7FBCF4C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with narrow, repeatable, low-risk tasks.</a:t>
            </a:r>
          </a:p>
          <a:p xmlns:a="http://schemas.openxmlformats.org/drawingml/2006/main">
            <a:pPr marL="254000" indent="-127000">
              <a:spcAft>
                <a:spcPts val="600"/>
              </a:spcAft>
              <a:buChar char="•"/>
              <a:defRPr sz="1650">
                <a:solidFill>
                  <a:srgbClr val="1D2833"/>
                </a:solidFill>
                <a:latin typeface="Arial"/>
                <a:ea typeface="Arial"/>
                <a:cs typeface="Arial"/>
              </a:defRPr>
            </a:pPr>
            <a:r>
              <a:t>Use a reliable source and a clear output format.</a:t>
            </a:r>
          </a:p>
          <a:p xmlns:a="http://schemas.openxmlformats.org/drawingml/2006/main">
            <a:pPr marL="254000" indent="-127000">
              <a:spcAft>
                <a:spcPts val="600"/>
              </a:spcAft>
              <a:buChar char="•"/>
              <a:defRPr sz="1650">
                <a:solidFill>
                  <a:srgbClr val="1D2833"/>
                </a:solidFill>
                <a:latin typeface="Arial"/>
                <a:ea typeface="Arial"/>
                <a:cs typeface="Arial"/>
              </a:defRPr>
            </a:pPr>
            <a:r>
              <a:t>Select tasks where errors and omissions can be found.</a:t>
            </a:r>
          </a:p>
        </p:txBody>
      </p:sp>
      <p:sp>
        <p:nvSpPr>
          <p:cNvPr id="7" name="">
            <a:extLst xmlns:a="http://schemas.openxmlformats.org/drawingml/2006/main">
              <a:ext uri="{FF2B5EF4-FFF2-40B4-BE49-F238E27FC236}">
                <a16:creationId xmlns:a16="http://schemas.microsoft.com/office/drawing/2014/main" id="{DC8744AC-577E-4D4B-873E-57828FBFED7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54FDB3E-557E-4845-ABBE-511D95A8A3C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manager has fictional meeting notes containing decisions, actions, and open questions. AI organizes the notes under those three headings, and the manager compares every item with the original notes.</a:t>
            </a:r>
          </a:p>
        </p:txBody>
      </p:sp>
      <p:sp>
        <p:nvSpPr>
          <p:cNvPr id="9" name="">
            <a:extLst xmlns:a="http://schemas.openxmlformats.org/drawingml/2006/main">
              <a:ext uri="{FF2B5EF4-FFF2-40B4-BE49-F238E27FC236}">
                <a16:creationId xmlns:a16="http://schemas.microsoft.com/office/drawing/2014/main" id="{C9CDF353-19E6-4A9A-A0FB-4A0A5D8E9D8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BB9FAB9-9EBB-4E01-985D-7DE63BA9814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Internal reminders, fictional training cases, meeting summaries, first-draft reports, plain-language rewrites, and governed analytics questions.</a:t>
            </a:r>
          </a:p>
        </p:txBody>
      </p:sp>
      <p:sp>
        <p:nvSpPr>
          <p:cNvPr id="11" name="">
            <a:extLst xmlns:a="http://schemas.openxmlformats.org/drawingml/2006/main">
              <a:ext uri="{FF2B5EF4-FFF2-40B4-BE49-F238E27FC236}">
                <a16:creationId xmlns:a16="http://schemas.microsoft.com/office/drawing/2014/main" id="{713A1E55-89E1-4EEF-BA27-C138AB215F7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458C1BD0-5AB9-461E-B23E-EA8127FD257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a:t>
            </a:r>
          </a:p>
        </p:txBody>
      </p:sp>
    </p:spTree>
    <p:extLst>
      <p:ext uri="{BB962C8B-B14F-4D97-AF65-F5344CB8AC3E}">
        <p14:creationId xmlns:p14="http://schemas.microsoft.com/office/powerpoint/2010/main" val="6898861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34FD65-A45B-4373-A59E-C4516265F27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FD7AC71B-EDF0-4F00-9A67-AE50084E6CB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 process and practice</a:t>
            </a:r>
          </a:p>
        </p:txBody>
      </p:sp>
      <p:sp>
        <p:nvSpPr>
          <p:cNvPr id="3" name="">
            <a:extLst xmlns:a="http://schemas.openxmlformats.org/drawingml/2006/main">
              <a:ext uri="{FF2B5EF4-FFF2-40B4-BE49-F238E27FC236}">
                <a16:creationId xmlns:a16="http://schemas.microsoft.com/office/drawing/2014/main" id="{5606F802-5870-4C5E-AE27-9CBF9078223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48C4D36-90D2-4920-B36D-BAF1142E6CF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Gather the approved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Choose one clearly defined task.</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Give the AI the task, context, format, and limits.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Review every important statement.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Correct the result and follow normal approval.</a:t>
            </a:r>
          </a:p>
        </p:txBody>
      </p:sp>
      <p:sp>
        <p:nvSpPr>
          <p:cNvPr id="5" name="">
            <a:extLst xmlns:a="http://schemas.openxmlformats.org/drawingml/2006/main">
              <a:ext uri="{FF2B5EF4-FFF2-40B4-BE49-F238E27FC236}">
                <a16:creationId xmlns:a16="http://schemas.microsoft.com/office/drawing/2014/main" id="{A87C9464-9812-4C9B-9E53-709E34B3B66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7B00C1A-210B-4327-B70E-5963A3EEF403}"/>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summarization request may specify input text and a structured output such as Decisions, Actions, Owners, and Open Questions. The structure makes comparison with the source easier.</a:t>
            </a:r>
          </a:p>
        </p:txBody>
      </p:sp>
      <p:sp>
        <p:nvSpPr>
          <p:cNvPr id="7" name="">
            <a:extLst xmlns:a="http://schemas.openxmlformats.org/drawingml/2006/main">
              <a:ext uri="{FF2B5EF4-FFF2-40B4-BE49-F238E27FC236}">
                <a16:creationId xmlns:a16="http://schemas.microsoft.com/office/drawing/2014/main" id="{581F642F-811C-4990-AD56-B655AB78C21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81C77E9-4A02-44C0-9012-41807729804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Selecting a complex task with no easy verification method. - Providing more information than the task needs. - Measuring only generation time and ignoring review time.</a:t>
            </a:r>
          </a:p>
        </p:txBody>
      </p:sp>
      <p:sp>
        <p:nvSpPr>
          <p:cNvPr id="9" name="">
            <a:extLst xmlns:a="http://schemas.openxmlformats.org/drawingml/2006/main">
              <a:ext uri="{FF2B5EF4-FFF2-40B4-BE49-F238E27FC236}">
                <a16:creationId xmlns:a16="http://schemas.microsoft.com/office/drawing/2014/main" id="{011E8D65-2D0F-45ED-ACC1-A9CD6A7984E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6058FC16-FE5D-4712-83E0-56710C780B9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a:t>
            </a:r>
          </a:p>
        </p:txBody>
      </p:sp>
    </p:spTree>
    <p:extLst>
      <p:ext uri="{BB962C8B-B14F-4D97-AF65-F5344CB8AC3E}">
        <p14:creationId xmlns:p14="http://schemas.microsoft.com/office/powerpoint/2010/main" val="4174257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A22DEF1-CA20-4369-8A01-3AE48557113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BF80E59C-9E2C-4B01-B9E2-7BC05B1A9D7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a:t>
            </a:r>
          </a:p>
        </p:txBody>
      </p:sp>
      <p:sp>
        <p:nvSpPr>
          <p:cNvPr id="3" name="">
            <a:extLst xmlns:a="http://schemas.openxmlformats.org/drawingml/2006/main">
              <a:ext uri="{FF2B5EF4-FFF2-40B4-BE49-F238E27FC236}">
                <a16:creationId xmlns:a16="http://schemas.microsoft.com/office/drawing/2014/main" id="{E5339EE2-368B-4EB1-B71B-09A087F4E08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75ADDF3-C4AF-4315-906A-C399AA6E836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should not make final decisions about care, eligibility, crisis response, diagnosis, discipline, or another high-consequence matter requiring authorized professional judgment. It should also not receive information that is prohibited for the selected tool or account.</a:t>
            </a:r>
          </a:p>
        </p:txBody>
      </p:sp>
      <p:sp>
        <p:nvSpPr>
          <p:cNvPr id="5" name="">
            <a:extLst xmlns:a="http://schemas.openxmlformats.org/drawingml/2006/main">
              <a:ext uri="{FF2B5EF4-FFF2-40B4-BE49-F238E27FC236}">
                <a16:creationId xmlns:a16="http://schemas.microsoft.com/office/drawing/2014/main" id="{B53CEBD8-1E90-4AE7-9910-38222AAD5CC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5468C00-16B0-4C02-A04C-5DCBD14F334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High-consequence decisions require authorized human judgment.</a:t>
            </a:r>
          </a:p>
          <a:p xmlns:a="http://schemas.openxmlformats.org/drawingml/2006/main">
            <a:pPr marL="254000" indent="-127000">
              <a:spcAft>
                <a:spcPts val="600"/>
              </a:spcAft>
              <a:buChar char="•"/>
              <a:defRPr sz="1650">
                <a:solidFill>
                  <a:srgbClr val="1D2833"/>
                </a:solidFill>
                <a:latin typeface="Arial"/>
                <a:ea typeface="Arial"/>
                <a:cs typeface="Arial"/>
              </a:defRPr>
            </a:pPr>
            <a:r>
              <a:t>Approved tool use still depends on the account, information, and task.</a:t>
            </a:r>
          </a:p>
          <a:p xmlns:a="http://schemas.openxmlformats.org/drawingml/2006/main">
            <a:pPr marL="254000" indent="-127000">
              <a:spcAft>
                <a:spcPts val="600"/>
              </a:spcAft>
              <a:buChar char="•"/>
              <a:defRPr sz="1650">
                <a:solidFill>
                  <a:srgbClr val="1D2833"/>
                </a:solidFill>
                <a:latin typeface="Arial"/>
                <a:ea typeface="Arial"/>
                <a:cs typeface="Arial"/>
              </a:defRPr>
            </a:pPr>
            <a:r>
              <a:t>Existing clinical, legal, compliance, and escalation procedures remain in force.</a:t>
            </a:r>
          </a:p>
        </p:txBody>
      </p:sp>
      <p:sp>
        <p:nvSpPr>
          <p:cNvPr id="7" name="">
            <a:extLst xmlns:a="http://schemas.openxmlformats.org/drawingml/2006/main">
              <a:ext uri="{FF2B5EF4-FFF2-40B4-BE49-F238E27FC236}">
                <a16:creationId xmlns:a16="http://schemas.microsoft.com/office/drawing/2014/main" id="{54767E66-6462-4F9B-A94B-AB21E9B9C04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4162F590-080A-441F-8E85-4C82774C433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care coordinator may use an approved workflow to draft a general follow-up message from permitted facts. The coordinator must not ask AI to determine whether the fictional member qualifies for a service.</a:t>
            </a:r>
          </a:p>
        </p:txBody>
      </p:sp>
      <p:sp>
        <p:nvSpPr>
          <p:cNvPr id="9" name="">
            <a:extLst xmlns:a="http://schemas.openxmlformats.org/drawingml/2006/main">
              <a:ext uri="{FF2B5EF4-FFF2-40B4-BE49-F238E27FC236}">
                <a16:creationId xmlns:a16="http://schemas.microsoft.com/office/drawing/2014/main" id="{78D6B398-7669-41CF-8AD2-6B5E6A6E849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02000E7-F2EF-404E-BA94-65159D429DD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boundary applies to care decisions, eligibility, crisis response, diagnosis, discipline, legal interpretation, and other high-impact processes.</a:t>
            </a:r>
          </a:p>
        </p:txBody>
      </p:sp>
      <p:sp>
        <p:nvSpPr>
          <p:cNvPr id="11" name="">
            <a:extLst xmlns:a="http://schemas.openxmlformats.org/drawingml/2006/main">
              <a:ext uri="{FF2B5EF4-FFF2-40B4-BE49-F238E27FC236}">
                <a16:creationId xmlns:a16="http://schemas.microsoft.com/office/drawing/2014/main" id="{37E780CA-0426-4D9D-BD7B-220ACC48B45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D523F169-F880-4EA8-88B7-AABC741BCB2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10</a:t>
            </a:r>
          </a:p>
        </p:txBody>
      </p:sp>
    </p:spTree>
    <p:extLst>
      <p:ext uri="{BB962C8B-B14F-4D97-AF65-F5344CB8AC3E}">
        <p14:creationId xmlns:p14="http://schemas.microsoft.com/office/powerpoint/2010/main" val="6890322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E2A5A5-BA2F-4046-BEBB-211CD237417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B7259859-611F-4DA9-BC9E-B8F7C56F15E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 process and practice</a:t>
            </a:r>
          </a:p>
        </p:txBody>
      </p:sp>
      <p:sp>
        <p:nvSpPr>
          <p:cNvPr id="3" name="">
            <a:extLst xmlns:a="http://schemas.openxmlformats.org/drawingml/2006/main">
              <a:ext uri="{FF2B5EF4-FFF2-40B4-BE49-F238E27FC236}">
                <a16:creationId xmlns:a16="http://schemas.microsoft.com/office/drawing/2014/main" id="{F4BB1BDB-6AE7-4D79-A4AA-2AD355340E2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DFD4AFE-63F9-4128-8E17-A31FBA8BD43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Identify the decision being requested.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Determine whether it requires professional authority or creates significant consequences.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Check the approved workflow and responsible role.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Use AI only for an allowed supporting step, if any.</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Keep the final judgment and documentation with the authorized person.</a:t>
            </a:r>
          </a:p>
        </p:txBody>
      </p:sp>
      <p:sp>
        <p:nvSpPr>
          <p:cNvPr id="5" name="">
            <a:extLst xmlns:a="http://schemas.openxmlformats.org/drawingml/2006/main">
              <a:ext uri="{FF2B5EF4-FFF2-40B4-BE49-F238E27FC236}">
                <a16:creationId xmlns:a16="http://schemas.microsoft.com/office/drawing/2014/main" id="{DA0302D1-A189-4319-8C13-4E4C78FAE08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1EF3104-8996-4B4A-B730-841DA61B45A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system may return a recommendation score, but application logic should not automatically convert that score into an eligibility decision without approved rules, review, and accountability.</a:t>
            </a:r>
          </a:p>
        </p:txBody>
      </p:sp>
      <p:sp>
        <p:nvSpPr>
          <p:cNvPr id="7" name="">
            <a:extLst xmlns:a="http://schemas.openxmlformats.org/drawingml/2006/main">
              <a:ext uri="{FF2B5EF4-FFF2-40B4-BE49-F238E27FC236}">
                <a16:creationId xmlns:a16="http://schemas.microsoft.com/office/drawing/2014/main" id="{B139AD72-4792-46DF-9C60-E5A5C1DEEB0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312934F-6353-4F40-9C0B-94D6CA00BA2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Believing AI becomes qualified when assigned an expert role in a prompt. - Assuming a recommendation is neutral or correct. - Bypassing an existing approval because the result appears confident.</a:t>
            </a:r>
          </a:p>
        </p:txBody>
      </p:sp>
      <p:sp>
        <p:nvSpPr>
          <p:cNvPr id="9" name="">
            <a:extLst xmlns:a="http://schemas.openxmlformats.org/drawingml/2006/main">
              <a:ext uri="{FF2B5EF4-FFF2-40B4-BE49-F238E27FC236}">
                <a16:creationId xmlns:a16="http://schemas.microsoft.com/office/drawing/2014/main" id="{A4EF86A6-433F-4548-BAED-89E80758BF2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23EA2F88-23F7-46A0-A954-3658823F8E2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11</a:t>
            </a:r>
          </a:p>
        </p:txBody>
      </p:sp>
    </p:spTree>
    <p:extLst>
      <p:ext uri="{BB962C8B-B14F-4D97-AF65-F5344CB8AC3E}">
        <p14:creationId xmlns:p14="http://schemas.microsoft.com/office/powerpoint/2010/main" val="6928256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85A1F1-D2D4-412E-A7E9-F3D346CF965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C9CD772B-FE75-4C82-A1C2-114CFCA024D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a:t>
            </a:r>
          </a:p>
        </p:txBody>
      </p:sp>
      <p:sp>
        <p:nvSpPr>
          <p:cNvPr id="3" name="">
            <a:extLst xmlns:a="http://schemas.openxmlformats.org/drawingml/2006/main">
              <a:ext uri="{FF2B5EF4-FFF2-40B4-BE49-F238E27FC236}">
                <a16:creationId xmlns:a16="http://schemas.microsoft.com/office/drawing/2014/main" id="{BD8D9BB7-4615-4E12-8BBD-A09BDB2DF71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1FCA390-8C23-43EE-96C4-D6B82E59BB6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inaccurate or unsupported statements that sound confident. The employee using the result remains responsible for checking facts, correcting omissions, protecting information, and following the existing approval process.</a:t>
            </a:r>
          </a:p>
        </p:txBody>
      </p:sp>
      <p:sp>
        <p:nvSpPr>
          <p:cNvPr id="5" name="">
            <a:extLst xmlns:a="http://schemas.openxmlformats.org/drawingml/2006/main">
              <a:ext uri="{FF2B5EF4-FFF2-40B4-BE49-F238E27FC236}">
                <a16:creationId xmlns:a16="http://schemas.microsoft.com/office/drawing/2014/main" id="{F2789C17-5607-476A-A558-30C685A72CC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F274ED7-EE5A-4D75-8066-8EE28B0A164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An unsupported statement is not made reliable by professional wording.</a:t>
            </a:r>
          </a:p>
          <a:p xmlns:a="http://schemas.openxmlformats.org/drawingml/2006/main">
            <a:pPr marL="254000" indent="-127000">
              <a:spcAft>
                <a:spcPts val="600"/>
              </a:spcAft>
              <a:buChar char="•"/>
              <a:defRPr sz="1650">
                <a:solidFill>
                  <a:srgbClr val="1D2833"/>
                </a:solidFill>
                <a:latin typeface="Arial"/>
                <a:ea typeface="Arial"/>
                <a:cs typeface="Arial"/>
              </a:defRPr>
            </a:pPr>
            <a:r>
              <a:t>Review must check facts, omissions, tone, privacy, and approval.</a:t>
            </a:r>
          </a:p>
          <a:p xmlns:a="http://schemas.openxmlformats.org/drawingml/2006/main">
            <a:pPr marL="254000" indent="-127000">
              <a:spcAft>
                <a:spcPts val="600"/>
              </a:spcAft>
              <a:buChar char="•"/>
              <a:defRPr sz="1650">
                <a:solidFill>
                  <a:srgbClr val="1D2833"/>
                </a:solidFill>
                <a:latin typeface="Arial"/>
                <a:ea typeface="Arial"/>
                <a:cs typeface="Arial"/>
              </a:defRPr>
            </a:pPr>
            <a:r>
              <a:t>Important claims should be traceable to an approved source.</a:t>
            </a:r>
          </a:p>
        </p:txBody>
      </p:sp>
      <p:sp>
        <p:nvSpPr>
          <p:cNvPr id="7" name="">
            <a:extLst xmlns:a="http://schemas.openxmlformats.org/drawingml/2006/main">
              <a:ext uri="{FF2B5EF4-FFF2-40B4-BE49-F238E27FC236}">
                <a16:creationId xmlns:a16="http://schemas.microsoft.com/office/drawing/2014/main" id="{020BAC17-4EC7-4B6B-AE9D-B483C5980F4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CD7D410-4131-449F-AAF7-EAB9BD212B8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AI-written appointment reminder adds a cancellation fee that is absent from the source. The reviewer catches the invented statement, removes it, and verifies the entire message before use.</a:t>
            </a:r>
          </a:p>
        </p:txBody>
      </p:sp>
      <p:sp>
        <p:nvSpPr>
          <p:cNvPr id="9" name="">
            <a:extLst xmlns:a="http://schemas.openxmlformats.org/drawingml/2006/main">
              <a:ext uri="{FF2B5EF4-FFF2-40B4-BE49-F238E27FC236}">
                <a16:creationId xmlns:a16="http://schemas.microsoft.com/office/drawing/2014/main" id="{07489CC5-35E8-4DE6-A06A-34C823FDD4F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A80B9A0-F786-4B54-9B34-35B417BB632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AI-supported draft, summary, chart explanation, call record, suggestion, prediction, or report.</a:t>
            </a:r>
          </a:p>
        </p:txBody>
      </p:sp>
      <p:sp>
        <p:nvSpPr>
          <p:cNvPr id="11" name="">
            <a:extLst xmlns:a="http://schemas.openxmlformats.org/drawingml/2006/main">
              <a:ext uri="{FF2B5EF4-FFF2-40B4-BE49-F238E27FC236}">
                <a16:creationId xmlns:a16="http://schemas.microsoft.com/office/drawing/2014/main" id="{CBD031E4-7FA1-4AA9-8C06-4E1F650B714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32B7D59C-E6D0-4A78-A14D-F3C38A7A784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12</a:t>
            </a:r>
          </a:p>
        </p:txBody>
      </p:sp>
    </p:spTree>
    <p:extLst>
      <p:ext uri="{BB962C8B-B14F-4D97-AF65-F5344CB8AC3E}">
        <p14:creationId xmlns:p14="http://schemas.microsoft.com/office/powerpoint/2010/main" val="19360081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F2F4CC-90C6-4421-A89F-A5C145103E8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383A752F-30F2-4EB3-AD08-795153010BB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622"/>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 process and practice</a:t>
            </a:r>
          </a:p>
        </p:txBody>
      </p:sp>
      <p:sp>
        <p:nvSpPr>
          <p:cNvPr id="3" name="">
            <a:extLst xmlns:a="http://schemas.openxmlformats.org/drawingml/2006/main">
              <a:ext uri="{FF2B5EF4-FFF2-40B4-BE49-F238E27FC236}">
                <a16:creationId xmlns:a16="http://schemas.microsoft.com/office/drawing/2014/main" id="{964769FE-DD9A-434D-B077-7EF3824DB81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0FFA951-5427-405D-9191-102941766CF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Keep the source available during review.</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Compare each important output statement with the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Label claims as supported, missing, unclear, or unsupported.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Correct or remove problems.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Obtain the required human approval before use.</a:t>
            </a:r>
          </a:p>
        </p:txBody>
      </p:sp>
      <p:sp>
        <p:nvSpPr>
          <p:cNvPr id="5" name="">
            <a:extLst xmlns:a="http://schemas.openxmlformats.org/drawingml/2006/main">
              <a:ext uri="{FF2B5EF4-FFF2-40B4-BE49-F238E27FC236}">
                <a16:creationId xmlns:a16="http://schemas.microsoft.com/office/drawing/2014/main" id="{15E40784-CD8A-4B98-B2D1-D12AB9EF6F6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FEBD500-FDE6-464C-97E3-9113B3FEFB11}"/>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If a prompt provides three facts but an output contains a fourth factual claim, the review process should flag that claim as unsupported unless a verified source supplies it.</a:t>
            </a:r>
          </a:p>
        </p:txBody>
      </p:sp>
      <p:sp>
        <p:nvSpPr>
          <p:cNvPr id="7" name="">
            <a:extLst xmlns:a="http://schemas.openxmlformats.org/drawingml/2006/main">
              <a:ext uri="{FF2B5EF4-FFF2-40B4-BE49-F238E27FC236}">
                <a16:creationId xmlns:a16="http://schemas.microsoft.com/office/drawing/2014/main" id="{3B5C41A6-4226-463E-8E54-AF64F780D59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1710D40-7A51-4599-AC1E-959C92DB4AC7}"/>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Checking spelling while overlooking factual errors. - Assuming a detailed prompt prevents hallucinations. - Correcting one visible error without reviewing the rest of the output.</a:t>
            </a:r>
          </a:p>
        </p:txBody>
      </p:sp>
      <p:sp>
        <p:nvSpPr>
          <p:cNvPr id="9" name="">
            <a:extLst xmlns:a="http://schemas.openxmlformats.org/drawingml/2006/main">
              <a:ext uri="{FF2B5EF4-FFF2-40B4-BE49-F238E27FC236}">
                <a16:creationId xmlns:a16="http://schemas.microsoft.com/office/drawing/2014/main" id="{D35B931B-E9E0-44AD-9148-62B7222D5CA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26290524-C393-4A7B-926D-F1690975AF5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13</a:t>
            </a:r>
          </a:p>
        </p:txBody>
      </p:sp>
    </p:spTree>
    <p:extLst>
      <p:ext uri="{BB962C8B-B14F-4D97-AF65-F5344CB8AC3E}">
        <p14:creationId xmlns:p14="http://schemas.microsoft.com/office/powerpoint/2010/main" val="1037517263"/>
      </p:ext>
    </p:extLst>
  </p:cSld>
</p:sld>
</file>

<file path=ppt/slides/slide14.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5EA3FA-24A1-4D38-BB97-9113354319D5}"/>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3A5DAEFC-A204-4F6E-84BD-14B533F94527}"/>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Approved Tools and HIPAA Safety</a:t>
            </a:r>
          </a:p>
        </p:txBody>
      </p:sp>
      <p:sp>
        <p:nvSpPr>
          <p:cNvPr id="3" name="">
            <a:extLst xmlns:a="http://schemas.openxmlformats.org/drawingml/2006/main">
              <a:ext uri="{FF2B5EF4-FFF2-40B4-BE49-F238E27FC236}">
                <a16:creationId xmlns:a16="http://schemas.microsoft.com/office/drawing/2014/main" id="{A5C62F5D-8EFD-4887-998A-5E27A76DD60E}"/>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to choose an approved AI tool and determine whether a specific account, information type, task, sharing method, and destination are permitted. It is important because a tool can be approved for one purpose while remaining unsuitable for another.</a:t>
            </a:r>
          </a:p>
        </p:txBody>
      </p:sp>
      <p:sp>
        <p:nvSpPr>
          <p:cNvPr id="4" name="">
            <a:extLst xmlns:a="http://schemas.openxmlformats.org/drawingml/2006/main">
              <a:ext uri="{FF2B5EF4-FFF2-40B4-BE49-F238E27FC236}">
                <a16:creationId xmlns:a16="http://schemas.microsoft.com/office/drawing/2014/main" id="{B3995F67-7F96-43DE-AE8B-A9680773B067}"/>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7E44EFD0-F1C4-4033-B1E1-614303952786}"/>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why "approved tool" does not mean "approved for everything."</a:t>
            </a:r>
          </a:p>
          <a:p xmlns:a="http://schemas.openxmlformats.org/drawingml/2006/main">
            <a:pPr marL="254000" indent="-127000">
              <a:spcAft>
                <a:spcPts val="600"/>
              </a:spcAft>
              <a:buChar char="•"/>
              <a:defRPr sz="1500">
                <a:solidFill>
                  <a:srgbClr val="F1F6F8"/>
                </a:solidFill>
                <a:latin typeface="Arial"/>
                <a:ea typeface="Arial"/>
                <a:cs typeface="Arial"/>
              </a:defRPr>
            </a:pPr>
            <a:r>
              <a:t>Check the tool, account, information, task, sharing, and destination.</a:t>
            </a:r>
          </a:p>
          <a:p xmlns:a="http://schemas.openxmlformats.org/drawingml/2006/main">
            <a:pPr marL="254000" indent="-127000">
              <a:spcAft>
                <a:spcPts val="600"/>
              </a:spcAft>
              <a:buChar char="•"/>
              <a:defRPr sz="1500">
                <a:solidFill>
                  <a:srgbClr val="F1F6F8"/>
                </a:solidFill>
                <a:latin typeface="Arial"/>
                <a:ea typeface="Arial"/>
                <a:cs typeface="Arial"/>
              </a:defRPr>
            </a:pPr>
            <a:r>
              <a:t>Pause and use the designated help route when permission is unclear.</a:t>
            </a:r>
          </a:p>
          <a:p xmlns:a="http://schemas.openxmlformats.org/drawingml/2006/main">
            <a:pPr marL="254000" indent="-127000">
              <a:spcAft>
                <a:spcPts val="600"/>
              </a:spcAft>
              <a:buChar char="•"/>
              <a:defRPr sz="1500">
                <a:solidFill>
                  <a:srgbClr val="F1F6F8"/>
                </a:solidFill>
                <a:latin typeface="Arial"/>
                <a:ea typeface="Arial"/>
                <a:cs typeface="Arial"/>
              </a:defRPr>
            </a:pPr>
            <a:r>
              <a:t>Apply the same protection to AI outputs that applies to their content.</a:t>
            </a:r>
          </a:p>
        </p:txBody>
      </p:sp>
      <p:sp>
        <p:nvSpPr>
          <p:cNvPr id="6" name="">
            <a:extLst xmlns:a="http://schemas.openxmlformats.org/drawingml/2006/main">
              <a:ext uri="{FF2B5EF4-FFF2-40B4-BE49-F238E27FC236}">
                <a16:creationId xmlns:a16="http://schemas.microsoft.com/office/drawing/2014/main" id="{DBF9B1C0-8A1E-4DB0-82F2-6444D52091E4}"/>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643634F4-9848-4F6E-BB22-49D4892BDE59}"/>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The DWIHN approved tool catalog</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HIPAA and privacy boundaries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Data sensitivity affects tool choice</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What to do when a rule may have been broken</a:t>
            </a:r>
          </a:p>
        </p:txBody>
      </p:sp>
      <p:sp>
        <p:nvSpPr>
          <p:cNvPr id="8" name="">
            <a:extLst xmlns:a="http://schemas.openxmlformats.org/drawingml/2006/main">
              <a:ext uri="{FF2B5EF4-FFF2-40B4-BE49-F238E27FC236}">
                <a16:creationId xmlns:a16="http://schemas.microsoft.com/office/drawing/2014/main" id="{46CFDCA1-99F6-41F5-AA30-FAE7E47D239B}"/>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97912161-5290-414D-9992-7F44D9DEFD2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2</a:t>
            </a:r>
          </a:p>
        </p:txBody>
      </p:sp>
      <p:sp>
        <p:nvSpPr>
          <p:cNvPr id="10" name="">
            <a:extLst xmlns:a="http://schemas.openxmlformats.org/drawingml/2006/main">
              <a:ext uri="{FF2B5EF4-FFF2-40B4-BE49-F238E27FC236}">
                <a16:creationId xmlns:a16="http://schemas.microsoft.com/office/drawing/2014/main" id="{706BFCEF-A359-4419-A654-187A50E412E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14</a:t>
            </a:r>
          </a:p>
        </p:txBody>
      </p:sp>
    </p:spTree>
    <p:extLst>
      <p:ext uri="{BB962C8B-B14F-4D97-AF65-F5344CB8AC3E}">
        <p14:creationId xmlns:p14="http://schemas.microsoft.com/office/powerpoint/2010/main" val="21395748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AE98955-D1EA-4C07-BE32-5EBC7EC04FB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C060B8AD-E15F-4FF2-8592-B7DFC3398D5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a:t>
            </a:r>
          </a:p>
        </p:txBody>
      </p:sp>
      <p:sp>
        <p:nvSpPr>
          <p:cNvPr id="3" name="">
            <a:extLst xmlns:a="http://schemas.openxmlformats.org/drawingml/2006/main">
              <a:ext uri="{FF2B5EF4-FFF2-40B4-BE49-F238E27FC236}">
                <a16:creationId xmlns:a16="http://schemas.microsoft.com/office/drawing/2014/main" id="{DE67500F-413C-42FC-BFFF-8C5AA762502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2FCFA32-9CCB-459A-84F5-EA810BBADD5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approved tool catalog should tell employees which tools and features may be used, which organizational account is required, who may use them, which tasks are allowed, and what information is prohibited. Approval applies to a defined workflow, not automatically to every feature carrying the same product name.</a:t>
            </a:r>
          </a:p>
        </p:txBody>
      </p:sp>
      <p:sp>
        <p:nvSpPr>
          <p:cNvPr id="5" name="">
            <a:extLst xmlns:a="http://schemas.openxmlformats.org/drawingml/2006/main">
              <a:ext uri="{FF2B5EF4-FFF2-40B4-BE49-F238E27FC236}">
                <a16:creationId xmlns:a16="http://schemas.microsoft.com/office/drawing/2014/main" id="{E5C5B8B0-6AA6-4AAB-B639-FE854030290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21E45D5-78DB-4898-A133-A02E691D78E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Confirm the exact tool, feature, account, role, data, and task.</a:t>
            </a:r>
          </a:p>
          <a:p xmlns:a="http://schemas.openxmlformats.org/drawingml/2006/main">
            <a:pPr marL="254000" indent="-127000">
              <a:spcAft>
                <a:spcPts val="600"/>
              </a:spcAft>
              <a:buChar char="•"/>
              <a:defRPr sz="1650">
                <a:solidFill>
                  <a:srgbClr val="1D2833"/>
                </a:solidFill>
                <a:latin typeface="Arial"/>
                <a:ea typeface="Arial"/>
                <a:cs typeface="Arial"/>
              </a:defRPr>
            </a:pPr>
            <a:r>
              <a:t>Product-name approval does not approve every configuration or feature.</a:t>
            </a:r>
          </a:p>
          <a:p xmlns:a="http://schemas.openxmlformats.org/drawingml/2006/main">
            <a:pPr marL="254000" indent="-127000">
              <a:spcAft>
                <a:spcPts val="600"/>
              </a:spcAft>
              <a:buChar char="•"/>
              <a:defRPr sz="1650">
                <a:solidFill>
                  <a:srgbClr val="1D2833"/>
                </a:solidFill>
                <a:latin typeface="Arial"/>
                <a:ea typeface="Arial"/>
                <a:cs typeface="Arial"/>
              </a:defRPr>
            </a:pPr>
            <a:r>
              <a:t>The current DWIHN catalog is the controlling course reference.</a:t>
            </a:r>
          </a:p>
        </p:txBody>
      </p:sp>
      <p:sp>
        <p:nvSpPr>
          <p:cNvPr id="7" name="">
            <a:extLst xmlns:a="http://schemas.openxmlformats.org/drawingml/2006/main">
              <a:ext uri="{FF2B5EF4-FFF2-40B4-BE49-F238E27FC236}">
                <a16:creationId xmlns:a16="http://schemas.microsoft.com/office/drawing/2014/main" id="{ACB3C8F5-CE5D-4781-A2F0-AC10E2C1A82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622687D-7D48-404C-AF6D-FB8098DFA71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is allowed to use an organizational writing assistant for a public training announcement. That approval does not automatically permit the employee to enter a member letter or call transcript into the same tool.</a:t>
            </a:r>
          </a:p>
        </p:txBody>
      </p:sp>
      <p:sp>
        <p:nvSpPr>
          <p:cNvPr id="9" name="">
            <a:extLst xmlns:a="http://schemas.openxmlformats.org/drawingml/2006/main">
              <a:ext uri="{FF2B5EF4-FFF2-40B4-BE49-F238E27FC236}">
                <a16:creationId xmlns:a16="http://schemas.microsoft.com/office/drawing/2014/main" id="{E32606BD-F5C7-4983-8685-BFBA50C6D07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C5E7D38-CC67-47E0-BA71-A64B19AA5D7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Selecting generative AI tools, Lumenore features, Genesys functions, Teams capabilities, export options, and any new AI-supported workflow.</a:t>
            </a:r>
          </a:p>
        </p:txBody>
      </p:sp>
      <p:sp>
        <p:nvSpPr>
          <p:cNvPr id="11" name="">
            <a:extLst xmlns:a="http://schemas.openxmlformats.org/drawingml/2006/main">
              <a:ext uri="{FF2B5EF4-FFF2-40B4-BE49-F238E27FC236}">
                <a16:creationId xmlns:a16="http://schemas.microsoft.com/office/drawing/2014/main" id="{94577B5A-9832-4F20-B33B-A26237A4D69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2806D871-2EE1-43B3-BF35-0D720A94EEA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15</a:t>
            </a:r>
          </a:p>
        </p:txBody>
      </p:sp>
    </p:spTree>
    <p:extLst>
      <p:ext uri="{BB962C8B-B14F-4D97-AF65-F5344CB8AC3E}">
        <p14:creationId xmlns:p14="http://schemas.microsoft.com/office/powerpoint/2010/main" val="16448000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B75F5B-E327-48C4-9652-8007C572B12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C4844812-27AD-44D3-9325-30E9B1CB288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 process and practice</a:t>
            </a:r>
          </a:p>
        </p:txBody>
      </p:sp>
      <p:sp>
        <p:nvSpPr>
          <p:cNvPr id="3" name="">
            <a:extLst xmlns:a="http://schemas.openxmlformats.org/drawingml/2006/main">
              <a:ext uri="{FF2B5EF4-FFF2-40B4-BE49-F238E27FC236}">
                <a16:creationId xmlns:a16="http://schemas.microsoft.com/office/drawing/2014/main" id="{77803CE8-230D-4BFD-98D0-6D2087D40EA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92B9F31-A3FC-40FD-B5ED-BF0B1B7A512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Identify the task and intended result.</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Locate the exact tool and feature in the catalog.</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Confirm the required organizational account and learner role.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Check permitted data and output destinations.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Proceed only when every condition matches; otherwise use the help route.</a:t>
            </a:r>
          </a:p>
        </p:txBody>
      </p:sp>
      <p:sp>
        <p:nvSpPr>
          <p:cNvPr id="5" name="">
            <a:extLst xmlns:a="http://schemas.openxmlformats.org/drawingml/2006/main">
              <a:ext uri="{FF2B5EF4-FFF2-40B4-BE49-F238E27FC236}">
                <a16:creationId xmlns:a16="http://schemas.microsoft.com/office/drawing/2014/main" id="{CD318D9B-3B80-4A73-AF43-904A03DD266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4A34DED-C626-4AE9-B15B-1B818CB619C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catalog can be represented as a permission matrix with fields for tool, feature, permitted roles, allowed data classes, approved tasks, output destination, and support owner.</a:t>
            </a:r>
          </a:p>
        </p:txBody>
      </p:sp>
      <p:sp>
        <p:nvSpPr>
          <p:cNvPr id="7" name="">
            <a:extLst xmlns:a="http://schemas.openxmlformats.org/drawingml/2006/main">
              <a:ext uri="{FF2B5EF4-FFF2-40B4-BE49-F238E27FC236}">
                <a16:creationId xmlns:a16="http://schemas.microsoft.com/office/drawing/2014/main" id="{294D9D96-0360-410A-A589-23ED8B3B0D4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CD84E0C-862B-4C53-85E8-66F1AEA2C487}"/>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Assuming a familiar product name means the whole product is approved. - Using a personal account for an organizational task. - Relying on an old screenshot or memory instead of the current catalog.</a:t>
            </a:r>
          </a:p>
        </p:txBody>
      </p:sp>
      <p:sp>
        <p:nvSpPr>
          <p:cNvPr id="9" name="">
            <a:extLst xmlns:a="http://schemas.openxmlformats.org/drawingml/2006/main">
              <a:ext uri="{FF2B5EF4-FFF2-40B4-BE49-F238E27FC236}">
                <a16:creationId xmlns:a16="http://schemas.microsoft.com/office/drawing/2014/main" id="{352F2D7D-6D4D-48ED-8C9A-4703C386C8C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BDF374B4-9CE1-47C7-A429-051FC5D16D9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16</a:t>
            </a:r>
          </a:p>
        </p:txBody>
      </p:sp>
    </p:spTree>
    <p:extLst>
      <p:ext uri="{BB962C8B-B14F-4D97-AF65-F5344CB8AC3E}">
        <p14:creationId xmlns:p14="http://schemas.microsoft.com/office/powerpoint/2010/main" val="18057015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541B19-6D8E-4AE8-B44E-497FDC70823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9588D33A-DCAF-4048-82D4-5E8DFB21CAD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a:t>
            </a:r>
          </a:p>
        </p:txBody>
      </p:sp>
      <p:sp>
        <p:nvSpPr>
          <p:cNvPr id="3" name="">
            <a:extLst xmlns:a="http://schemas.openxmlformats.org/drawingml/2006/main">
              <a:ext uri="{FF2B5EF4-FFF2-40B4-BE49-F238E27FC236}">
                <a16:creationId xmlns:a16="http://schemas.microsoft.com/office/drawing/2014/main" id="{21F28D5D-3995-44ED-8699-3D431F31F1D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67D91FC-B9C8-464F-A12C-2C7929E99EF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entering information, the employee must check whether the tool, account, configuration, data type, and task are specifically permitted. The employee should use only the minimum information necessary for the authorized purpose and follow DWIHN's confirmed privacy guidance.</a:t>
            </a:r>
          </a:p>
        </p:txBody>
      </p:sp>
      <p:sp>
        <p:nvSpPr>
          <p:cNvPr id="5" name="">
            <a:extLst xmlns:a="http://schemas.openxmlformats.org/drawingml/2006/main">
              <a:ext uri="{FF2B5EF4-FFF2-40B4-BE49-F238E27FC236}">
                <a16:creationId xmlns:a16="http://schemas.microsoft.com/office/drawing/2014/main" id="{9BB7171F-D8ED-42D4-B7E1-061F6325C57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1FDC151-6B48-4FDA-A778-B17F39180C4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Tool approval alone does not authorize every kind of health information.</a:t>
            </a:r>
          </a:p>
          <a:p xmlns:a="http://schemas.openxmlformats.org/drawingml/2006/main">
            <a:pPr marL="254000" indent="-127000">
              <a:spcAft>
                <a:spcPts val="600"/>
              </a:spcAft>
              <a:buChar char="•"/>
              <a:defRPr sz="1650">
                <a:solidFill>
                  <a:srgbClr val="1D2833"/>
                </a:solidFill>
                <a:latin typeface="Arial"/>
                <a:ea typeface="Arial"/>
                <a:cs typeface="Arial"/>
              </a:defRPr>
            </a:pPr>
            <a:r>
              <a:t>Use the minimum information required for the approved purpose.</a:t>
            </a:r>
          </a:p>
          <a:p xmlns:a="http://schemas.openxmlformats.org/drawingml/2006/main">
            <a:pPr marL="254000" indent="-127000">
              <a:spcAft>
                <a:spcPts val="600"/>
              </a:spcAft>
              <a:buChar char="•"/>
              <a:defRPr sz="1650">
                <a:solidFill>
                  <a:srgbClr val="1D2833"/>
                </a:solidFill>
                <a:latin typeface="Arial"/>
                <a:ea typeface="Arial"/>
                <a:cs typeface="Arial"/>
              </a:defRPr>
            </a:pPr>
            <a:r>
              <a:t>Inputs, outputs, exports, recordings, and sharing all require attention.</a:t>
            </a:r>
          </a:p>
        </p:txBody>
      </p:sp>
      <p:sp>
        <p:nvSpPr>
          <p:cNvPr id="7" name="">
            <a:extLst xmlns:a="http://schemas.openxmlformats.org/drawingml/2006/main">
              <a:ext uri="{FF2B5EF4-FFF2-40B4-BE49-F238E27FC236}">
                <a16:creationId xmlns:a16="http://schemas.microsoft.com/office/drawing/2014/main" id="{D9B7BBF2-1B0A-4B6B-B734-DEE50CDAE06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12ED935-DC78-4F38-A6E8-F3A6AD26328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staff member wants help improving a fictional service letter. The safe training exercise uses invented names and facts. A real letter would require the exact approved production workflow and privacy review.</a:t>
            </a:r>
          </a:p>
        </p:txBody>
      </p:sp>
      <p:sp>
        <p:nvSpPr>
          <p:cNvPr id="9" name="">
            <a:extLst xmlns:a="http://schemas.openxmlformats.org/drawingml/2006/main">
              <a:ext uri="{FF2B5EF4-FFF2-40B4-BE49-F238E27FC236}">
                <a16:creationId xmlns:a16="http://schemas.microsoft.com/office/drawing/2014/main" id="{C859E553-6B57-4BA0-A4E4-7DADB0C2ECB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79C74BF-7E1A-4F3E-8CC2-D84AC2A9FFD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Member communication, case-related summaries, call transcripts, meeting recordings, analytics, exports, and any workflow involving health or identifying information.</a:t>
            </a:r>
          </a:p>
        </p:txBody>
      </p:sp>
      <p:sp>
        <p:nvSpPr>
          <p:cNvPr id="11" name="">
            <a:extLst xmlns:a="http://schemas.openxmlformats.org/drawingml/2006/main">
              <a:ext uri="{FF2B5EF4-FFF2-40B4-BE49-F238E27FC236}">
                <a16:creationId xmlns:a16="http://schemas.microsoft.com/office/drawing/2014/main" id="{2C024CBA-6915-4130-B13A-02E6C40D44F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214493B6-67A9-4FA3-904D-095A87A0490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17</a:t>
            </a:r>
          </a:p>
        </p:txBody>
      </p:sp>
    </p:spTree>
    <p:extLst>
      <p:ext uri="{BB962C8B-B14F-4D97-AF65-F5344CB8AC3E}">
        <p14:creationId xmlns:p14="http://schemas.microsoft.com/office/powerpoint/2010/main" val="7042754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E34799-8033-4BCF-9241-B80A649FEAB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BAA5A130-3A3A-44A5-8956-B06A6461394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 process and practice</a:t>
            </a:r>
          </a:p>
        </p:txBody>
      </p:sp>
      <p:sp>
        <p:nvSpPr>
          <p:cNvPr id="3" name="">
            <a:extLst xmlns:a="http://schemas.openxmlformats.org/drawingml/2006/main">
              <a:ext uri="{FF2B5EF4-FFF2-40B4-BE49-F238E27FC236}">
                <a16:creationId xmlns:a16="http://schemas.microsoft.com/office/drawing/2014/main" id="{089751B9-ADD7-420A-AFEC-8DA6FB0D72E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56FAC73-3417-4B76-BE42-E5B916F7033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Identify the information involved.</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Check its classification and whether it may enter the selected tool.</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Confirm the account, access, sharing, and retention configuration.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Reduce the input to what the task requires.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Review and handle the output under the same applicable protections.</a:t>
            </a:r>
          </a:p>
        </p:txBody>
      </p:sp>
      <p:sp>
        <p:nvSpPr>
          <p:cNvPr id="5" name="">
            <a:extLst xmlns:a="http://schemas.openxmlformats.org/drawingml/2006/main">
              <a:ext uri="{FF2B5EF4-FFF2-40B4-BE49-F238E27FC236}">
                <a16:creationId xmlns:a16="http://schemas.microsoft.com/office/drawing/2014/main" id="{D92CA996-D2ED-487E-B0B5-77756CD301D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8B6E2C7-0897-48F9-BAAD-B62F9FBF9B2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approved application may use access controls, encryption, audit records, retention settings, and configured data boundaries. These controls support privacy, but employees must still follow the authorized workflow.</a:t>
            </a:r>
          </a:p>
        </p:txBody>
      </p:sp>
      <p:sp>
        <p:nvSpPr>
          <p:cNvPr id="7" name="">
            <a:extLst xmlns:a="http://schemas.openxmlformats.org/drawingml/2006/main">
              <a:ext uri="{FF2B5EF4-FFF2-40B4-BE49-F238E27FC236}">
                <a16:creationId xmlns:a16="http://schemas.microsoft.com/office/drawing/2014/main" id="{94C522A0-370C-4AA9-B83A-5D0C7296EE9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7F8B8F6-0419-408E-BE07-791268DD608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an approved tool as blanket permission. - Assuming removal of a name always makes information safe. - Protecting the input but sharing the generated output too broadly.</a:t>
            </a:r>
          </a:p>
        </p:txBody>
      </p:sp>
      <p:sp>
        <p:nvSpPr>
          <p:cNvPr id="9" name="">
            <a:extLst xmlns:a="http://schemas.openxmlformats.org/drawingml/2006/main">
              <a:ext uri="{FF2B5EF4-FFF2-40B4-BE49-F238E27FC236}">
                <a16:creationId xmlns:a16="http://schemas.microsoft.com/office/drawing/2014/main" id="{037312F2-2B2D-4205-9520-EC0C245F9C4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C5BB4A52-323E-4831-B657-8F9E10C06AB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18</a:t>
            </a:r>
          </a:p>
        </p:txBody>
      </p:sp>
    </p:spTree>
    <p:extLst>
      <p:ext uri="{BB962C8B-B14F-4D97-AF65-F5344CB8AC3E}">
        <p14:creationId xmlns:p14="http://schemas.microsoft.com/office/powerpoint/2010/main" val="1131482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182F91-749C-474E-ADFD-E52DA74B3A5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86772D4E-F755-43D1-883F-09ADE6EB5E7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a:t>
            </a:r>
          </a:p>
        </p:txBody>
      </p:sp>
      <p:sp>
        <p:nvSpPr>
          <p:cNvPr id="3" name="">
            <a:extLst xmlns:a="http://schemas.openxmlformats.org/drawingml/2006/main">
              <a:ext uri="{FF2B5EF4-FFF2-40B4-BE49-F238E27FC236}">
                <a16:creationId xmlns:a16="http://schemas.microsoft.com/office/drawing/2014/main" id="{284054EB-7E8A-44AC-8CB9-54BACD8BA53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7E66DB9-CF7B-4C2B-8D7F-A2343255BEB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Public, internal, confidential, and restricted information require different handling. A tool suitable for public content may not be suitable for internal reports or identifiable health information. Module 3 provides the detailed classification practice.</a:t>
            </a:r>
          </a:p>
        </p:txBody>
      </p:sp>
      <p:sp>
        <p:nvSpPr>
          <p:cNvPr id="5" name="">
            <a:extLst xmlns:a="http://schemas.openxmlformats.org/drawingml/2006/main">
              <a:ext uri="{FF2B5EF4-FFF2-40B4-BE49-F238E27FC236}">
                <a16:creationId xmlns:a16="http://schemas.microsoft.com/office/drawing/2014/main" id="{54A5D9DC-0F36-4226-A791-AA33DC116C9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EF853FE-19CD-4B46-B933-86ECA248627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Classify before selecting the tool or feature.</a:t>
            </a:r>
          </a:p>
          <a:p xmlns:a="http://schemas.openxmlformats.org/drawingml/2006/main">
            <a:pPr marL="254000" indent="-127000">
              <a:spcAft>
                <a:spcPts val="600"/>
              </a:spcAft>
              <a:buChar char="•"/>
              <a:defRPr sz="1650">
                <a:solidFill>
                  <a:srgbClr val="1D2833"/>
                </a:solidFill>
                <a:latin typeface="Arial"/>
                <a:ea typeface="Arial"/>
                <a:cs typeface="Arial"/>
              </a:defRPr>
            </a:pPr>
            <a:r>
              <a:t>Combined details may be more sensitive than each detail alone.</a:t>
            </a:r>
          </a:p>
          <a:p xmlns:a="http://schemas.openxmlformats.org/drawingml/2006/main">
            <a:pPr marL="254000" indent="-127000">
              <a:spcAft>
                <a:spcPts val="600"/>
              </a:spcAft>
              <a:buChar char="•"/>
              <a:defRPr sz="1650">
                <a:solidFill>
                  <a:srgbClr val="1D2833"/>
                </a:solidFill>
                <a:latin typeface="Arial"/>
                <a:ea typeface="Arial"/>
                <a:cs typeface="Arial"/>
              </a:defRPr>
            </a:pPr>
            <a:r>
              <a:t>Use DWIHN's exact tier definitions and handling rules.</a:t>
            </a:r>
          </a:p>
        </p:txBody>
      </p:sp>
      <p:sp>
        <p:nvSpPr>
          <p:cNvPr id="7" name="">
            <a:extLst xmlns:a="http://schemas.openxmlformats.org/drawingml/2006/main">
              <a:ext uri="{FF2B5EF4-FFF2-40B4-BE49-F238E27FC236}">
                <a16:creationId xmlns:a16="http://schemas.microsoft.com/office/drawing/2014/main" id="{10200843-6C7B-45FF-835D-AFA310C5D08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94AF5C0-4EAC-4A9E-B196-EABE7409D19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published service description may be appropriate for an approved public-writing task. A screenshot containing a case number and service note requires a different classification and permission decision.</a:t>
            </a:r>
          </a:p>
        </p:txBody>
      </p:sp>
      <p:sp>
        <p:nvSpPr>
          <p:cNvPr id="9" name="">
            <a:extLst xmlns:a="http://schemas.openxmlformats.org/drawingml/2006/main">
              <a:ext uri="{FF2B5EF4-FFF2-40B4-BE49-F238E27FC236}">
                <a16:creationId xmlns:a16="http://schemas.microsoft.com/office/drawing/2014/main" id="{240C89FD-F383-4B16-9126-6ED938C9982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8092522-6952-47E0-91AF-861166B9F1C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 documents, dashboards, screenshots, transcripts, exports, presentations, recordings, and prompt inputs.</a:t>
            </a:r>
          </a:p>
        </p:txBody>
      </p:sp>
      <p:sp>
        <p:nvSpPr>
          <p:cNvPr id="11" name="">
            <a:extLst xmlns:a="http://schemas.openxmlformats.org/drawingml/2006/main">
              <a:ext uri="{FF2B5EF4-FFF2-40B4-BE49-F238E27FC236}">
                <a16:creationId xmlns:a16="http://schemas.microsoft.com/office/drawing/2014/main" id="{C833298F-6D39-4846-A345-BD86C057223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FA3CB98B-7A1F-473B-B2A3-8124DF80AE9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19</a:t>
            </a:r>
          </a:p>
        </p:txBody>
      </p:sp>
    </p:spTree>
    <p:extLst>
      <p:ext uri="{BB962C8B-B14F-4D97-AF65-F5344CB8AC3E}">
        <p14:creationId xmlns:p14="http://schemas.microsoft.com/office/powerpoint/2010/main" val="11375508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341337-D2B4-4978-B4F4-BB665C0F42C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124B497D-5FE9-42C4-88A0-CF4DAB07FF1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 process and practice</a:t>
            </a:r>
          </a:p>
        </p:txBody>
      </p:sp>
      <p:sp>
        <p:nvSpPr>
          <p:cNvPr id="3" name="">
            <a:extLst xmlns:a="http://schemas.openxmlformats.org/drawingml/2006/main">
              <a:ext uri="{FF2B5EF4-FFF2-40B4-BE49-F238E27FC236}">
                <a16:creationId xmlns:a16="http://schemas.microsoft.com/office/drawing/2014/main" id="{24DD8E77-74D4-4803-93D5-6AB38339268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D96442A-B712-4034-8D12-D3C963D396C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Inspect the complete information, including hidden or combined details.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Assign the applicable DWIHN tier.</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Read the handling rule for that tier.</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Match the rule with an approved tool and destination.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Pause when the classification or permission is uncertain.</a:t>
            </a:r>
          </a:p>
        </p:txBody>
      </p:sp>
      <p:sp>
        <p:nvSpPr>
          <p:cNvPr id="5" name="">
            <a:extLst xmlns:a="http://schemas.openxmlformats.org/drawingml/2006/main">
              <a:ext uri="{FF2B5EF4-FFF2-40B4-BE49-F238E27FC236}">
                <a16:creationId xmlns:a16="http://schemas.microsoft.com/office/drawing/2014/main" id="{2658B258-DE7C-49C5-A6D2-BD23A1CE028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A43FE86-4FB0-4535-ABF4-1389F4B69B4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document-management system may store a classification label in file metadata and use it to limit sharing, downloading, or access. The label is useful only when the content was classified correctly.</a:t>
            </a:r>
          </a:p>
        </p:txBody>
      </p:sp>
      <p:sp>
        <p:nvSpPr>
          <p:cNvPr id="7" name="">
            <a:extLst xmlns:a="http://schemas.openxmlformats.org/drawingml/2006/main">
              <a:ext uri="{FF2B5EF4-FFF2-40B4-BE49-F238E27FC236}">
                <a16:creationId xmlns:a16="http://schemas.microsoft.com/office/drawing/2014/main" id="{D457B872-3469-43F4-B552-57594690ED7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C9A1FAC-9B08-4DF6-815C-F1DC0D0712B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Classifying only by filename or storage location. - Looking only for names and ignoring other identifiers. - Assuming internal information may be entered into any internal tool.</a:t>
            </a:r>
          </a:p>
        </p:txBody>
      </p:sp>
      <p:sp>
        <p:nvSpPr>
          <p:cNvPr id="9" name="">
            <a:extLst xmlns:a="http://schemas.openxmlformats.org/drawingml/2006/main">
              <a:ext uri="{FF2B5EF4-FFF2-40B4-BE49-F238E27FC236}">
                <a16:creationId xmlns:a16="http://schemas.microsoft.com/office/drawing/2014/main" id="{EC478C0C-0CEF-4D40-A296-95B7E24E07C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15A97443-F67C-4F1B-BD90-1B024236755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20</a:t>
            </a:r>
          </a:p>
        </p:txBody>
      </p:sp>
    </p:spTree>
    <p:extLst>
      <p:ext uri="{BB962C8B-B14F-4D97-AF65-F5344CB8AC3E}">
        <p14:creationId xmlns:p14="http://schemas.microsoft.com/office/powerpoint/2010/main" val="10722129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8D273D-0DD6-4EAB-88AE-B674E66A7B6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4586630A-6A24-4372-85D6-19AB2DBA9D8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a:t>
            </a:r>
          </a:p>
        </p:txBody>
      </p:sp>
      <p:sp>
        <p:nvSpPr>
          <p:cNvPr id="3" name="">
            <a:extLst xmlns:a="http://schemas.openxmlformats.org/drawingml/2006/main">
              <a:ext uri="{FF2B5EF4-FFF2-40B4-BE49-F238E27FC236}">
                <a16:creationId xmlns:a16="http://schemas.microsoft.com/office/drawing/2014/main" id="{3BE04F96-8449-410B-94BE-0C90202C41C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108C19C-A631-4EA3-996C-5BC1EE3C30E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Employees should stop unnecessary activity, avoid independent cleanup, record known facts, and follow DWIHN's confirmed help or reporting process. Prompt reporting allows authorized teams to assess the issue and provide instructions.</a:t>
            </a:r>
          </a:p>
        </p:txBody>
      </p:sp>
      <p:sp>
        <p:nvSpPr>
          <p:cNvPr id="5" name="">
            <a:extLst xmlns:a="http://schemas.openxmlformats.org/drawingml/2006/main">
              <a:ext uri="{FF2B5EF4-FFF2-40B4-BE49-F238E27FC236}">
                <a16:creationId xmlns:a16="http://schemas.microsoft.com/office/drawing/2014/main" id="{C3007E30-A3EA-4019-9871-BBC1CBB764E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2AEB328-D6CB-4BA2-8489-A7E5B688CA9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Report uncertainty early; do not wait to prove that an incident occurred.</a:t>
            </a:r>
          </a:p>
          <a:p xmlns:a="http://schemas.openxmlformats.org/drawingml/2006/main">
            <a:pPr marL="254000" indent="-127000">
              <a:spcAft>
                <a:spcPts val="600"/>
              </a:spcAft>
              <a:buChar char="•"/>
              <a:defRPr sz="1650">
                <a:solidFill>
                  <a:srgbClr val="1D2833"/>
                </a:solidFill>
                <a:latin typeface="Arial"/>
                <a:ea typeface="Arial"/>
                <a:cs typeface="Arial"/>
              </a:defRPr>
            </a:pPr>
            <a:r>
              <a:t>Record known facts without guessing or assigning blame.</a:t>
            </a:r>
          </a:p>
          <a:p xmlns:a="http://schemas.openxmlformats.org/drawingml/2006/main">
            <a:pPr marL="254000" indent="-127000">
              <a:spcAft>
                <a:spcPts val="600"/>
              </a:spcAft>
              <a:buChar char="•"/>
              <a:defRPr sz="1650">
                <a:solidFill>
                  <a:srgbClr val="1D2833"/>
                </a:solidFill>
                <a:latin typeface="Arial"/>
                <a:ea typeface="Arial"/>
                <a:cs typeface="Arial"/>
              </a:defRPr>
            </a:pPr>
            <a:r>
              <a:t>Follow authorized instructions instead of deleting evidence independently.</a:t>
            </a:r>
          </a:p>
        </p:txBody>
      </p:sp>
      <p:sp>
        <p:nvSpPr>
          <p:cNvPr id="7" name="">
            <a:extLst xmlns:a="http://schemas.openxmlformats.org/drawingml/2006/main">
              <a:ext uri="{FF2B5EF4-FFF2-40B4-BE49-F238E27FC236}">
                <a16:creationId xmlns:a16="http://schemas.microsoft.com/office/drawing/2014/main" id="{3EC942F0-F193-4795-A1F3-903FA838D74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74F58AC-5CFE-46E1-8BAC-3F42A44773EC}"/>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After submitting a prompt, an employee realizes the wrong organizational account may have been used. The employee does not delete evidence or continue the task; they follow the confirmed DWIHN reporting route.</a:t>
            </a:r>
          </a:p>
        </p:txBody>
      </p:sp>
      <p:sp>
        <p:nvSpPr>
          <p:cNvPr id="9" name="">
            <a:extLst xmlns:a="http://schemas.openxmlformats.org/drawingml/2006/main">
              <a:ext uri="{FF2B5EF4-FFF2-40B4-BE49-F238E27FC236}">
                <a16:creationId xmlns:a16="http://schemas.microsoft.com/office/drawing/2014/main" id="{56131644-B292-40E7-A70C-676B3B7B49A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52377227-436F-4640-B3CE-89ED47E7478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Wrong-account use, unauthorized uploads, inappropriate exports, accidental sharing, misleading outputs, and any uncertain AI workflow.</a:t>
            </a:r>
          </a:p>
        </p:txBody>
      </p:sp>
      <p:sp>
        <p:nvSpPr>
          <p:cNvPr id="11" name="">
            <a:extLst xmlns:a="http://schemas.openxmlformats.org/drawingml/2006/main">
              <a:ext uri="{FF2B5EF4-FFF2-40B4-BE49-F238E27FC236}">
                <a16:creationId xmlns:a16="http://schemas.microsoft.com/office/drawing/2014/main" id="{44A2DEB4-468F-4B6B-B16B-A91FB1599D1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48B5C5CE-3E53-459B-8930-4C10100CAD6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21</a:t>
            </a:r>
          </a:p>
        </p:txBody>
      </p:sp>
    </p:spTree>
    <p:extLst>
      <p:ext uri="{BB962C8B-B14F-4D97-AF65-F5344CB8AC3E}">
        <p14:creationId xmlns:p14="http://schemas.microsoft.com/office/powerpoint/2010/main" val="1369394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392566-5D1B-43B3-BF67-F68956F3F27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A5B19F3A-7B26-4C48-9EA9-A2A3EFA5F4C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13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 process and practice</a:t>
            </a:r>
          </a:p>
        </p:txBody>
      </p:sp>
      <p:sp>
        <p:nvSpPr>
          <p:cNvPr id="3" name="">
            <a:extLst xmlns:a="http://schemas.openxmlformats.org/drawingml/2006/main">
              <a:ext uri="{FF2B5EF4-FFF2-40B4-BE49-F238E27FC236}">
                <a16:creationId xmlns:a16="http://schemas.microsoft.com/office/drawing/2014/main" id="{20DE90B1-8924-4AFD-9000-9348494090D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E49F100-5437-4DD7-8653-A7FAC33EEBD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Recognize the possible rule violation.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Stop unnecessary additional activity.</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Take only the immediate protective action authorized by policy.</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Report through the confirmed DWIHN route.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Preserve facts and follow responder instructions.</a:t>
            </a:r>
          </a:p>
        </p:txBody>
      </p:sp>
      <p:sp>
        <p:nvSpPr>
          <p:cNvPr id="5" name="">
            <a:extLst xmlns:a="http://schemas.openxmlformats.org/drawingml/2006/main">
              <a:ext uri="{FF2B5EF4-FFF2-40B4-BE49-F238E27FC236}">
                <a16:creationId xmlns:a16="http://schemas.microsoft.com/office/drawing/2014/main" id="{CD9B2723-2640-48B7-93AF-EB7623C2074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F56C377-D687-428D-B6B7-926AC06C8B9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Useful technical facts may include the tool, feature, account, approximate time, information type, prompt or action performed, output destination, and any visible error message.</a:t>
            </a:r>
          </a:p>
        </p:txBody>
      </p:sp>
      <p:sp>
        <p:nvSpPr>
          <p:cNvPr id="7" name="">
            <a:extLst xmlns:a="http://schemas.openxmlformats.org/drawingml/2006/main">
              <a:ext uri="{FF2B5EF4-FFF2-40B4-BE49-F238E27FC236}">
                <a16:creationId xmlns:a16="http://schemas.microsoft.com/office/drawing/2014/main" id="{99507EFE-A657-4F93-9F97-A0BA43848FD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F098460-BFDF-48F4-B882-606CD45188C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Hiding an error or delaying the report. - Deleting a conversation or file without instruction. - Contacting affected people or investigating beyond the employee's role.</a:t>
            </a:r>
          </a:p>
        </p:txBody>
      </p:sp>
      <p:sp>
        <p:nvSpPr>
          <p:cNvPr id="9" name="">
            <a:extLst xmlns:a="http://schemas.openxmlformats.org/drawingml/2006/main">
              <a:ext uri="{FF2B5EF4-FFF2-40B4-BE49-F238E27FC236}">
                <a16:creationId xmlns:a16="http://schemas.microsoft.com/office/drawing/2014/main" id="{79DFA2FA-B871-4B8C-B4F5-B9CBD333E7E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EF761214-628F-4805-B691-EE7B9BDAF30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22</a:t>
            </a:r>
          </a:p>
        </p:txBody>
      </p:sp>
    </p:spTree>
    <p:extLst>
      <p:ext uri="{BB962C8B-B14F-4D97-AF65-F5344CB8AC3E}">
        <p14:creationId xmlns:p14="http://schemas.microsoft.com/office/powerpoint/2010/main" val="868111384"/>
      </p:ext>
    </p:extLst>
  </p:cSld>
</p:sld>
</file>

<file path=ppt/slides/slide23.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84F323-A6B4-4849-AED8-1FB1953BF343}"/>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E1C685CC-0E34-463A-809D-AF811111F7F8}"/>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Data Classification in Practice</a:t>
            </a:r>
          </a:p>
        </p:txBody>
      </p:sp>
      <p:sp>
        <p:nvSpPr>
          <p:cNvPr id="3" name="">
            <a:extLst xmlns:a="http://schemas.openxmlformats.org/drawingml/2006/main">
              <a:ext uri="{FF2B5EF4-FFF2-40B4-BE49-F238E27FC236}">
                <a16:creationId xmlns:a16="http://schemas.microsoft.com/office/drawing/2014/main" id="{A1220B78-7771-4568-8AB6-B2BC6000B349}"/>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recognize the sensitivity of information before they access, enter, store, export, or share it. It is important because correct tool use depends on understanding the content itself, including details hidden in screenshots, attachments, and free text.</a:t>
            </a:r>
          </a:p>
        </p:txBody>
      </p:sp>
      <p:sp>
        <p:nvSpPr>
          <p:cNvPr id="4" name="">
            <a:extLst xmlns:a="http://schemas.openxmlformats.org/drawingml/2006/main">
              <a:ext uri="{FF2B5EF4-FFF2-40B4-BE49-F238E27FC236}">
                <a16:creationId xmlns:a16="http://schemas.microsoft.com/office/drawing/2014/main" id="{77FBD176-EDEF-4E73-8B71-4BF7798621A9}"/>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2BE63FAE-316A-4536-919B-DCFA5355F305}"/>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Describe the purpose of information classification.</a:t>
            </a:r>
          </a:p>
          <a:p xmlns:a="http://schemas.openxmlformats.org/drawingml/2006/main">
            <a:pPr marL="254000" indent="-127000">
              <a:spcAft>
                <a:spcPts val="600"/>
              </a:spcAft>
              <a:buChar char="•"/>
              <a:defRPr sz="1500">
                <a:solidFill>
                  <a:srgbClr val="F1F6F8"/>
                </a:solidFill>
                <a:latin typeface="Arial"/>
                <a:ea typeface="Arial"/>
                <a:cs typeface="Arial"/>
              </a:defRPr>
            </a:pPr>
            <a:r>
              <a:t>Apply the confirmed DWIHN tiers to realistic examples.</a:t>
            </a:r>
          </a:p>
          <a:p xmlns:a="http://schemas.openxmlformats.org/drawingml/2006/main">
            <a:pPr marL="254000" indent="-127000">
              <a:spcAft>
                <a:spcPts val="600"/>
              </a:spcAft>
              <a:buChar char="•"/>
              <a:defRPr sz="1500">
                <a:solidFill>
                  <a:srgbClr val="F1F6F8"/>
                </a:solidFill>
                <a:latin typeface="Arial"/>
                <a:ea typeface="Arial"/>
                <a:cs typeface="Arial"/>
              </a:defRPr>
            </a:pPr>
            <a:r>
              <a:t>Recognize sensitive details hidden in screenshots, attachments, and free text.</a:t>
            </a:r>
          </a:p>
          <a:p xmlns:a="http://schemas.openxmlformats.org/drawingml/2006/main">
            <a:pPr marL="254000" indent="-127000">
              <a:spcAft>
                <a:spcPts val="600"/>
              </a:spcAft>
              <a:buChar char="•"/>
              <a:defRPr sz="1500">
                <a:solidFill>
                  <a:srgbClr val="F1F6F8"/>
                </a:solidFill>
                <a:latin typeface="Arial"/>
                <a:ea typeface="Arial"/>
                <a:cs typeface="Arial"/>
              </a:defRPr>
            </a:pPr>
            <a:r>
              <a:t>Choose an allowed action or escalate an uncertain case.</a:t>
            </a:r>
          </a:p>
        </p:txBody>
      </p:sp>
      <p:sp>
        <p:nvSpPr>
          <p:cNvPr id="6" name="">
            <a:extLst xmlns:a="http://schemas.openxmlformats.org/drawingml/2006/main">
              <a:ext uri="{FF2B5EF4-FFF2-40B4-BE49-F238E27FC236}">
                <a16:creationId xmlns:a16="http://schemas.microsoft.com/office/drawing/2014/main" id="{4A840B51-1C25-4E65-8A5D-DB5E8393BB0A}"/>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29BFD4CE-4C51-4445-B4CC-8128E971180B}"/>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4F7F52"/>
                </a:solidFill>
              </a:rPr>
              <a:t>1. </a:t>
            </a:r>
            <a:r>
              <a:t>Public, internal, confidential, and restricted information</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2. </a:t>
            </a:r>
            <a:r>
              <a:t>The wallet analogy and memory techniques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3. </a:t>
            </a:r>
            <a:r>
              <a:t>Classification decision scenarios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4. </a:t>
            </a:r>
            <a:r>
              <a:t>Using the quick-reference desk card</a:t>
            </a:r>
          </a:p>
        </p:txBody>
      </p:sp>
      <p:sp>
        <p:nvSpPr>
          <p:cNvPr id="8" name="">
            <a:extLst xmlns:a="http://schemas.openxmlformats.org/drawingml/2006/main">
              <a:ext uri="{FF2B5EF4-FFF2-40B4-BE49-F238E27FC236}">
                <a16:creationId xmlns:a16="http://schemas.microsoft.com/office/drawing/2014/main" id="{5D081499-08AA-41B2-BAA2-D8B5BED885EC}"/>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2C66E8D6-421C-429D-A1EF-59601E7E7B1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3</a:t>
            </a:r>
          </a:p>
        </p:txBody>
      </p:sp>
      <p:sp>
        <p:nvSpPr>
          <p:cNvPr id="10" name="">
            <a:extLst xmlns:a="http://schemas.openxmlformats.org/drawingml/2006/main">
              <a:ext uri="{FF2B5EF4-FFF2-40B4-BE49-F238E27FC236}">
                <a16:creationId xmlns:a16="http://schemas.microsoft.com/office/drawing/2014/main" id="{53E94593-D95D-40AC-95C2-3FAF7570530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23</a:t>
            </a:r>
          </a:p>
        </p:txBody>
      </p:sp>
    </p:spTree>
    <p:extLst>
      <p:ext uri="{BB962C8B-B14F-4D97-AF65-F5344CB8AC3E}">
        <p14:creationId xmlns:p14="http://schemas.microsoft.com/office/powerpoint/2010/main" val="3199104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4F78B8-4947-45B5-A385-0FF8313F141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815D82BE-B579-400E-993C-CE0BF4A26F3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a:t>
            </a:r>
          </a:p>
        </p:txBody>
      </p:sp>
      <p:sp>
        <p:nvSpPr>
          <p:cNvPr id="3" name="">
            <a:extLst xmlns:a="http://schemas.openxmlformats.org/drawingml/2006/main">
              <a:ext uri="{FF2B5EF4-FFF2-40B4-BE49-F238E27FC236}">
                <a16:creationId xmlns:a16="http://schemas.microsoft.com/office/drawing/2014/main" id="{755CE686-A1D1-418C-93C1-F4C0DB9F289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AE7D4A9-C781-43C7-9874-7CD4816AE78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Classification groups information according to its sensitivity and required protection. Public information is approved for external distribution. Internal information is intended for authorized workforce use. Confidential and restricted information require increasingly limited access and stronger handling under DWIHN's policy.</a:t>
            </a:r>
          </a:p>
        </p:txBody>
      </p:sp>
      <p:sp>
        <p:nvSpPr>
          <p:cNvPr id="5" name="">
            <a:extLst xmlns:a="http://schemas.openxmlformats.org/drawingml/2006/main">
              <a:ext uri="{FF2B5EF4-FFF2-40B4-BE49-F238E27FC236}">
                <a16:creationId xmlns:a16="http://schemas.microsoft.com/office/drawing/2014/main" id="{897F0D00-4AC8-4716-A04E-53D5760F85F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F4E8459-4FBB-4EBB-A227-8059B8B18EA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content determines the classification, not only its filename.</a:t>
            </a:r>
          </a:p>
          <a:p xmlns:a="http://schemas.openxmlformats.org/drawingml/2006/main">
            <a:pPr marL="254000" indent="-127000">
              <a:spcAft>
                <a:spcPts val="600"/>
              </a:spcAft>
              <a:buChar char="•"/>
              <a:defRPr sz="1650">
                <a:solidFill>
                  <a:srgbClr val="1D2833"/>
                </a:solidFill>
                <a:latin typeface="Arial"/>
                <a:ea typeface="Arial"/>
                <a:cs typeface="Arial"/>
              </a:defRPr>
            </a:pPr>
            <a:r>
              <a:t>Higher sensitivity requires stronger access, storage, sharing, and tool controls.</a:t>
            </a:r>
          </a:p>
          <a:p xmlns:a="http://schemas.openxmlformats.org/drawingml/2006/main">
            <a:pPr marL="254000" indent="-127000">
              <a:spcAft>
                <a:spcPts val="600"/>
              </a:spcAft>
              <a:buChar char="•"/>
              <a:defRPr sz="1650">
                <a:solidFill>
                  <a:srgbClr val="1D2833"/>
                </a:solidFill>
                <a:latin typeface="Arial"/>
                <a:ea typeface="Arial"/>
                <a:cs typeface="Arial"/>
              </a:defRPr>
            </a:pPr>
            <a:r>
              <a:t>The course must use DWIHN's approved definitions, not generic assumptions.</a:t>
            </a:r>
          </a:p>
        </p:txBody>
      </p:sp>
      <p:sp>
        <p:nvSpPr>
          <p:cNvPr id="7" name="">
            <a:extLst xmlns:a="http://schemas.openxmlformats.org/drawingml/2006/main">
              <a:ext uri="{FF2B5EF4-FFF2-40B4-BE49-F238E27FC236}">
                <a16:creationId xmlns:a16="http://schemas.microsoft.com/office/drawing/2014/main" id="{9BE757AA-EB2C-4182-AEED-4050A53F35C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5D224A7-BDAD-4378-8174-1D1D477F5A4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service description already published on DWIHN's website may be public. A draft operational report may be internal or confidential. An identifiable call transcript may require the strongest applicable controls.</a:t>
            </a:r>
          </a:p>
        </p:txBody>
      </p:sp>
      <p:sp>
        <p:nvSpPr>
          <p:cNvPr id="9" name="">
            <a:extLst xmlns:a="http://schemas.openxmlformats.org/drawingml/2006/main">
              <a:ext uri="{FF2B5EF4-FFF2-40B4-BE49-F238E27FC236}">
                <a16:creationId xmlns:a16="http://schemas.microsoft.com/office/drawing/2014/main" id="{35F5B9F6-F29C-43FA-ACDA-55E38FDD66D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8834C5E-6B68-467A-96FB-BC151034D9D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Documents, emails, dashboards, case information, call records, screenshots, attachments, exports, training materials, and AI outputs.</a:t>
            </a:r>
          </a:p>
        </p:txBody>
      </p:sp>
      <p:sp>
        <p:nvSpPr>
          <p:cNvPr id="11" name="">
            <a:extLst xmlns:a="http://schemas.openxmlformats.org/drawingml/2006/main">
              <a:ext uri="{FF2B5EF4-FFF2-40B4-BE49-F238E27FC236}">
                <a16:creationId xmlns:a16="http://schemas.microsoft.com/office/drawing/2014/main" id="{9F7F4026-C6A7-4554-9534-2774E3E91AC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8176AA4F-B79E-4289-8954-353DBB83CE5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24</a:t>
            </a:r>
          </a:p>
        </p:txBody>
      </p:sp>
    </p:spTree>
    <p:extLst>
      <p:ext uri="{BB962C8B-B14F-4D97-AF65-F5344CB8AC3E}">
        <p14:creationId xmlns:p14="http://schemas.microsoft.com/office/powerpoint/2010/main" val="45819634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F0A6B0-A285-4E56-BD51-83C7BAD7959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7708F913-473C-4744-99BC-DDBD5FEB6E0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67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 process and practice</a:t>
            </a:r>
          </a:p>
        </p:txBody>
      </p:sp>
      <p:sp>
        <p:nvSpPr>
          <p:cNvPr id="3" name="">
            <a:extLst xmlns:a="http://schemas.openxmlformats.org/drawingml/2006/main">
              <a:ext uri="{FF2B5EF4-FFF2-40B4-BE49-F238E27FC236}">
                <a16:creationId xmlns:a16="http://schemas.microsoft.com/office/drawing/2014/main" id="{A61F89BF-0C00-488D-891F-497A8AA27D2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2FCD437-AB64-465A-BA6D-E01761517F8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Inspect the complete content and context.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Identify personal, health, operational, contractual, or security details.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Apply the highest relevant DWIHN classification.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Follow the access, storage, sharing, and AI-use rule for that tier.</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Reassess when content is combined or changed.</a:t>
            </a:r>
          </a:p>
        </p:txBody>
      </p:sp>
      <p:sp>
        <p:nvSpPr>
          <p:cNvPr id="5" name="">
            <a:extLst xmlns:a="http://schemas.openxmlformats.org/drawingml/2006/main">
              <a:ext uri="{FF2B5EF4-FFF2-40B4-BE49-F238E27FC236}">
                <a16:creationId xmlns:a16="http://schemas.microsoft.com/office/drawing/2014/main" id="{D30C931E-B830-4755-A70A-E821DFD17E0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570C2EA-FDE6-4173-A713-00CFD4464C8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file record may contain fields such as classification, owner, authorized roles, storage location, and retention requirement. Systems can enforce controls from these fields only when the classification is accurate.</a:t>
            </a:r>
          </a:p>
        </p:txBody>
      </p:sp>
      <p:sp>
        <p:nvSpPr>
          <p:cNvPr id="7" name="">
            <a:extLst xmlns:a="http://schemas.openxmlformats.org/drawingml/2006/main">
              <a:ext uri="{FF2B5EF4-FFF2-40B4-BE49-F238E27FC236}">
                <a16:creationId xmlns:a16="http://schemas.microsoft.com/office/drawing/2014/main" id="{D30924C4-23B8-4B3C-8147-3206B104B69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3A14EB5-0E2C-4108-B9E8-B184459FF4A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Believing all internal information has the same sensitivity. - Applying a lower label because a file is inconvenient to handle. - Forgetting that generated summaries may preserve source sensitivity.</a:t>
            </a:r>
          </a:p>
        </p:txBody>
      </p:sp>
      <p:sp>
        <p:nvSpPr>
          <p:cNvPr id="9" name="">
            <a:extLst xmlns:a="http://schemas.openxmlformats.org/drawingml/2006/main">
              <a:ext uri="{FF2B5EF4-FFF2-40B4-BE49-F238E27FC236}">
                <a16:creationId xmlns:a16="http://schemas.microsoft.com/office/drawing/2014/main" id="{A367FFEF-2751-47F1-8B59-6076531B73F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EF64999C-9B36-43E3-8EAC-39FC464F0D3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25</a:t>
            </a:r>
          </a:p>
        </p:txBody>
      </p:sp>
    </p:spTree>
    <p:extLst>
      <p:ext uri="{BB962C8B-B14F-4D97-AF65-F5344CB8AC3E}">
        <p14:creationId xmlns:p14="http://schemas.microsoft.com/office/powerpoint/2010/main" val="8320602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F1281B-621E-44B1-9665-83584553E56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F74E8146-6E2E-4293-9CAB-C52250E3F2C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a:t>
            </a:r>
          </a:p>
        </p:txBody>
      </p:sp>
      <p:sp>
        <p:nvSpPr>
          <p:cNvPr id="3" name="">
            <a:extLst xmlns:a="http://schemas.openxmlformats.org/drawingml/2006/main">
              <a:ext uri="{FF2B5EF4-FFF2-40B4-BE49-F238E27FC236}">
                <a16:creationId xmlns:a16="http://schemas.microsoft.com/office/drawing/2014/main" id="{A7082BDE-F56D-4F66-801D-8E35665E1EB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658C861-2DA4-40D3-8FF1-83FD3D2ED08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wallet analogy helps beginners remember that different information deserves different protection. A public brochure may be handed out freely. An employee badge belongs to one authorized person. A payment card requires additional safeguards. A highly sensitive record needs the strongest protection and controlled access.</a:t>
            </a:r>
          </a:p>
        </p:txBody>
      </p:sp>
      <p:sp>
        <p:nvSpPr>
          <p:cNvPr id="5" name="">
            <a:extLst xmlns:a="http://schemas.openxmlformats.org/drawingml/2006/main">
              <a:ext uri="{FF2B5EF4-FFF2-40B4-BE49-F238E27FC236}">
                <a16:creationId xmlns:a16="http://schemas.microsoft.com/office/drawing/2014/main" id="{ADA30D73-2097-4DA6-BA6E-191FC5689F7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ED685E3-5024-41FC-9EDD-145FB8C7A37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An analogy supports memory but does not replace policy.</a:t>
            </a:r>
          </a:p>
          <a:p xmlns:a="http://schemas.openxmlformats.org/drawingml/2006/main">
            <a:pPr marL="254000" indent="-127000">
              <a:spcAft>
                <a:spcPts val="600"/>
              </a:spcAft>
              <a:buChar char="•"/>
              <a:defRPr sz="1650">
                <a:solidFill>
                  <a:srgbClr val="1D2833"/>
                </a:solidFill>
                <a:latin typeface="Arial"/>
                <a:ea typeface="Arial"/>
                <a:cs typeface="Arial"/>
              </a:defRPr>
            </a:pPr>
            <a:r>
              <a:t>Learners should connect each tier to an allowed action.</a:t>
            </a:r>
          </a:p>
          <a:p xmlns:a="http://schemas.openxmlformats.org/drawingml/2006/main">
            <a:pPr marL="254000" indent="-127000">
              <a:spcAft>
                <a:spcPts val="600"/>
              </a:spcAft>
              <a:buChar char="•"/>
              <a:defRPr sz="1650">
                <a:solidFill>
                  <a:srgbClr val="1D2833"/>
                </a:solidFill>
                <a:latin typeface="Arial"/>
                <a:ea typeface="Arial"/>
                <a:cs typeface="Arial"/>
              </a:defRPr>
            </a:pPr>
            <a:r>
              <a:t>When the analogy and policy appear to differ, the approved policy controls.</a:t>
            </a:r>
          </a:p>
        </p:txBody>
      </p:sp>
      <p:sp>
        <p:nvSpPr>
          <p:cNvPr id="7" name="">
            <a:extLst xmlns:a="http://schemas.openxmlformats.org/drawingml/2006/main">
              <a:ext uri="{FF2B5EF4-FFF2-40B4-BE49-F238E27FC236}">
                <a16:creationId xmlns:a16="http://schemas.microsoft.com/office/drawing/2014/main" id="{8C0C6BDC-0701-4F73-863A-E7D08A098B0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B83B7B0-41AA-432D-8CA6-263E0D116E5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attaching a document to an AI prompt, the learner asks whether they would place it on a public counter, inside an employee-only folder, or in a strongly protected record system. The analogy starts the decision, while DWIHN policy provides the final answer.</a:t>
            </a:r>
          </a:p>
        </p:txBody>
      </p:sp>
      <p:sp>
        <p:nvSpPr>
          <p:cNvPr id="9" name="">
            <a:extLst xmlns:a="http://schemas.openxmlformats.org/drawingml/2006/main">
              <a:ext uri="{FF2B5EF4-FFF2-40B4-BE49-F238E27FC236}">
                <a16:creationId xmlns:a16="http://schemas.microsoft.com/office/drawing/2014/main" id="{E329F367-BFBC-4E62-819E-C1816ED32F0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BA36527-02FA-48D1-BE5F-F44D3CD28CD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Quick decisions before uploading, attaching, presenting, exporting, recording, or sharing information.</a:t>
            </a:r>
          </a:p>
        </p:txBody>
      </p:sp>
      <p:sp>
        <p:nvSpPr>
          <p:cNvPr id="11" name="">
            <a:extLst xmlns:a="http://schemas.openxmlformats.org/drawingml/2006/main">
              <a:ext uri="{FF2B5EF4-FFF2-40B4-BE49-F238E27FC236}">
                <a16:creationId xmlns:a16="http://schemas.microsoft.com/office/drawing/2014/main" id="{C6473837-F15E-4B04-92B5-E81AD9D32D6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95FDC21B-79D7-4DEE-A530-054B7741E33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26</a:t>
            </a:r>
          </a:p>
        </p:txBody>
      </p:sp>
    </p:spTree>
    <p:extLst>
      <p:ext uri="{BB962C8B-B14F-4D97-AF65-F5344CB8AC3E}">
        <p14:creationId xmlns:p14="http://schemas.microsoft.com/office/powerpoint/2010/main" val="153955120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CD021A-F0B4-46AF-87BC-75059367BC0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523EB909-6374-46E8-BA22-F02A69A3F6A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3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 process and practice</a:t>
            </a:r>
          </a:p>
        </p:txBody>
      </p:sp>
      <p:sp>
        <p:nvSpPr>
          <p:cNvPr id="3" name="">
            <a:extLst xmlns:a="http://schemas.openxmlformats.org/drawingml/2006/main">
              <a:ext uri="{FF2B5EF4-FFF2-40B4-BE49-F238E27FC236}">
                <a16:creationId xmlns:a16="http://schemas.microsoft.com/office/drawing/2014/main" id="{3FE25FAE-2A85-415E-9D51-DBB272A4D52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C3EB64D-05ED-47CB-BDA3-851875EA4F9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Recall the simple protection analogy.</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Compare the information with confirmed examples.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Locate the exact DWIHN policy definition.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Select the handling action required by that definition.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Ask the designated owner when no example fits.</a:t>
            </a:r>
          </a:p>
        </p:txBody>
      </p:sp>
      <p:sp>
        <p:nvSpPr>
          <p:cNvPr id="5" name="">
            <a:extLst xmlns:a="http://schemas.openxmlformats.org/drawingml/2006/main">
              <a:ext uri="{FF2B5EF4-FFF2-40B4-BE49-F238E27FC236}">
                <a16:creationId xmlns:a16="http://schemas.microsoft.com/office/drawing/2014/main" id="{570BF8E9-7FDB-4DA7-B04D-99762F5F4BC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2153889-0042-4231-902F-12E4017A3D7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user interface can reinforce memory with classification labels and short handling prompts before upload or sharing. The software prompt helps the user pause, but the person must still classify correctly.</a:t>
            </a:r>
          </a:p>
        </p:txBody>
      </p:sp>
      <p:sp>
        <p:nvSpPr>
          <p:cNvPr id="7" name="">
            <a:extLst xmlns:a="http://schemas.openxmlformats.org/drawingml/2006/main">
              <a:ext uri="{FF2B5EF4-FFF2-40B4-BE49-F238E27FC236}">
                <a16:creationId xmlns:a16="http://schemas.microsoft.com/office/drawing/2014/main" id="{EDA128C4-FEF8-4A54-A365-154523AE0D3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DB9828E-5C27-4116-A62D-A007AE0298D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the analogy as a legal definition. - Memorizing labels without learning the required actions. - Guessing when a real example does not match the memory aid.</a:t>
            </a:r>
          </a:p>
        </p:txBody>
      </p:sp>
      <p:sp>
        <p:nvSpPr>
          <p:cNvPr id="9" name="">
            <a:extLst xmlns:a="http://schemas.openxmlformats.org/drawingml/2006/main">
              <a:ext uri="{FF2B5EF4-FFF2-40B4-BE49-F238E27FC236}">
                <a16:creationId xmlns:a16="http://schemas.microsoft.com/office/drawing/2014/main" id="{C65DB61E-CB1C-4721-8B90-10F5BE0CD0B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C4363994-A80C-48B4-946E-0866DB3941F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27</a:t>
            </a:r>
          </a:p>
        </p:txBody>
      </p:sp>
    </p:spTree>
    <p:extLst>
      <p:ext uri="{BB962C8B-B14F-4D97-AF65-F5344CB8AC3E}">
        <p14:creationId xmlns:p14="http://schemas.microsoft.com/office/powerpoint/2010/main" val="174327042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A0B561-A8C2-49BC-AA4D-81DCAD13427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749D2DAF-0F3B-4066-B3F4-0FC179FD41B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a:t>
            </a:r>
          </a:p>
        </p:txBody>
      </p:sp>
      <p:sp>
        <p:nvSpPr>
          <p:cNvPr id="3" name="">
            <a:extLst xmlns:a="http://schemas.openxmlformats.org/drawingml/2006/main">
              <a:ext uri="{FF2B5EF4-FFF2-40B4-BE49-F238E27FC236}">
                <a16:creationId xmlns:a16="http://schemas.microsoft.com/office/drawing/2014/main" id="{F0AB69AE-7CB8-492E-9D55-F84F68765DA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20BA11B-C4C8-4476-A4A3-0CF18600877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Decision scenarios help learners practice the complete sequence: inspect the information, assign the confirmed classification, check the handling rule, and decide whether to proceed, reduce the information, choose another tool, or ask for help.</a:t>
            </a:r>
          </a:p>
        </p:txBody>
      </p:sp>
      <p:sp>
        <p:nvSpPr>
          <p:cNvPr id="5" name="">
            <a:extLst xmlns:a="http://schemas.openxmlformats.org/drawingml/2006/main">
              <a:ext uri="{FF2B5EF4-FFF2-40B4-BE49-F238E27FC236}">
                <a16:creationId xmlns:a16="http://schemas.microsoft.com/office/drawing/2014/main" id="{E163AC74-693A-4C99-B8BB-BDBE649196C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D3C6848-488B-47CB-8948-D4449B8B428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Screenshots, metadata, free text, and combined details can change the answer.</a:t>
            </a:r>
          </a:p>
          <a:p xmlns:a="http://schemas.openxmlformats.org/drawingml/2006/main">
            <a:pPr marL="254000" indent="-127000">
              <a:spcAft>
                <a:spcPts val="600"/>
              </a:spcAft>
              <a:buChar char="•"/>
              <a:defRPr sz="1650">
                <a:solidFill>
                  <a:srgbClr val="1D2833"/>
                </a:solidFill>
                <a:latin typeface="Arial"/>
                <a:ea typeface="Arial"/>
                <a:cs typeface="Arial"/>
              </a:defRPr>
            </a:pPr>
            <a:r>
              <a:t>A decision needs both a classification and a permitted action.</a:t>
            </a:r>
          </a:p>
          <a:p xmlns:a="http://schemas.openxmlformats.org/drawingml/2006/main">
            <a:pPr marL="254000" indent="-127000">
              <a:spcAft>
                <a:spcPts val="600"/>
              </a:spcAft>
              <a:buChar char="•"/>
              <a:defRPr sz="1650">
                <a:solidFill>
                  <a:srgbClr val="1D2833"/>
                </a:solidFill>
                <a:latin typeface="Arial"/>
                <a:ea typeface="Arial"/>
                <a:cs typeface="Arial"/>
              </a:defRPr>
            </a:pPr>
            <a:r>
              <a:t>Uncertainty should lead to escalation, not a convenient guess.</a:t>
            </a:r>
          </a:p>
        </p:txBody>
      </p:sp>
      <p:sp>
        <p:nvSpPr>
          <p:cNvPr id="7" name="">
            <a:extLst xmlns:a="http://schemas.openxmlformats.org/drawingml/2006/main">
              <a:ext uri="{FF2B5EF4-FFF2-40B4-BE49-F238E27FC236}">
                <a16:creationId xmlns:a16="http://schemas.microsoft.com/office/drawing/2014/main" id="{2FEBF190-629D-434A-A785-28F816FE717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474180D6-352E-46DA-BBAD-216BA6CB75E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screenshot has no name but shows a rare service, date, ZIP code, and case number. The learner considers the combined information before deciding whether the image may be shown in training.</a:t>
            </a:r>
          </a:p>
        </p:txBody>
      </p:sp>
      <p:sp>
        <p:nvSpPr>
          <p:cNvPr id="9" name="">
            <a:extLst xmlns:a="http://schemas.openxmlformats.org/drawingml/2006/main">
              <a:ext uri="{FF2B5EF4-FFF2-40B4-BE49-F238E27FC236}">
                <a16:creationId xmlns:a16="http://schemas.microsoft.com/office/drawing/2014/main" id="{41CFD1D4-70E8-48D0-8963-E44FC733A16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36D6CED-92D2-438C-AFEB-02928DC24F3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exercises, pre-upload checks, document reviews, dashboard exports, presentation preparation, and manager coaching.</a:t>
            </a:r>
          </a:p>
        </p:txBody>
      </p:sp>
      <p:sp>
        <p:nvSpPr>
          <p:cNvPr id="11" name="">
            <a:extLst xmlns:a="http://schemas.openxmlformats.org/drawingml/2006/main">
              <a:ext uri="{FF2B5EF4-FFF2-40B4-BE49-F238E27FC236}">
                <a16:creationId xmlns:a16="http://schemas.microsoft.com/office/drawing/2014/main" id="{780A4DE4-4219-4963-9A1D-C25E70DE739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D0D83330-0584-4778-B6AA-56431DA8D7E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28</a:t>
            </a:r>
          </a:p>
        </p:txBody>
      </p:sp>
    </p:spTree>
    <p:extLst>
      <p:ext uri="{BB962C8B-B14F-4D97-AF65-F5344CB8AC3E}">
        <p14:creationId xmlns:p14="http://schemas.microsoft.com/office/powerpoint/2010/main" val="13698621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C3E261-59D6-4773-BFF8-7DEFA8AE0CF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953F4C76-2892-4753-ACE0-5F2B68A68D0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 process and practice</a:t>
            </a:r>
          </a:p>
        </p:txBody>
      </p:sp>
      <p:sp>
        <p:nvSpPr>
          <p:cNvPr id="3" name="">
            <a:extLst xmlns:a="http://schemas.openxmlformats.org/drawingml/2006/main">
              <a:ext uri="{FF2B5EF4-FFF2-40B4-BE49-F238E27FC236}">
                <a16:creationId xmlns:a16="http://schemas.microsoft.com/office/drawing/2014/main" id="{B8EB1071-3EE7-41E0-B722-B2389861F4A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A8EA6D2-DA06-4622-823F-B76BDA6A04F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Read the entire scenario.</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Mark every potentially sensitive element.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Consider whether separate details identify someone when combined.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Choose the tier using the confirmed definitions.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State the resulting tool, access, storage, and sharing decision.</a:t>
            </a:r>
          </a:p>
        </p:txBody>
      </p:sp>
      <p:sp>
        <p:nvSpPr>
          <p:cNvPr id="5" name="">
            <a:extLst xmlns:a="http://schemas.openxmlformats.org/drawingml/2006/main">
              <a:ext uri="{FF2B5EF4-FFF2-40B4-BE49-F238E27FC236}">
                <a16:creationId xmlns:a16="http://schemas.microsoft.com/office/drawing/2014/main" id="{496F5305-FF74-48D8-8AC0-44E9EE83060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9547605-4716-4AF1-9E5F-79AFD634313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classification decision tree may ask whether information is publicly approved, intended only for workforce use, individually identifying, or subject to stronger controls. The final branch links to a handling rule.</a:t>
            </a:r>
          </a:p>
        </p:txBody>
      </p:sp>
      <p:sp>
        <p:nvSpPr>
          <p:cNvPr id="7" name="">
            <a:extLst xmlns:a="http://schemas.openxmlformats.org/drawingml/2006/main">
              <a:ext uri="{FF2B5EF4-FFF2-40B4-BE49-F238E27FC236}">
                <a16:creationId xmlns:a16="http://schemas.microsoft.com/office/drawing/2014/main" id="{94D6E151-4C2C-48EB-8EC4-CBA9A20AB61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04E7F2E-D668-401D-8175-CD9EDF0CE01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Looking only for a member name. - Ignoring information in hidden columns or speaker notes. - Giving the correct label but choosing an unauthorized action.</a:t>
            </a:r>
          </a:p>
        </p:txBody>
      </p:sp>
      <p:sp>
        <p:nvSpPr>
          <p:cNvPr id="9" name="">
            <a:extLst xmlns:a="http://schemas.openxmlformats.org/drawingml/2006/main">
              <a:ext uri="{FF2B5EF4-FFF2-40B4-BE49-F238E27FC236}">
                <a16:creationId xmlns:a16="http://schemas.microsoft.com/office/drawing/2014/main" id="{07B4DC33-C5AE-40DC-895E-919E51FF152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9F63F09B-54F4-4909-9624-7D12B0FBA25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29</a:t>
            </a:r>
          </a:p>
        </p:txBody>
      </p:sp>
    </p:spTree>
    <p:extLst>
      <p:ext uri="{BB962C8B-B14F-4D97-AF65-F5344CB8AC3E}">
        <p14:creationId xmlns:p14="http://schemas.microsoft.com/office/powerpoint/2010/main" val="45937673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BE8DB3-8BF1-4E9A-8D75-90F0D50B42E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8278CF4B-AD0A-455E-85D1-4131BF92EB1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a:t>
            </a:r>
          </a:p>
        </p:txBody>
      </p:sp>
      <p:sp>
        <p:nvSpPr>
          <p:cNvPr id="3" name="">
            <a:extLst xmlns:a="http://schemas.openxmlformats.org/drawingml/2006/main">
              <a:ext uri="{FF2B5EF4-FFF2-40B4-BE49-F238E27FC236}">
                <a16:creationId xmlns:a16="http://schemas.microsoft.com/office/drawing/2014/main" id="{D4696E81-A0BD-4429-885F-AEA2BD888F5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7949D7C-C7F8-4A18-8A15-31B1681D13B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desk card should summarize each DWIHN classification, common examples, permitted storage and sharing locations, AI restrictions, and the contact for uncertain cases. It supports quick decisions but does not replace the full policy.</a:t>
            </a:r>
          </a:p>
        </p:txBody>
      </p:sp>
      <p:sp>
        <p:nvSpPr>
          <p:cNvPr id="5" name="">
            <a:extLst xmlns:a="http://schemas.openxmlformats.org/drawingml/2006/main">
              <a:ext uri="{FF2B5EF4-FFF2-40B4-BE49-F238E27FC236}">
                <a16:creationId xmlns:a16="http://schemas.microsoft.com/office/drawing/2014/main" id="{1F7203E8-E64B-46E8-A829-48C57FC546B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0686709-9E5D-40AD-8061-D0D8296D2F6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card must match the current approved policy.</a:t>
            </a:r>
          </a:p>
          <a:p xmlns:a="http://schemas.openxmlformats.org/drawingml/2006/main">
            <a:pPr marL="254000" indent="-127000">
              <a:spcAft>
                <a:spcPts val="600"/>
              </a:spcAft>
              <a:buChar char="•"/>
              <a:defRPr sz="1650">
                <a:solidFill>
                  <a:srgbClr val="1D2833"/>
                </a:solidFill>
                <a:latin typeface="Arial"/>
                <a:ea typeface="Arial"/>
                <a:cs typeface="Arial"/>
              </a:defRPr>
            </a:pPr>
            <a:r>
              <a:t>Every tier should connect to examples and required actions.</a:t>
            </a:r>
          </a:p>
          <a:p xmlns:a="http://schemas.openxmlformats.org/drawingml/2006/main">
            <a:pPr marL="254000" indent="-127000">
              <a:spcAft>
                <a:spcPts val="600"/>
              </a:spcAft>
              <a:buChar char="•"/>
              <a:defRPr sz="1650">
                <a:solidFill>
                  <a:srgbClr val="1D2833"/>
                </a:solidFill>
                <a:latin typeface="Arial"/>
                <a:ea typeface="Arial"/>
                <a:cs typeface="Arial"/>
              </a:defRPr>
            </a:pPr>
            <a:r>
              <a:t>The help contact and version date should be easy to find.</a:t>
            </a:r>
          </a:p>
        </p:txBody>
      </p:sp>
      <p:sp>
        <p:nvSpPr>
          <p:cNvPr id="7" name="">
            <a:extLst xmlns:a="http://schemas.openxmlformats.org/drawingml/2006/main">
              <a:ext uri="{FF2B5EF4-FFF2-40B4-BE49-F238E27FC236}">
                <a16:creationId xmlns:a16="http://schemas.microsoft.com/office/drawing/2014/main" id="{CEE3EC8A-50B3-477D-ACF7-25543AA2379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6DA9024-79C8-4A9B-B1E5-A38A6582957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receives an unfamiliar report and checks the desk card. The report does not match a listed example, so the administrator pauses and contacts the designated policy owner rather than guessing.</a:t>
            </a:r>
          </a:p>
        </p:txBody>
      </p:sp>
      <p:sp>
        <p:nvSpPr>
          <p:cNvPr id="9" name="">
            <a:extLst xmlns:a="http://schemas.openxmlformats.org/drawingml/2006/main">
              <a:ext uri="{FF2B5EF4-FFF2-40B4-BE49-F238E27FC236}">
                <a16:creationId xmlns:a16="http://schemas.microsoft.com/office/drawing/2014/main" id="{02E2A216-1726-4F90-AC68-EF99ED39A9D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E6ED6A2-F645-493B-AFC4-F78F3CDBF83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At desks, in Teams, within the LMS, during tool selection, and as a manager coaching aid.</a:t>
            </a:r>
          </a:p>
        </p:txBody>
      </p:sp>
      <p:sp>
        <p:nvSpPr>
          <p:cNvPr id="11" name="">
            <a:extLst xmlns:a="http://schemas.openxmlformats.org/drawingml/2006/main">
              <a:ext uri="{FF2B5EF4-FFF2-40B4-BE49-F238E27FC236}">
                <a16:creationId xmlns:a16="http://schemas.microsoft.com/office/drawing/2014/main" id="{77E8A2A9-277C-4133-99FF-1FCC46578E3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E8D10BD5-68F7-4998-9368-15C7FAB8F72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30</a:t>
            </a:r>
          </a:p>
        </p:txBody>
      </p:sp>
    </p:spTree>
    <p:extLst>
      <p:ext uri="{BB962C8B-B14F-4D97-AF65-F5344CB8AC3E}">
        <p14:creationId xmlns:p14="http://schemas.microsoft.com/office/powerpoint/2010/main" val="190351986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EE84BA-CCFC-4269-84B6-D775DF72874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FC0E8289-0901-4208-B849-F0E1AE43EF1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03"/>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 process and practice</a:t>
            </a:r>
          </a:p>
        </p:txBody>
      </p:sp>
      <p:sp>
        <p:nvSpPr>
          <p:cNvPr id="3" name="">
            <a:extLst xmlns:a="http://schemas.openxmlformats.org/drawingml/2006/main">
              <a:ext uri="{FF2B5EF4-FFF2-40B4-BE49-F238E27FC236}">
                <a16:creationId xmlns:a16="http://schemas.microsoft.com/office/drawing/2014/main" id="{2FB9C00C-515A-4CA6-9DE2-AA239A4B242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D73E4DD-997C-42A5-BF20-D63E000FF8B3}"/>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Identify the likely tier.</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Compare the information with the card examples.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Read the required handling actions.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Follow the linked full policy when more detail is needed.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Contact the listed owner for an unresolved case.</a:t>
            </a:r>
          </a:p>
        </p:txBody>
      </p:sp>
      <p:sp>
        <p:nvSpPr>
          <p:cNvPr id="5" name="">
            <a:extLst xmlns:a="http://schemas.openxmlformats.org/drawingml/2006/main">
              <a:ext uri="{FF2B5EF4-FFF2-40B4-BE49-F238E27FC236}">
                <a16:creationId xmlns:a16="http://schemas.microsoft.com/office/drawing/2014/main" id="{4161EF41-CA0F-48A6-829E-B7110873188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315614E-743B-4654-8E24-7B279448410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desk card can link each classification to the current policy page and display a version date. This reduces the risk of staff relying on an outdated printed copy.</a:t>
            </a:r>
          </a:p>
        </p:txBody>
      </p:sp>
      <p:sp>
        <p:nvSpPr>
          <p:cNvPr id="7" name="">
            <a:extLst xmlns:a="http://schemas.openxmlformats.org/drawingml/2006/main">
              <a:ext uri="{FF2B5EF4-FFF2-40B4-BE49-F238E27FC236}">
                <a16:creationId xmlns:a16="http://schemas.microsoft.com/office/drawing/2014/main" id="{66368573-53B2-4868-8230-411FC8BE405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FAA2B21-7753-42F3-B972-877BFE57BC2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Keeping an outdated copy. - Treating the short card as a complete policy. - Selecting the nearest example when the content requires escalation.</a:t>
            </a:r>
          </a:p>
        </p:txBody>
      </p:sp>
      <p:sp>
        <p:nvSpPr>
          <p:cNvPr id="9" name="">
            <a:extLst xmlns:a="http://schemas.openxmlformats.org/drawingml/2006/main">
              <a:ext uri="{FF2B5EF4-FFF2-40B4-BE49-F238E27FC236}">
                <a16:creationId xmlns:a16="http://schemas.microsoft.com/office/drawing/2014/main" id="{7049E3FF-A8E4-4B93-BC1A-B37C1E00CF7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DC4C1334-09E3-439F-B941-DA3AD7B9C73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31</a:t>
            </a:r>
          </a:p>
        </p:txBody>
      </p:sp>
    </p:spTree>
    <p:extLst>
      <p:ext uri="{BB962C8B-B14F-4D97-AF65-F5344CB8AC3E}">
        <p14:creationId xmlns:p14="http://schemas.microsoft.com/office/powerpoint/2010/main" val="209531596"/>
      </p:ext>
    </p:extLst>
  </p:cSld>
</p:sld>
</file>

<file path=ppt/slides/slide3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6EE49A-B327-487D-9C19-DA3AEACBCD54}"/>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4</a:t>
            </a:r>
          </a:p>
        </p:txBody>
      </p:sp>
      <p:sp>
        <p:nvSpPr>
          <p:cNvPr id="2" name="">
            <a:extLst xmlns:a="http://schemas.openxmlformats.org/drawingml/2006/main">
              <a:ext uri="{FF2B5EF4-FFF2-40B4-BE49-F238E27FC236}">
                <a16:creationId xmlns:a16="http://schemas.microsoft.com/office/drawing/2014/main" id="{815D45D2-AB14-4502-A11F-05AC6F900367}"/>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Prompting Skills for DWIHN Roles</a:t>
            </a:r>
          </a:p>
        </p:txBody>
      </p:sp>
      <p:sp>
        <p:nvSpPr>
          <p:cNvPr id="3" name="">
            <a:extLst xmlns:a="http://schemas.openxmlformats.org/drawingml/2006/main">
              <a:ext uri="{FF2B5EF4-FFF2-40B4-BE49-F238E27FC236}">
                <a16:creationId xmlns:a16="http://schemas.microsoft.com/office/drawing/2014/main" id="{856CDC0D-2BE0-4BF7-BF57-1B0D4992D827}"/>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a repeatable way to give AI clear, safe, and useful instructions. It is important because prompt quality affects the usefulness of a draft, while permissions, source accuracy, and human review still determine whether the result can be used.</a:t>
            </a:r>
          </a:p>
        </p:txBody>
      </p:sp>
      <p:sp>
        <p:nvSpPr>
          <p:cNvPr id="4" name="">
            <a:extLst xmlns:a="http://schemas.openxmlformats.org/drawingml/2006/main">
              <a:ext uri="{FF2B5EF4-FFF2-40B4-BE49-F238E27FC236}">
                <a16:creationId xmlns:a16="http://schemas.microsoft.com/office/drawing/2014/main" id="{FABA4A1A-DE81-4775-BA11-EDA06ADF0624}"/>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5A4BCC3C-FF81-4254-895F-629036E3CBFD}"/>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Build a prompt using role, task, context, format, and constraint.</a:t>
            </a:r>
          </a:p>
          <a:p xmlns:a="http://schemas.openxmlformats.org/drawingml/2006/main">
            <a:pPr marL="254000" indent="-127000">
              <a:spcAft>
                <a:spcPts val="600"/>
              </a:spcAft>
              <a:buChar char="•"/>
              <a:defRPr sz="1500">
                <a:solidFill>
                  <a:srgbClr val="F1F6F8"/>
                </a:solidFill>
                <a:latin typeface="Arial"/>
                <a:ea typeface="Arial"/>
                <a:cs typeface="Arial"/>
              </a:defRPr>
            </a:pPr>
            <a:r>
              <a:t>Replace vague requests with clear, testable instructions.</a:t>
            </a:r>
          </a:p>
          <a:p xmlns:a="http://schemas.openxmlformats.org/drawingml/2006/main">
            <a:pPr marL="254000" indent="-127000">
              <a:spcAft>
                <a:spcPts val="600"/>
              </a:spcAft>
              <a:buChar char="•"/>
              <a:defRPr sz="1500">
                <a:solidFill>
                  <a:srgbClr val="F1F6F8"/>
                </a:solidFill>
                <a:latin typeface="Arial"/>
                <a:ea typeface="Arial"/>
                <a:cs typeface="Arial"/>
              </a:defRPr>
            </a:pPr>
            <a:r>
              <a:t>Use only information permitted for the selected tool and workflow.</a:t>
            </a:r>
          </a:p>
          <a:p xmlns:a="http://schemas.openxmlformats.org/drawingml/2006/main">
            <a:pPr marL="254000" indent="-127000">
              <a:spcAft>
                <a:spcPts val="600"/>
              </a:spcAft>
              <a:buChar char="•"/>
              <a:defRPr sz="1500">
                <a:solidFill>
                  <a:srgbClr val="F1F6F8"/>
                </a:solidFill>
                <a:latin typeface="Arial"/>
                <a:ea typeface="Arial"/>
                <a:cs typeface="Arial"/>
              </a:defRPr>
            </a:pPr>
            <a:r>
              <a:t>Review an output for accuracy, completeness, tone, and unsupported additions.</a:t>
            </a:r>
          </a:p>
        </p:txBody>
      </p:sp>
      <p:sp>
        <p:nvSpPr>
          <p:cNvPr id="6" name="">
            <a:extLst xmlns:a="http://schemas.openxmlformats.org/drawingml/2006/main">
              <a:ext uri="{FF2B5EF4-FFF2-40B4-BE49-F238E27FC236}">
                <a16:creationId xmlns:a16="http://schemas.microsoft.com/office/drawing/2014/main" id="{433E23C5-0ECE-460B-9055-4DE74D989A8B}"/>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72E759CC-83C1-485D-98E2-93897F2A4E09}"/>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E6B85C"/>
                </a:solidFill>
              </a:rPr>
              <a:t>1. </a:t>
            </a:r>
            <a:r>
              <a:t>The five-part prompt anatomy</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2. </a:t>
            </a:r>
            <a:r>
              <a:t>Prompts for different DWIHN roles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3. </a:t>
            </a:r>
            <a:r>
              <a:t>Improving a weak prompt</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4. </a:t>
            </a:r>
            <a:r>
              <a:t>Reviewing results and correcting common mistakes</a:t>
            </a:r>
          </a:p>
        </p:txBody>
      </p:sp>
      <p:sp>
        <p:nvSpPr>
          <p:cNvPr id="8" name="">
            <a:extLst xmlns:a="http://schemas.openxmlformats.org/drawingml/2006/main">
              <a:ext uri="{FF2B5EF4-FFF2-40B4-BE49-F238E27FC236}">
                <a16:creationId xmlns:a16="http://schemas.microsoft.com/office/drawing/2014/main" id="{E2D4584B-BD51-43C5-91FB-C833B1DFB8DE}"/>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1-3    Level: Beginner to intermediate</a:t>
            </a:r>
          </a:p>
        </p:txBody>
      </p:sp>
      <p:sp>
        <p:nvSpPr>
          <p:cNvPr id="9" name="">
            <a:extLst xmlns:a="http://schemas.openxmlformats.org/drawingml/2006/main">
              <a:ext uri="{FF2B5EF4-FFF2-40B4-BE49-F238E27FC236}">
                <a16:creationId xmlns:a16="http://schemas.microsoft.com/office/drawing/2014/main" id="{57AC837B-1B2B-44B2-90D9-0B44210F707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4</a:t>
            </a:r>
          </a:p>
        </p:txBody>
      </p:sp>
      <p:sp>
        <p:nvSpPr>
          <p:cNvPr id="10" name="">
            <a:extLst xmlns:a="http://schemas.openxmlformats.org/drawingml/2006/main">
              <a:ext uri="{FF2B5EF4-FFF2-40B4-BE49-F238E27FC236}">
                <a16:creationId xmlns:a16="http://schemas.microsoft.com/office/drawing/2014/main" id="{46F73453-9118-4C51-B800-7EACB5FBC58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32</a:t>
            </a:r>
          </a:p>
        </p:txBody>
      </p:sp>
    </p:spTree>
    <p:extLst>
      <p:ext uri="{BB962C8B-B14F-4D97-AF65-F5344CB8AC3E}">
        <p14:creationId xmlns:p14="http://schemas.microsoft.com/office/powerpoint/2010/main" val="185511120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CA3F7E9-4665-4A8F-9A36-B48B279DAD6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95975F98-4399-4E5B-B49E-F95A02CEBEB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a:t>
            </a:r>
          </a:p>
        </p:txBody>
      </p:sp>
      <p:sp>
        <p:nvSpPr>
          <p:cNvPr id="3" name="">
            <a:extLst xmlns:a="http://schemas.openxmlformats.org/drawingml/2006/main">
              <a:ext uri="{FF2B5EF4-FFF2-40B4-BE49-F238E27FC236}">
                <a16:creationId xmlns:a16="http://schemas.microsoft.com/office/drawing/2014/main" id="{E24A8369-3FBE-4F66-B459-0268568D298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047FC92-2E89-4CB3-B877-46581410D96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6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reliable beginner prompt contains a role, task, context, format, and constraint. The role establishes a useful perspective. The task states the action. Context supplies permitted facts. Format describes the desired structure. Constraints set boundaries and tell the tool how to handle missing information.</a:t>
            </a:r>
          </a:p>
        </p:txBody>
      </p:sp>
      <p:sp>
        <p:nvSpPr>
          <p:cNvPr id="5" name="">
            <a:extLst xmlns:a="http://schemas.openxmlformats.org/drawingml/2006/main">
              <a:ext uri="{FF2B5EF4-FFF2-40B4-BE49-F238E27FC236}">
                <a16:creationId xmlns:a16="http://schemas.microsoft.com/office/drawing/2014/main" id="{DE89BE2C-2EC4-4427-89E0-219F959C3CC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13BBE3D-C1F1-4C87-BA87-711983D3322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Role sets perspective but does not grant professional authority.</a:t>
            </a:r>
          </a:p>
          <a:p xmlns:a="http://schemas.openxmlformats.org/drawingml/2006/main">
            <a:pPr marL="254000" indent="-127000">
              <a:spcAft>
                <a:spcPts val="600"/>
              </a:spcAft>
              <a:buChar char="•"/>
              <a:defRPr sz="1650">
                <a:solidFill>
                  <a:srgbClr val="1D2833"/>
                </a:solidFill>
                <a:latin typeface="Arial"/>
                <a:ea typeface="Arial"/>
                <a:cs typeface="Arial"/>
              </a:defRPr>
            </a:pPr>
            <a:r>
              <a:t>Task should begin with a clear action such as draft, summarize, compare, or extract.</a:t>
            </a:r>
          </a:p>
          <a:p xmlns:a="http://schemas.openxmlformats.org/drawingml/2006/main">
            <a:pPr marL="254000" indent="-127000">
              <a:spcAft>
                <a:spcPts val="600"/>
              </a:spcAft>
              <a:buChar char="•"/>
              <a:defRPr sz="1650">
                <a:solidFill>
                  <a:srgbClr val="1D2833"/>
                </a:solidFill>
                <a:latin typeface="Arial"/>
                <a:ea typeface="Arial"/>
                <a:cs typeface="Arial"/>
              </a:defRPr>
            </a:pPr>
            <a:r>
              <a:t>Context must be relevant and permitted.</a:t>
            </a:r>
          </a:p>
          <a:p xmlns:a="http://schemas.openxmlformats.org/drawingml/2006/main">
            <a:pPr marL="254000" indent="-127000">
              <a:spcAft>
                <a:spcPts val="600"/>
              </a:spcAft>
              <a:buChar char="•"/>
              <a:defRPr sz="1650">
                <a:solidFill>
                  <a:srgbClr val="1D2833"/>
                </a:solidFill>
                <a:latin typeface="Arial"/>
                <a:ea typeface="Arial"/>
                <a:cs typeface="Arial"/>
              </a:defRPr>
            </a:pPr>
            <a:r>
              <a:t>Format and constraints make the result easier to use and verify.</a:t>
            </a:r>
          </a:p>
        </p:txBody>
      </p:sp>
      <p:sp>
        <p:nvSpPr>
          <p:cNvPr id="7" name="">
            <a:extLst xmlns:a="http://schemas.openxmlformats.org/drawingml/2006/main">
              <a:ext uri="{FF2B5EF4-FFF2-40B4-BE49-F238E27FC236}">
                <a16:creationId xmlns:a16="http://schemas.microsoft.com/office/drawing/2014/main" id="{941BB425-A5C2-46B2-8BBB-0707F0650AB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CC03E38-2EB8-4AD9-979F-06559AD2871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Prompt: Act as an administrative writing assistant. Draft a three-bullet training reminder for staff using the confirmed date and time below. Use a friendly professional tone. Do not invent a location or attendance requirement.</a:t>
            </a:r>
          </a:p>
        </p:txBody>
      </p:sp>
      <p:sp>
        <p:nvSpPr>
          <p:cNvPr id="9" name="">
            <a:extLst xmlns:a="http://schemas.openxmlformats.org/drawingml/2006/main">
              <a:ext uri="{FF2B5EF4-FFF2-40B4-BE49-F238E27FC236}">
                <a16:creationId xmlns:a16="http://schemas.microsoft.com/office/drawing/2014/main" id="{B0072567-20DC-4D10-8682-F7043879947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1FDC9AA-FE0E-4DD9-9E3E-65F29734CE1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Emails, summaries, report narratives, plain-language rewrites, structured notes, analytics questions, and leadership briefings.</a:t>
            </a:r>
          </a:p>
        </p:txBody>
      </p:sp>
      <p:sp>
        <p:nvSpPr>
          <p:cNvPr id="11" name="">
            <a:extLst xmlns:a="http://schemas.openxmlformats.org/drawingml/2006/main">
              <a:ext uri="{FF2B5EF4-FFF2-40B4-BE49-F238E27FC236}">
                <a16:creationId xmlns:a16="http://schemas.microsoft.com/office/drawing/2014/main" id="{3873EA30-C883-4AE8-AA27-BABC41C161D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085F079C-D7E7-4A23-A287-41010EDD8CC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33</a:t>
            </a:r>
          </a:p>
        </p:txBody>
      </p:sp>
    </p:spTree>
    <p:extLst>
      <p:ext uri="{BB962C8B-B14F-4D97-AF65-F5344CB8AC3E}">
        <p14:creationId xmlns:p14="http://schemas.microsoft.com/office/powerpoint/2010/main" val="55442471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56BADF-F110-407F-94A4-AA44C341710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5F95119E-8FCF-4828-B854-982CC72C0A7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 process and practice</a:t>
            </a:r>
          </a:p>
        </p:txBody>
      </p:sp>
      <p:sp>
        <p:nvSpPr>
          <p:cNvPr id="3" name="">
            <a:extLst xmlns:a="http://schemas.openxmlformats.org/drawingml/2006/main">
              <a:ext uri="{FF2B5EF4-FFF2-40B4-BE49-F238E27FC236}">
                <a16:creationId xmlns:a16="http://schemas.microsoft.com/office/drawing/2014/main" id="{505BF6E3-7CE5-4E72-A266-742C024D9F3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A633C4C-74C2-4EC4-BA86-659F82008FC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Define the intended result and audience.</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Check the tool and information permissions.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Add each of the five prompt parts.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Generate the result in the approved environment.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Compare it with the source and refine it.</a:t>
            </a:r>
          </a:p>
        </p:txBody>
      </p:sp>
      <p:sp>
        <p:nvSpPr>
          <p:cNvPr id="5" name="">
            <a:extLst xmlns:a="http://schemas.openxmlformats.org/drawingml/2006/main">
              <a:ext uri="{FF2B5EF4-FFF2-40B4-BE49-F238E27FC236}">
                <a16:creationId xmlns:a16="http://schemas.microsoft.com/office/drawing/2014/main" id="{FB493F92-6C9C-4CB9-BA24-4E8A87DDCF8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AAFFEB3-9DFE-4EE2-9053-7E790DBB104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2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prompt may store five fields: role equals administrative assistant; task equals draft a reminder; context equals confirmed date, time, audience, and purpose; format equals three bullets; constraint equals add no facts outside the source.</a:t>
            </a:r>
          </a:p>
        </p:txBody>
      </p:sp>
      <p:sp>
        <p:nvSpPr>
          <p:cNvPr id="7" name="">
            <a:extLst xmlns:a="http://schemas.openxmlformats.org/drawingml/2006/main">
              <a:ext uri="{FF2B5EF4-FFF2-40B4-BE49-F238E27FC236}">
                <a16:creationId xmlns:a16="http://schemas.microsoft.com/office/drawing/2014/main" id="{ADA8947A-9EDD-4BDD-B0C4-628477708EE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73FA758-64E5-48FD-ABA7-28D00BC5C1B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the role instruction as professional authority. - Supplying too much or unauthorized context. - Omitting the output format or source boundary.</a:t>
            </a:r>
          </a:p>
        </p:txBody>
      </p:sp>
      <p:sp>
        <p:nvSpPr>
          <p:cNvPr id="9" name="">
            <a:extLst xmlns:a="http://schemas.openxmlformats.org/drawingml/2006/main">
              <a:ext uri="{FF2B5EF4-FFF2-40B4-BE49-F238E27FC236}">
                <a16:creationId xmlns:a16="http://schemas.microsoft.com/office/drawing/2014/main" id="{DBD29D85-6E12-4803-98E3-6E05565E007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2FD59820-8624-4DEA-8BC3-660DFF053EC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34</a:t>
            </a:r>
          </a:p>
        </p:txBody>
      </p:sp>
    </p:spTree>
    <p:extLst>
      <p:ext uri="{BB962C8B-B14F-4D97-AF65-F5344CB8AC3E}">
        <p14:creationId xmlns:p14="http://schemas.microsoft.com/office/powerpoint/2010/main" val="181195629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4D5C79-FDB8-47AB-A608-14191482F23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0B7E2CE3-5921-4678-A5F1-2E2727CE8EE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a:t>
            </a:r>
          </a:p>
        </p:txBody>
      </p:sp>
      <p:sp>
        <p:nvSpPr>
          <p:cNvPr id="3" name="">
            <a:extLst xmlns:a="http://schemas.openxmlformats.org/drawingml/2006/main">
              <a:ext uri="{FF2B5EF4-FFF2-40B4-BE49-F238E27FC236}">
                <a16:creationId xmlns:a16="http://schemas.microsoft.com/office/drawing/2014/main" id="{11B6F0E7-12F7-439F-814F-5326CDB528E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BC0BD54-8093-4D44-9E56-D42227468D0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same structure can support different work. Coordinators may draft fictional follow-up communication, administrators may organize meeting notes, program managers may describe a verified trend, and leaders may prepare a short briefing with limitations.</a:t>
            </a:r>
          </a:p>
        </p:txBody>
      </p:sp>
      <p:sp>
        <p:nvSpPr>
          <p:cNvPr id="5" name="">
            <a:extLst xmlns:a="http://schemas.openxmlformats.org/drawingml/2006/main">
              <a:ext uri="{FF2B5EF4-FFF2-40B4-BE49-F238E27FC236}">
                <a16:creationId xmlns:a16="http://schemas.microsoft.com/office/drawing/2014/main" id="{E400A31B-1105-41A2-A169-CE3E864F32E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3DAAE92-1D76-4BA3-85B6-094A732E512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from the employee's actual approved task.</a:t>
            </a:r>
          </a:p>
          <a:p xmlns:a="http://schemas.openxmlformats.org/drawingml/2006/main">
            <a:pPr marL="254000" indent="-127000">
              <a:spcAft>
                <a:spcPts val="600"/>
              </a:spcAft>
              <a:buChar char="•"/>
              <a:defRPr sz="1650">
                <a:solidFill>
                  <a:srgbClr val="1D2833"/>
                </a:solidFill>
                <a:latin typeface="Arial"/>
                <a:ea typeface="Arial"/>
                <a:cs typeface="Arial"/>
              </a:defRPr>
            </a:pPr>
            <a:r>
              <a:t>Change the context, output, and constraints for the role.</a:t>
            </a:r>
          </a:p>
          <a:p xmlns:a="http://schemas.openxmlformats.org/drawingml/2006/main">
            <a:pPr marL="254000" indent="-127000">
              <a:spcAft>
                <a:spcPts val="600"/>
              </a:spcAft>
              <a:buChar char="•"/>
              <a:defRPr sz="1650">
                <a:solidFill>
                  <a:srgbClr val="1D2833"/>
                </a:solidFill>
                <a:latin typeface="Arial"/>
                <a:ea typeface="Arial"/>
                <a:cs typeface="Arial"/>
              </a:defRPr>
            </a:pPr>
            <a:r>
              <a:t>Do not use a generic prompt when the evidence and responsibility differ.</a:t>
            </a:r>
          </a:p>
        </p:txBody>
      </p:sp>
      <p:sp>
        <p:nvSpPr>
          <p:cNvPr id="7" name="">
            <a:extLst xmlns:a="http://schemas.openxmlformats.org/drawingml/2006/main">
              <a:ext uri="{FF2B5EF4-FFF2-40B4-BE49-F238E27FC236}">
                <a16:creationId xmlns:a16="http://schemas.microsoft.com/office/drawing/2014/main" id="{E053350E-43E9-4A2A-A36E-66CD1E19F57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CB78C2F-18BC-4DDB-BEE6-A7BA6EB10CB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the tool to describe a synthetic completion-rate change. The constraint says to report the values and period but not claim why the change occurred.</a:t>
            </a:r>
          </a:p>
        </p:txBody>
      </p:sp>
      <p:sp>
        <p:nvSpPr>
          <p:cNvPr id="9" name="">
            <a:extLst xmlns:a="http://schemas.openxmlformats.org/drawingml/2006/main">
              <a:ext uri="{FF2B5EF4-FFF2-40B4-BE49-F238E27FC236}">
                <a16:creationId xmlns:a16="http://schemas.microsoft.com/office/drawing/2014/main" id="{00405162-824B-4B7C-8FC0-FF54E1BB41E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5978C6DC-5182-41CF-8B64-16EF91907C4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notes, program reporting, call-center documentation, compliance drafts, and management briefings.</a:t>
            </a:r>
          </a:p>
        </p:txBody>
      </p:sp>
      <p:sp>
        <p:nvSpPr>
          <p:cNvPr id="11" name="">
            <a:extLst xmlns:a="http://schemas.openxmlformats.org/drawingml/2006/main">
              <a:ext uri="{FF2B5EF4-FFF2-40B4-BE49-F238E27FC236}">
                <a16:creationId xmlns:a16="http://schemas.microsoft.com/office/drawing/2014/main" id="{7CA060AC-5CA6-467E-BAC5-F16FB12B196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00708A50-29A4-456E-8D8E-EF26FFF8BDC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35</a:t>
            </a:r>
          </a:p>
        </p:txBody>
      </p:sp>
    </p:spTree>
    <p:extLst>
      <p:ext uri="{BB962C8B-B14F-4D97-AF65-F5344CB8AC3E}">
        <p14:creationId xmlns:p14="http://schemas.microsoft.com/office/powerpoint/2010/main" val="32453548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0C6437-ACB9-4217-BB2A-0B2DAE3B925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8350FC97-657B-4216-94D6-19F3DA3A34D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 process and practice</a:t>
            </a:r>
          </a:p>
        </p:txBody>
      </p:sp>
      <p:sp>
        <p:nvSpPr>
          <p:cNvPr id="3" name="">
            <a:extLst xmlns:a="http://schemas.openxmlformats.org/drawingml/2006/main">
              <a:ext uri="{FF2B5EF4-FFF2-40B4-BE49-F238E27FC236}">
                <a16:creationId xmlns:a16="http://schemas.microsoft.com/office/drawing/2014/main" id="{4746E607-3D55-4454-8496-B58ECDB99EE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6601720-A674-4B8C-836B-BFAF02E58C8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Identify the role and business need.</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Select a permitted source and tool.</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Choose a role-relevant task and format.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Add limits based on professional responsibility.</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Review the output using the role's normal approval process.</a:t>
            </a:r>
          </a:p>
        </p:txBody>
      </p:sp>
      <p:sp>
        <p:nvSpPr>
          <p:cNvPr id="5" name="">
            <a:extLst xmlns:a="http://schemas.openxmlformats.org/drawingml/2006/main">
              <a:ext uri="{FF2B5EF4-FFF2-40B4-BE49-F238E27FC236}">
                <a16:creationId xmlns:a16="http://schemas.microsoft.com/office/drawing/2014/main" id="{0214A83E-841C-4B8E-B18C-46AF730A303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54C84C2-567D-4B90-83E0-363DD457426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reusable prompt template can expose fields for audience, approved source, required sections, word limit, and prohibited additions. Different roles complete the fields without changing the safety controls.</a:t>
            </a:r>
          </a:p>
        </p:txBody>
      </p:sp>
      <p:sp>
        <p:nvSpPr>
          <p:cNvPr id="7" name="">
            <a:extLst xmlns:a="http://schemas.openxmlformats.org/drawingml/2006/main">
              <a:ext uri="{FF2B5EF4-FFF2-40B4-BE49-F238E27FC236}">
                <a16:creationId xmlns:a16="http://schemas.microsoft.com/office/drawing/2014/main" id="{00205E0B-BF1D-4DF7-BC42-CDC788EADB2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E9158E7-9900-4DCC-9AA5-9D3D7AB0D7D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Reusing another role's prompt without checking the workflow. - Asking for a clinical or causal conclusion that the role or source cannot support. - Forgetting that role-specific output needs role-specific review.</a:t>
            </a:r>
          </a:p>
        </p:txBody>
      </p:sp>
      <p:sp>
        <p:nvSpPr>
          <p:cNvPr id="9" name="">
            <a:extLst xmlns:a="http://schemas.openxmlformats.org/drawingml/2006/main">
              <a:ext uri="{FF2B5EF4-FFF2-40B4-BE49-F238E27FC236}">
                <a16:creationId xmlns:a16="http://schemas.microsoft.com/office/drawing/2014/main" id="{DDFE7468-2489-408F-83DD-71ED5DE19A3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ECBC4C56-A6A7-47CD-99C7-5B73928BE0B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36</a:t>
            </a:r>
          </a:p>
        </p:txBody>
      </p:sp>
    </p:spTree>
    <p:extLst>
      <p:ext uri="{BB962C8B-B14F-4D97-AF65-F5344CB8AC3E}">
        <p14:creationId xmlns:p14="http://schemas.microsoft.com/office/powerpoint/2010/main" val="30207407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70157F-B7D2-410C-9BCE-96CD9E6DC92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3287ECC5-D91D-4CBD-A34E-370DFF8F3DF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a:t>
            </a:r>
          </a:p>
        </p:txBody>
      </p:sp>
      <p:sp>
        <p:nvSpPr>
          <p:cNvPr id="3" name="">
            <a:extLst xmlns:a="http://schemas.openxmlformats.org/drawingml/2006/main">
              <a:ext uri="{FF2B5EF4-FFF2-40B4-BE49-F238E27FC236}">
                <a16:creationId xmlns:a16="http://schemas.microsoft.com/office/drawing/2014/main" id="{0D28B91A-F204-4BD6-B983-6150D97D594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4A25319-5AA1-4912-A3F4-AD662C0C5E0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Weak prompts often omit the audience, source, period, required format, or boundaries. Improve them one element at a time. A second prompt should clarify the task or correct a problem, not hide an inaccurate first result.</a:t>
            </a:r>
          </a:p>
        </p:txBody>
      </p:sp>
      <p:sp>
        <p:nvSpPr>
          <p:cNvPr id="5" name="">
            <a:extLst xmlns:a="http://schemas.openxmlformats.org/drawingml/2006/main">
              <a:ext uri="{FF2B5EF4-FFF2-40B4-BE49-F238E27FC236}">
                <a16:creationId xmlns:a16="http://schemas.microsoft.com/office/drawing/2014/main" id="{0E5782D2-80C7-42C8-BA51-34955700C9F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697EA0E-3AAF-4075-AB89-545A9286274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Identify what the tool had to guess.</a:t>
            </a:r>
          </a:p>
          <a:p xmlns:a="http://schemas.openxmlformats.org/drawingml/2006/main">
            <a:pPr marL="254000" indent="-127000">
              <a:spcAft>
                <a:spcPts val="600"/>
              </a:spcAft>
              <a:buChar char="•"/>
              <a:defRPr sz="1650">
                <a:solidFill>
                  <a:srgbClr val="1D2833"/>
                </a:solidFill>
                <a:latin typeface="Arial"/>
                <a:ea typeface="Arial"/>
                <a:cs typeface="Arial"/>
              </a:defRPr>
            </a:pPr>
            <a:r>
              <a:t>Add missing instructions without adding unnecessary data.</a:t>
            </a:r>
          </a:p>
          <a:p xmlns:a="http://schemas.openxmlformats.org/drawingml/2006/main">
            <a:pPr marL="254000" indent="-127000">
              <a:spcAft>
                <a:spcPts val="600"/>
              </a:spcAft>
              <a:buChar char="•"/>
              <a:defRPr sz="1650">
                <a:solidFill>
                  <a:srgbClr val="1D2833"/>
                </a:solidFill>
                <a:latin typeface="Arial"/>
                <a:ea typeface="Arial"/>
                <a:cs typeface="Arial"/>
              </a:defRPr>
            </a:pPr>
            <a:r>
              <a:t>Compare versions to see which change improved the result.</a:t>
            </a:r>
          </a:p>
        </p:txBody>
      </p:sp>
      <p:sp>
        <p:nvSpPr>
          <p:cNvPr id="7" name="">
            <a:extLst xmlns:a="http://schemas.openxmlformats.org/drawingml/2006/main">
              <a:ext uri="{FF2B5EF4-FFF2-40B4-BE49-F238E27FC236}">
                <a16:creationId xmlns:a16="http://schemas.microsoft.com/office/drawing/2014/main" id="{B9FF0650-01FE-41AA-B93C-AB5C3A70C69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BE35B68-AAC0-4F81-AEFA-CCB38669672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request Summarize this becomes: Summarize the supplied fictional meeting notes for the project team under Decisions, Actions, Owners, and Open Questions. Do not invent owners or deadlines.</a:t>
            </a:r>
          </a:p>
        </p:txBody>
      </p:sp>
      <p:sp>
        <p:nvSpPr>
          <p:cNvPr id="9" name="">
            <a:extLst xmlns:a="http://schemas.openxmlformats.org/drawingml/2006/main">
              <a:ext uri="{FF2B5EF4-FFF2-40B4-BE49-F238E27FC236}">
                <a16:creationId xmlns:a16="http://schemas.microsoft.com/office/drawing/2014/main" id="{73C475F3-482E-403C-9328-8F8601B803D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91F0138-7E27-47AE-861E-2783A96F973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libraries, team templates, training exercises, repeated reporting tasks, and quality improvement.</a:t>
            </a:r>
          </a:p>
        </p:txBody>
      </p:sp>
      <p:sp>
        <p:nvSpPr>
          <p:cNvPr id="11" name="">
            <a:extLst xmlns:a="http://schemas.openxmlformats.org/drawingml/2006/main">
              <a:ext uri="{FF2B5EF4-FFF2-40B4-BE49-F238E27FC236}">
                <a16:creationId xmlns:a16="http://schemas.microsoft.com/office/drawing/2014/main" id="{8B36E1FF-B8D7-4BB6-93AC-2F11EBB84E7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7520748F-C12A-4563-ACDA-BF6BEDB23E6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37</a:t>
            </a:r>
          </a:p>
        </p:txBody>
      </p:sp>
    </p:spTree>
    <p:extLst>
      <p:ext uri="{BB962C8B-B14F-4D97-AF65-F5344CB8AC3E}">
        <p14:creationId xmlns:p14="http://schemas.microsoft.com/office/powerpoint/2010/main" val="40530693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F0044A-57AB-4778-9BB5-BD613AE6FEE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15A40F03-7B38-4033-9092-48ABEEF9FB5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 process and practice</a:t>
            </a:r>
          </a:p>
        </p:txBody>
      </p:sp>
      <p:sp>
        <p:nvSpPr>
          <p:cNvPr id="3" name="">
            <a:extLst xmlns:a="http://schemas.openxmlformats.org/drawingml/2006/main">
              <a:ext uri="{FF2B5EF4-FFF2-40B4-BE49-F238E27FC236}">
                <a16:creationId xmlns:a16="http://schemas.microsoft.com/office/drawing/2014/main" id="{2437D740-9552-407B-A857-A85F9346438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E6F1D4A-8E25-465C-A3BA-56A4B85CE7B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Review the weak output and mark its problems.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Connect each problem to a missing prompt component.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Revise only the necessary instructions.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Run the revised prompt with the same safe test input.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Compare both outputs and keep the clearer version.</a:t>
            </a:r>
          </a:p>
        </p:txBody>
      </p:sp>
      <p:sp>
        <p:nvSpPr>
          <p:cNvPr id="5" name="">
            <a:extLst xmlns:a="http://schemas.openxmlformats.org/drawingml/2006/main">
              <a:ext uri="{FF2B5EF4-FFF2-40B4-BE49-F238E27FC236}">
                <a16:creationId xmlns:a16="http://schemas.microsoft.com/office/drawing/2014/main" id="{E25340CC-20C1-4BB2-9308-D7EE3F50508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8E31A53-F998-40D8-89A1-7D9428EF7EF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versions can be recorded as version 1 and version 2 with the same test input. Comparing their outputs makes the effect of added context and constraints visible.</a:t>
            </a:r>
          </a:p>
        </p:txBody>
      </p:sp>
      <p:sp>
        <p:nvSpPr>
          <p:cNvPr id="7" name="">
            <a:extLst xmlns:a="http://schemas.openxmlformats.org/drawingml/2006/main">
              <a:ext uri="{FF2B5EF4-FFF2-40B4-BE49-F238E27FC236}">
                <a16:creationId xmlns:a16="http://schemas.microsoft.com/office/drawing/2014/main" id="{4E1ECCF6-3F32-41A2-BDCC-B9BE2886CEE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81557E0-02FA-41DD-8BE9-52CDA62848B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Making a prompt longer without making it clearer. - Changing many variables at once and not knowing what helped. - Correcting wording while leaving an unsupported factual request.</a:t>
            </a:r>
          </a:p>
        </p:txBody>
      </p:sp>
      <p:sp>
        <p:nvSpPr>
          <p:cNvPr id="9" name="">
            <a:extLst xmlns:a="http://schemas.openxmlformats.org/drawingml/2006/main">
              <a:ext uri="{FF2B5EF4-FFF2-40B4-BE49-F238E27FC236}">
                <a16:creationId xmlns:a16="http://schemas.microsoft.com/office/drawing/2014/main" id="{BB179B7B-D3A6-400D-A779-1360D6CC498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B7CFB284-7AD7-4D97-9192-587D3D30772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38</a:t>
            </a:r>
          </a:p>
        </p:txBody>
      </p:sp>
    </p:spTree>
    <p:extLst>
      <p:ext uri="{BB962C8B-B14F-4D97-AF65-F5344CB8AC3E}">
        <p14:creationId xmlns:p14="http://schemas.microsoft.com/office/powerpoint/2010/main" val="198943589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69BE39-3E4E-48F7-B2BA-65233E9B44E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965C527A-EA99-4665-829C-2536A0046B1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a:t>
            </a:r>
          </a:p>
        </p:txBody>
      </p:sp>
      <p:sp>
        <p:nvSpPr>
          <p:cNvPr id="3" name="">
            <a:extLst xmlns:a="http://schemas.openxmlformats.org/drawingml/2006/main">
              <a:ext uri="{FF2B5EF4-FFF2-40B4-BE49-F238E27FC236}">
                <a16:creationId xmlns:a16="http://schemas.microsoft.com/office/drawing/2014/main" id="{AE2D7985-05F2-4DAB-87E9-52A782C20A0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5A173B7-638F-48D8-A102-686E5B98912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Even a well-structured prompt can produce an incorrect result. Compare important statements with the source, restore missing information, remove unsupported additions, and confirm that the tone and format fit the intended audience.</a:t>
            </a:r>
          </a:p>
        </p:txBody>
      </p:sp>
      <p:sp>
        <p:nvSpPr>
          <p:cNvPr id="5" name="">
            <a:extLst xmlns:a="http://schemas.openxmlformats.org/drawingml/2006/main">
              <a:ext uri="{FF2B5EF4-FFF2-40B4-BE49-F238E27FC236}">
                <a16:creationId xmlns:a16="http://schemas.microsoft.com/office/drawing/2014/main" id="{1121DFA2-74F9-4F83-B263-F661BB48F71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ECAEAFC-50B8-4939-84C5-AA0FD07E48A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Prompt quality improves probability, not certainty.</a:t>
            </a:r>
          </a:p>
          <a:p xmlns:a="http://schemas.openxmlformats.org/drawingml/2006/main">
            <a:pPr marL="254000" indent="-127000">
              <a:spcAft>
                <a:spcPts val="600"/>
              </a:spcAft>
              <a:buChar char="•"/>
              <a:defRPr sz="1650">
                <a:solidFill>
                  <a:srgbClr val="1D2833"/>
                </a:solidFill>
                <a:latin typeface="Arial"/>
                <a:ea typeface="Arial"/>
                <a:cs typeface="Arial"/>
              </a:defRPr>
            </a:pPr>
            <a:r>
              <a:t>Review accuracy, completeness, tone, privacy, and approval.</a:t>
            </a:r>
          </a:p>
          <a:p xmlns:a="http://schemas.openxmlformats.org/drawingml/2006/main">
            <a:pPr marL="254000" indent="-127000">
              <a:spcAft>
                <a:spcPts val="600"/>
              </a:spcAft>
              <a:buChar char="•"/>
              <a:defRPr sz="1650">
                <a:solidFill>
                  <a:srgbClr val="1D2833"/>
                </a:solidFill>
                <a:latin typeface="Arial"/>
                <a:ea typeface="Arial"/>
                <a:cs typeface="Arial"/>
              </a:defRPr>
            </a:pPr>
            <a:r>
              <a:t>Fix the workflow or prompt when the same error repeats.</a:t>
            </a:r>
          </a:p>
        </p:txBody>
      </p:sp>
      <p:sp>
        <p:nvSpPr>
          <p:cNvPr id="7" name="">
            <a:extLst xmlns:a="http://schemas.openxmlformats.org/drawingml/2006/main">
              <a:ext uri="{FF2B5EF4-FFF2-40B4-BE49-F238E27FC236}">
                <a16:creationId xmlns:a16="http://schemas.microsoft.com/office/drawing/2014/main" id="{57453327-70ED-4850-B4D5-705372DF5F9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62DE654-D8C6-4862-B80A-87DCFB84A22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generated summary assigns Friday as a deadline even though the notes contain no date. The reviewer removes the deadline and marks the item as needing confirmation.</a:t>
            </a:r>
          </a:p>
        </p:txBody>
      </p:sp>
      <p:sp>
        <p:nvSpPr>
          <p:cNvPr id="9" name="">
            <a:extLst xmlns:a="http://schemas.openxmlformats.org/drawingml/2006/main">
              <a:ext uri="{FF2B5EF4-FFF2-40B4-BE49-F238E27FC236}">
                <a16:creationId xmlns:a16="http://schemas.microsoft.com/office/drawing/2014/main" id="{3FAC4A58-8AC8-4160-B517-7AAD2092C9D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DD2DADE-7CCC-4049-B6B5-2F113072183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generated message, summary, report, explanation, translation, and recommendation.</a:t>
            </a:r>
          </a:p>
        </p:txBody>
      </p:sp>
      <p:sp>
        <p:nvSpPr>
          <p:cNvPr id="11" name="">
            <a:extLst xmlns:a="http://schemas.openxmlformats.org/drawingml/2006/main">
              <a:ext uri="{FF2B5EF4-FFF2-40B4-BE49-F238E27FC236}">
                <a16:creationId xmlns:a16="http://schemas.microsoft.com/office/drawing/2014/main" id="{287CB5FE-4EF6-47A5-A97E-7CE1868DE10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16C9AD82-D600-41BD-A3AF-CA15363A62B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39</a:t>
            </a:r>
          </a:p>
        </p:txBody>
      </p:sp>
    </p:spTree>
    <p:extLst>
      <p:ext uri="{BB962C8B-B14F-4D97-AF65-F5344CB8AC3E}">
        <p14:creationId xmlns:p14="http://schemas.microsoft.com/office/powerpoint/2010/main" val="133751763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7CDBF0-9DBD-43A3-BF65-6F9F5BE2BBD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3A286E27-ED26-41ED-A0CF-4596E25EA57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 process and practice</a:t>
            </a:r>
          </a:p>
        </p:txBody>
      </p:sp>
      <p:sp>
        <p:nvSpPr>
          <p:cNvPr id="3" name="">
            <a:extLst xmlns:a="http://schemas.openxmlformats.org/drawingml/2006/main">
              <a:ext uri="{FF2B5EF4-FFF2-40B4-BE49-F238E27FC236}">
                <a16:creationId xmlns:a16="http://schemas.microsoft.com/office/drawing/2014/main" id="{935B3F56-1F8C-4062-B135-388687B1F64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D830D9E-DE03-4222-B81A-1602879988C2}"/>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Keep the source and prompt beside the output.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Check facts, figures, owners, dates, and decisions.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Identify omissions, unsupported additions, and unclear wording.</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Correct the result or revise the prompt.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Repeat the review before approval or sharing.</a:t>
            </a:r>
          </a:p>
        </p:txBody>
      </p:sp>
      <p:sp>
        <p:nvSpPr>
          <p:cNvPr id="5" name="">
            <a:extLst xmlns:a="http://schemas.openxmlformats.org/drawingml/2006/main">
              <a:ext uri="{FF2B5EF4-FFF2-40B4-BE49-F238E27FC236}">
                <a16:creationId xmlns:a16="http://schemas.microsoft.com/office/drawing/2014/main" id="{C9F060D4-AD96-4558-980C-AFCE89D3FF9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4088BA0-DCF9-4954-8FCC-40DBE9C940D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checklist can require every factual sentence to point to a source line or approved data field. Claims without support are flagged for correction or removal.</a:t>
            </a:r>
          </a:p>
        </p:txBody>
      </p:sp>
      <p:sp>
        <p:nvSpPr>
          <p:cNvPr id="7" name="">
            <a:extLst xmlns:a="http://schemas.openxmlformats.org/drawingml/2006/main">
              <a:ext uri="{FF2B5EF4-FFF2-40B4-BE49-F238E27FC236}">
                <a16:creationId xmlns:a16="http://schemas.microsoft.com/office/drawing/2014/main" id="{12BC0944-5111-4571-BC40-196B00E4692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B14BD7B-7C9A-45B6-9DC9-FB6BE16959A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Assuming a well-written prompt guarantees a correct result. - Reviewing only tone and grammar. - Editing the output without correcting a repeatable prompt problem.</a:t>
            </a:r>
          </a:p>
        </p:txBody>
      </p:sp>
      <p:sp>
        <p:nvSpPr>
          <p:cNvPr id="9" name="">
            <a:extLst xmlns:a="http://schemas.openxmlformats.org/drawingml/2006/main">
              <a:ext uri="{FF2B5EF4-FFF2-40B4-BE49-F238E27FC236}">
                <a16:creationId xmlns:a16="http://schemas.microsoft.com/office/drawing/2014/main" id="{649596CA-B59F-47A3-A158-5C23CFFD7EF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616083E0-E175-4135-A966-991F4A0C01B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40</a:t>
            </a:r>
          </a:p>
        </p:txBody>
      </p:sp>
    </p:spTree>
    <p:extLst>
      <p:ext uri="{BB962C8B-B14F-4D97-AF65-F5344CB8AC3E}">
        <p14:creationId xmlns:p14="http://schemas.microsoft.com/office/powerpoint/2010/main" val="2092635274"/>
      </p:ext>
    </p:extLst>
  </p:cSld>
</p:sld>
</file>

<file path=ppt/slides/slide4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4C11CC-B04F-451F-AF5D-45A30D03E956}"/>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5</a:t>
            </a:r>
          </a:p>
        </p:txBody>
      </p:sp>
      <p:sp>
        <p:nvSpPr>
          <p:cNvPr id="2" name="">
            <a:extLst xmlns:a="http://schemas.openxmlformats.org/drawingml/2006/main">
              <a:ext uri="{FF2B5EF4-FFF2-40B4-BE49-F238E27FC236}">
                <a16:creationId xmlns:a16="http://schemas.microsoft.com/office/drawing/2014/main" id="{462B096B-0906-49F0-876D-D041DEDC38AC}"/>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in Daily DWIHN Work</a:t>
            </a:r>
          </a:p>
        </p:txBody>
      </p:sp>
      <p:sp>
        <p:nvSpPr>
          <p:cNvPr id="3" name="">
            <a:extLst xmlns:a="http://schemas.openxmlformats.org/drawingml/2006/main">
              <a:ext uri="{FF2B5EF4-FFF2-40B4-BE49-F238E27FC236}">
                <a16:creationId xmlns:a16="http://schemas.microsoft.com/office/drawing/2014/main" id="{40A050D4-164B-4D95-8680-9309ED6CECAF}"/>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places AI inside complete workplace workflows for drafting, summarizing, reporting, reviewing, approving, and sharing. It is important because generating an output is only one step; the result must still be verified, corrected, approved, and handled properly.</a:t>
            </a:r>
          </a:p>
        </p:txBody>
      </p:sp>
      <p:sp>
        <p:nvSpPr>
          <p:cNvPr id="4" name="">
            <a:extLst xmlns:a="http://schemas.openxmlformats.org/drawingml/2006/main">
              <a:ext uri="{FF2B5EF4-FFF2-40B4-BE49-F238E27FC236}">
                <a16:creationId xmlns:a16="http://schemas.microsoft.com/office/drawing/2014/main" id="{FEBD55C1-3CA7-4DE3-9543-8183619217A5}"/>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BC8A6D61-FCBB-4C85-B5F2-844871B9D40F}"/>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Map a workplace task from source to approved destination.</a:t>
            </a:r>
          </a:p>
          <a:p xmlns:a="http://schemas.openxmlformats.org/drawingml/2006/main">
            <a:pPr marL="254000" indent="-127000">
              <a:spcAft>
                <a:spcPts val="600"/>
              </a:spcAft>
              <a:buChar char="•"/>
              <a:defRPr sz="1500">
                <a:solidFill>
                  <a:srgbClr val="F1F6F8"/>
                </a:solidFill>
                <a:latin typeface="Arial"/>
                <a:ea typeface="Arial"/>
                <a:cs typeface="Arial"/>
              </a:defRPr>
            </a:pPr>
            <a:r>
              <a:t>Select a small, repeatable task whose result can be checked.</a:t>
            </a:r>
          </a:p>
          <a:p xmlns:a="http://schemas.openxmlformats.org/drawingml/2006/main">
            <a:pPr marL="254000" indent="-127000">
              <a:spcAft>
                <a:spcPts val="600"/>
              </a:spcAft>
              <a:buChar char="•"/>
              <a:defRPr sz="1500">
                <a:solidFill>
                  <a:srgbClr val="F1F6F8"/>
                </a:solidFill>
                <a:latin typeface="Arial"/>
                <a:ea typeface="Arial"/>
                <a:cs typeface="Arial"/>
              </a:defRPr>
            </a:pPr>
            <a:r>
              <a:t>Review output for accuracy, completeness, tone, privacy, and approval.</a:t>
            </a:r>
          </a:p>
          <a:p xmlns:a="http://schemas.openxmlformats.org/drawingml/2006/main">
            <a:pPr marL="254000" indent="-127000">
              <a:spcAft>
                <a:spcPts val="600"/>
              </a:spcAft>
              <a:buChar char="•"/>
              <a:defRPr sz="1500">
                <a:solidFill>
                  <a:srgbClr val="F1F6F8"/>
                </a:solidFill>
                <a:latin typeface="Arial"/>
                <a:ea typeface="Arial"/>
                <a:cs typeface="Arial"/>
              </a:defRPr>
            </a:pPr>
            <a:r>
              <a:t>Measure usefulness using the complete task, including corrections.</a:t>
            </a:r>
          </a:p>
        </p:txBody>
      </p:sp>
      <p:sp>
        <p:nvSpPr>
          <p:cNvPr id="6" name="">
            <a:extLst xmlns:a="http://schemas.openxmlformats.org/drawingml/2006/main">
              <a:ext uri="{FF2B5EF4-FFF2-40B4-BE49-F238E27FC236}">
                <a16:creationId xmlns:a16="http://schemas.microsoft.com/office/drawing/2014/main" id="{9A5A5751-C3DA-4356-AA57-1B999C037D72}"/>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91BD1CBD-CDDB-4A99-8C35-C861630C8F50}"/>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Role-specific AI workflows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Writing emails, summaries, and reports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Reviewing and editing AI output</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The daily AI checklist</a:t>
            </a:r>
          </a:p>
        </p:txBody>
      </p:sp>
      <p:sp>
        <p:nvSpPr>
          <p:cNvPr id="8" name="">
            <a:extLst xmlns:a="http://schemas.openxmlformats.org/drawingml/2006/main">
              <a:ext uri="{FF2B5EF4-FFF2-40B4-BE49-F238E27FC236}">
                <a16:creationId xmlns:a16="http://schemas.microsoft.com/office/drawing/2014/main" id="{38B1D090-37A0-4824-A4F4-E265B3EDB5E9}"/>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1-4    Level: Intermediate</a:t>
            </a:r>
          </a:p>
        </p:txBody>
      </p:sp>
      <p:sp>
        <p:nvSpPr>
          <p:cNvPr id="9" name="">
            <a:extLst xmlns:a="http://schemas.openxmlformats.org/drawingml/2006/main">
              <a:ext uri="{FF2B5EF4-FFF2-40B4-BE49-F238E27FC236}">
                <a16:creationId xmlns:a16="http://schemas.microsoft.com/office/drawing/2014/main" id="{986CD6BD-3C1B-4C8D-AD9B-31217C7F68B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5</a:t>
            </a:r>
          </a:p>
        </p:txBody>
      </p:sp>
      <p:sp>
        <p:nvSpPr>
          <p:cNvPr id="10" name="">
            <a:extLst xmlns:a="http://schemas.openxmlformats.org/drawingml/2006/main">
              <a:ext uri="{FF2B5EF4-FFF2-40B4-BE49-F238E27FC236}">
                <a16:creationId xmlns:a16="http://schemas.microsoft.com/office/drawing/2014/main" id="{9F0F4BF6-4134-4DB2-A1BE-AEB03514B88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41</a:t>
            </a:r>
          </a:p>
        </p:txBody>
      </p:sp>
    </p:spTree>
    <p:extLst>
      <p:ext uri="{BB962C8B-B14F-4D97-AF65-F5344CB8AC3E}">
        <p14:creationId xmlns:p14="http://schemas.microsoft.com/office/powerpoint/2010/main" val="27038445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A7159A0-E699-4112-8B6C-8B29BBFCB8F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A64AA985-A22F-440D-AE55-56A43DD329E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a:t>
            </a:r>
          </a:p>
        </p:txBody>
      </p:sp>
      <p:sp>
        <p:nvSpPr>
          <p:cNvPr id="3" name="">
            <a:extLst xmlns:a="http://schemas.openxmlformats.org/drawingml/2006/main">
              <a:ext uri="{FF2B5EF4-FFF2-40B4-BE49-F238E27FC236}">
                <a16:creationId xmlns:a16="http://schemas.microsoft.com/office/drawing/2014/main" id="{74E67C0B-A2A8-480C-85A5-236552B5DB7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A1C128D-179E-42D6-A6F0-2D72E3D84A7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 workflow connects a legitimate business need, approved source, permitted tool, clear instruction, human review, required approval, and authorized destination. The details differ by role, but human ownership remains constant.</a:t>
            </a:r>
          </a:p>
        </p:txBody>
      </p:sp>
      <p:sp>
        <p:nvSpPr>
          <p:cNvPr id="5" name="">
            <a:extLst xmlns:a="http://schemas.openxmlformats.org/drawingml/2006/main">
              <a:ext uri="{FF2B5EF4-FFF2-40B4-BE49-F238E27FC236}">
                <a16:creationId xmlns:a16="http://schemas.microsoft.com/office/drawing/2014/main" id="{0B9CE8C6-E7E0-48E8-BC4D-4138B0DD832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50517C0-A100-4A4E-83EC-8A0CACB92A3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Begin with the business task, not with the AI tool.</a:t>
            </a:r>
          </a:p>
          <a:p xmlns:a="http://schemas.openxmlformats.org/drawingml/2006/main">
            <a:pPr marL="254000" indent="-127000">
              <a:spcAft>
                <a:spcPts val="600"/>
              </a:spcAft>
              <a:buChar char="•"/>
              <a:defRPr sz="1650">
                <a:solidFill>
                  <a:srgbClr val="1D2833"/>
                </a:solidFill>
                <a:latin typeface="Arial"/>
                <a:ea typeface="Arial"/>
                <a:cs typeface="Arial"/>
              </a:defRPr>
            </a:pPr>
            <a:r>
              <a:t>Define the source, owner, reviewer, and destination.</a:t>
            </a:r>
          </a:p>
          <a:p xmlns:a="http://schemas.openxmlformats.org/drawingml/2006/main">
            <a:pPr marL="254000" indent="-127000">
              <a:spcAft>
                <a:spcPts val="600"/>
              </a:spcAft>
              <a:buChar char="•"/>
              <a:defRPr sz="1650">
                <a:solidFill>
                  <a:srgbClr val="1D2833"/>
                </a:solidFill>
                <a:latin typeface="Arial"/>
                <a:ea typeface="Arial"/>
                <a:cs typeface="Arial"/>
              </a:defRPr>
            </a:pPr>
            <a:r>
              <a:t>Preserve all existing approval and professional responsibilities.</a:t>
            </a:r>
          </a:p>
        </p:txBody>
      </p:sp>
      <p:sp>
        <p:nvSpPr>
          <p:cNvPr id="7" name="">
            <a:extLst xmlns:a="http://schemas.openxmlformats.org/drawingml/2006/main">
              <a:ext uri="{FF2B5EF4-FFF2-40B4-BE49-F238E27FC236}">
                <a16:creationId xmlns:a16="http://schemas.microsoft.com/office/drawing/2014/main" id="{92DC5880-EDCE-413D-8866-7B10DD315E4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8710BC1-8746-4D1E-9172-7BB06B87A72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turns fictional meeting notes into an action summary. A program manager uses synthetic dashboard figures to draft a performance narrative. Each follows a different workflow but checks the result against its source.</a:t>
            </a:r>
          </a:p>
        </p:txBody>
      </p:sp>
      <p:sp>
        <p:nvSpPr>
          <p:cNvPr id="9" name="">
            <a:extLst xmlns:a="http://schemas.openxmlformats.org/drawingml/2006/main">
              <a:ext uri="{FF2B5EF4-FFF2-40B4-BE49-F238E27FC236}">
                <a16:creationId xmlns:a16="http://schemas.microsoft.com/office/drawing/2014/main" id="{BC9DF807-6C61-465B-9B6B-C4CFFCB479B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94F6C8A-7264-48E4-9A06-C218AB5AB37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work, call-center documentation, program analysis, compliance drafts, and management reporting.</a:t>
            </a:r>
          </a:p>
        </p:txBody>
      </p:sp>
      <p:sp>
        <p:nvSpPr>
          <p:cNvPr id="11" name="">
            <a:extLst xmlns:a="http://schemas.openxmlformats.org/drawingml/2006/main">
              <a:ext uri="{FF2B5EF4-FFF2-40B4-BE49-F238E27FC236}">
                <a16:creationId xmlns:a16="http://schemas.microsoft.com/office/drawing/2014/main" id="{704BDED1-9FD4-4BC8-AB8E-455340C7B06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2C1B8629-BF3B-41A3-87E9-004ED6105F3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42</a:t>
            </a:r>
          </a:p>
        </p:txBody>
      </p:sp>
    </p:spTree>
    <p:extLst>
      <p:ext uri="{BB962C8B-B14F-4D97-AF65-F5344CB8AC3E}">
        <p14:creationId xmlns:p14="http://schemas.microsoft.com/office/powerpoint/2010/main" val="182174284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7D547D-FD87-492A-B240-2C83302678C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DBD15350-79DD-4DDA-B21D-89EAD836BDB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 process and practice</a:t>
            </a:r>
          </a:p>
        </p:txBody>
      </p:sp>
      <p:sp>
        <p:nvSpPr>
          <p:cNvPr id="3" name="">
            <a:extLst xmlns:a="http://schemas.openxmlformats.org/drawingml/2006/main">
              <a:ext uri="{FF2B5EF4-FFF2-40B4-BE49-F238E27FC236}">
                <a16:creationId xmlns:a16="http://schemas.microsoft.com/office/drawing/2014/main" id="{AD12063F-2D85-4126-BA28-E92139AA914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EB4F7EB-C1A2-4F16-9601-74C9138111F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Define the task and expected result.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Identify the approved source and tool.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Assign the employee and reviewer.</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Generate and verify the output.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Approve, store, share, and monitor through existing processes.</a:t>
            </a:r>
          </a:p>
        </p:txBody>
      </p:sp>
      <p:sp>
        <p:nvSpPr>
          <p:cNvPr id="5" name="">
            <a:extLst xmlns:a="http://schemas.openxmlformats.org/drawingml/2006/main">
              <a:ext uri="{FF2B5EF4-FFF2-40B4-BE49-F238E27FC236}">
                <a16:creationId xmlns:a16="http://schemas.microsoft.com/office/drawing/2014/main" id="{30F04E3F-9E80-43D4-B914-22D9428B79B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91075E6-74AD-4224-993A-7FC2BF4D60F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can be documented as ordered states: source received, permission confirmed, AI draft created, source comparison completed, reviewer approved, and final result stored in an authorized location.</a:t>
            </a:r>
          </a:p>
        </p:txBody>
      </p:sp>
      <p:sp>
        <p:nvSpPr>
          <p:cNvPr id="7" name="">
            <a:extLst xmlns:a="http://schemas.openxmlformats.org/drawingml/2006/main">
              <a:ext uri="{FF2B5EF4-FFF2-40B4-BE49-F238E27FC236}">
                <a16:creationId xmlns:a16="http://schemas.microsoft.com/office/drawing/2014/main" id="{1B7C5107-3076-45AD-90AA-1D8D2E729A6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070BFE7-4E51-4164-86D2-C243D77FCE3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Starting with a tool and searching for a task. - Leaving the reviewer or output destination undefined. - Assuming AI removes a required approval.</a:t>
            </a:r>
          </a:p>
        </p:txBody>
      </p:sp>
      <p:sp>
        <p:nvSpPr>
          <p:cNvPr id="9" name="">
            <a:extLst xmlns:a="http://schemas.openxmlformats.org/drawingml/2006/main">
              <a:ext uri="{FF2B5EF4-FFF2-40B4-BE49-F238E27FC236}">
                <a16:creationId xmlns:a16="http://schemas.microsoft.com/office/drawing/2014/main" id="{4313B0F0-2382-4FB6-94CE-4FAB7170D1C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61E151C1-E73D-4092-AD95-5E8C40D633E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43</a:t>
            </a:r>
          </a:p>
        </p:txBody>
      </p:sp>
    </p:spTree>
    <p:extLst>
      <p:ext uri="{BB962C8B-B14F-4D97-AF65-F5344CB8AC3E}">
        <p14:creationId xmlns:p14="http://schemas.microsoft.com/office/powerpoint/2010/main" val="180251806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D525E8-5482-4F2A-928B-FEFEEB3E80F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A54D3F1E-BE85-437F-A925-3626D5460AE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a:t>
            </a:r>
          </a:p>
        </p:txBody>
      </p:sp>
      <p:sp>
        <p:nvSpPr>
          <p:cNvPr id="3" name="">
            <a:extLst xmlns:a="http://schemas.openxmlformats.org/drawingml/2006/main">
              <a:ext uri="{FF2B5EF4-FFF2-40B4-BE49-F238E27FC236}">
                <a16:creationId xmlns:a16="http://schemas.microsoft.com/office/drawing/2014/main" id="{E44443D4-2411-410E-9429-8367D1AE0A0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56E35F2-8F53-4A6E-9F18-3B074AA709D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a first draft when the employee supplies confirmed facts and a clear format. The employee should preserve decisions, responsibilities, open questions, and limitations rather than focusing only on polished language.</a:t>
            </a:r>
          </a:p>
        </p:txBody>
      </p:sp>
      <p:sp>
        <p:nvSpPr>
          <p:cNvPr id="5" name="">
            <a:extLst xmlns:a="http://schemas.openxmlformats.org/drawingml/2006/main">
              <a:ext uri="{FF2B5EF4-FFF2-40B4-BE49-F238E27FC236}">
                <a16:creationId xmlns:a16="http://schemas.microsoft.com/office/drawing/2014/main" id="{1CB708EB-E743-458D-BE31-AB9AFE84BCC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4F50B92-4BB0-4CF6-8DF3-47C7E0EE6A7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Supply confirmed facts and a defined audience.</a:t>
            </a:r>
          </a:p>
          <a:p xmlns:a="http://schemas.openxmlformats.org/drawingml/2006/main">
            <a:pPr marL="254000" indent="-127000">
              <a:spcAft>
                <a:spcPts val="600"/>
              </a:spcAft>
              <a:buChar char="•"/>
              <a:defRPr sz="1650">
                <a:solidFill>
                  <a:srgbClr val="1D2833"/>
                </a:solidFill>
                <a:latin typeface="Arial"/>
                <a:ea typeface="Arial"/>
                <a:cs typeface="Arial"/>
              </a:defRPr>
            </a:pPr>
            <a:r>
              <a:t>Ask for a structure that can be checked.</a:t>
            </a:r>
          </a:p>
          <a:p xmlns:a="http://schemas.openxmlformats.org/drawingml/2006/main">
            <a:pPr marL="254000" indent="-127000">
              <a:spcAft>
                <a:spcPts val="600"/>
              </a:spcAft>
              <a:buChar char="•"/>
              <a:defRPr sz="1650">
                <a:solidFill>
                  <a:srgbClr val="1D2833"/>
                </a:solidFill>
                <a:latin typeface="Arial"/>
                <a:ea typeface="Arial"/>
                <a:cs typeface="Arial"/>
              </a:defRPr>
            </a:pPr>
            <a:r>
              <a:t>Preserve uncertainty and do not invent missing details.</a:t>
            </a:r>
          </a:p>
        </p:txBody>
      </p:sp>
      <p:sp>
        <p:nvSpPr>
          <p:cNvPr id="7" name="">
            <a:extLst xmlns:a="http://schemas.openxmlformats.org/drawingml/2006/main">
              <a:ext uri="{FF2B5EF4-FFF2-40B4-BE49-F238E27FC236}">
                <a16:creationId xmlns:a16="http://schemas.microsoft.com/office/drawing/2014/main" id="{C0DCAB23-D92A-4443-A3F3-F99CC1201CB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8E5467E-7A9B-4CAB-BEA9-F85701814DF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training reminder must include the confirmed time and optional attendance. The draft is rejected when it adds an unconfirmed room number, even though the rest of the email sounds professional.</a:t>
            </a:r>
          </a:p>
        </p:txBody>
      </p:sp>
      <p:sp>
        <p:nvSpPr>
          <p:cNvPr id="9" name="">
            <a:extLst xmlns:a="http://schemas.openxmlformats.org/drawingml/2006/main">
              <a:ext uri="{FF2B5EF4-FFF2-40B4-BE49-F238E27FC236}">
                <a16:creationId xmlns:a16="http://schemas.microsoft.com/office/drawing/2014/main" id="{B633897E-5BFA-43CD-8252-265CCE2BC45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0851BD5-FEB7-4C85-8337-B1866735D17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reminders, internal memos, meeting summaries, weekly reports, policy drafts, public-information drafts, and leadership updates.</a:t>
            </a:r>
          </a:p>
        </p:txBody>
      </p:sp>
      <p:sp>
        <p:nvSpPr>
          <p:cNvPr id="11" name="">
            <a:extLst xmlns:a="http://schemas.openxmlformats.org/drawingml/2006/main">
              <a:ext uri="{FF2B5EF4-FFF2-40B4-BE49-F238E27FC236}">
                <a16:creationId xmlns:a16="http://schemas.microsoft.com/office/drawing/2014/main" id="{FC3EFDAE-59FC-4ECE-BC07-CCFBA467438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B67FA8A0-B34C-48D0-AAFB-8D2282EE075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44</a:t>
            </a:r>
          </a:p>
        </p:txBody>
      </p:sp>
    </p:spTree>
    <p:extLst>
      <p:ext uri="{BB962C8B-B14F-4D97-AF65-F5344CB8AC3E}">
        <p14:creationId xmlns:p14="http://schemas.microsoft.com/office/powerpoint/2010/main" val="59430458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4FC3F8-3730-4949-81C4-826EB766DD9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C17D2AD9-79AC-4A96-894C-45219672BC2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 process and practice</a:t>
            </a:r>
          </a:p>
        </p:txBody>
      </p:sp>
      <p:sp>
        <p:nvSpPr>
          <p:cNvPr id="3" name="">
            <a:extLst xmlns:a="http://schemas.openxmlformats.org/drawingml/2006/main">
              <a:ext uri="{FF2B5EF4-FFF2-40B4-BE49-F238E27FC236}">
                <a16:creationId xmlns:a16="http://schemas.microsoft.com/office/drawing/2014/main" id="{C3087589-ADAA-48FE-A303-CADBE846537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815EB6D-38AD-4B99-B4F1-7EC29992515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Gather the approved facts or notes.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Specify the audience, purpose, and output structure.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Generate the first draft.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Compare names, dates, figures, decisions, and actions with the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Revise and send through the normal review process.</a:t>
            </a:r>
          </a:p>
        </p:txBody>
      </p:sp>
      <p:sp>
        <p:nvSpPr>
          <p:cNvPr id="5" name="">
            <a:extLst xmlns:a="http://schemas.openxmlformats.org/drawingml/2006/main">
              <a:ext uri="{FF2B5EF4-FFF2-40B4-BE49-F238E27FC236}">
                <a16:creationId xmlns:a16="http://schemas.microsoft.com/office/drawing/2014/main" id="{9142A869-AF79-4740-B017-434E1BE7F76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B3F8B5B-A549-42F4-920C-6917C606B15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report prompt may require fixed sections such as period, measures, observations, limitations, actions, and owners. Structured sections reduce the chance that essential information is silently omitted.</a:t>
            </a:r>
          </a:p>
        </p:txBody>
      </p:sp>
      <p:sp>
        <p:nvSpPr>
          <p:cNvPr id="7" name="">
            <a:extLst xmlns:a="http://schemas.openxmlformats.org/drawingml/2006/main">
              <a:ext uri="{FF2B5EF4-FFF2-40B4-BE49-F238E27FC236}">
                <a16:creationId xmlns:a16="http://schemas.microsoft.com/office/drawing/2014/main" id="{74EC1DB6-F916-40DA-8D2E-6B12CBFADFB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434CE42-92EE-4B8E-B914-D7D10E0F718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Asking AI to fill gaps with reasonable assumptions. - Preserving polished sentences while losing open questions. - Sending the first draft without source comparison.</a:t>
            </a:r>
          </a:p>
        </p:txBody>
      </p:sp>
      <p:sp>
        <p:nvSpPr>
          <p:cNvPr id="9" name="">
            <a:extLst xmlns:a="http://schemas.openxmlformats.org/drawingml/2006/main">
              <a:ext uri="{FF2B5EF4-FFF2-40B4-BE49-F238E27FC236}">
                <a16:creationId xmlns:a16="http://schemas.microsoft.com/office/drawing/2014/main" id="{80AC6A3A-F741-4F0E-A599-C13671AD052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FE8C6EC8-CC67-4400-B5F2-B3AEFB6F1C2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45</a:t>
            </a:r>
          </a:p>
        </p:txBody>
      </p:sp>
    </p:spTree>
    <p:extLst>
      <p:ext uri="{BB962C8B-B14F-4D97-AF65-F5344CB8AC3E}">
        <p14:creationId xmlns:p14="http://schemas.microsoft.com/office/powerpoint/2010/main" val="113821519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3E4BB1-F000-4EFD-A3A9-730B4350242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E8B7CED9-B8A1-4BC5-B8B1-F703E40AC91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a:t>
            </a:r>
          </a:p>
        </p:txBody>
      </p:sp>
      <p:sp>
        <p:nvSpPr>
          <p:cNvPr id="3" name="">
            <a:extLst xmlns:a="http://schemas.openxmlformats.org/drawingml/2006/main">
              <a:ext uri="{FF2B5EF4-FFF2-40B4-BE49-F238E27FC236}">
                <a16:creationId xmlns:a16="http://schemas.microsoft.com/office/drawing/2014/main" id="{52628DB8-25ED-4988-A8F3-1583C11661C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1FD5393-8F31-4ADB-9BFC-F6BB0CFF1D3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65"/>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Review accuracy, completeness, tone, accessibility, privacy, and approval. Check names, dates, numbers, commitments, and factual claims against the source. Correcting grammar alone is not enough.</a:t>
            </a:r>
          </a:p>
        </p:txBody>
      </p:sp>
      <p:sp>
        <p:nvSpPr>
          <p:cNvPr id="5" name="">
            <a:extLst xmlns:a="http://schemas.openxmlformats.org/drawingml/2006/main">
              <a:ext uri="{FF2B5EF4-FFF2-40B4-BE49-F238E27FC236}">
                <a16:creationId xmlns:a16="http://schemas.microsoft.com/office/drawing/2014/main" id="{8F664221-A35E-40BC-BEFE-05C423BF9B4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AC1737D-39DD-4196-B151-9DA473A8C7F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Review both what is present and what is missing.</a:t>
            </a:r>
          </a:p>
          <a:p xmlns:a="http://schemas.openxmlformats.org/drawingml/2006/main">
            <a:pPr marL="254000" indent="-127000">
              <a:spcAft>
                <a:spcPts val="600"/>
              </a:spcAft>
              <a:buChar char="•"/>
              <a:defRPr sz="1650">
                <a:solidFill>
                  <a:srgbClr val="1D2833"/>
                </a:solidFill>
                <a:latin typeface="Arial"/>
                <a:ea typeface="Arial"/>
                <a:cs typeface="Arial"/>
              </a:defRPr>
            </a:pPr>
            <a:r>
              <a:t>Treat every factual statement as a claim that needs support.</a:t>
            </a:r>
          </a:p>
          <a:p xmlns:a="http://schemas.openxmlformats.org/drawingml/2006/main">
            <a:pPr marL="254000" indent="-127000">
              <a:spcAft>
                <a:spcPts val="600"/>
              </a:spcAft>
              <a:buChar char="•"/>
              <a:defRPr sz="1650">
                <a:solidFill>
                  <a:srgbClr val="1D2833"/>
                </a:solidFill>
                <a:latin typeface="Arial"/>
                <a:ea typeface="Arial"/>
                <a:cs typeface="Arial"/>
              </a:defRPr>
            </a:pPr>
            <a:r>
              <a:t>Check whether the final output is appropriate for its audience and destination.</a:t>
            </a:r>
          </a:p>
        </p:txBody>
      </p:sp>
      <p:sp>
        <p:nvSpPr>
          <p:cNvPr id="7" name="">
            <a:extLst xmlns:a="http://schemas.openxmlformats.org/drawingml/2006/main">
              <a:ext uri="{FF2B5EF4-FFF2-40B4-BE49-F238E27FC236}">
                <a16:creationId xmlns:a16="http://schemas.microsoft.com/office/drawing/2014/main" id="{945D982D-DE8B-430D-9703-57ED4300E77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21FCAB0-3228-448D-A3BC-6B90A57B9DC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meeting summary captures all decisions but omits an unresolved staffing question. The reviewer restores the question because leaving it out would give readers a false impression that the issue was settled.</a:t>
            </a:r>
          </a:p>
        </p:txBody>
      </p:sp>
      <p:sp>
        <p:nvSpPr>
          <p:cNvPr id="9" name="">
            <a:extLst xmlns:a="http://schemas.openxmlformats.org/drawingml/2006/main">
              <a:ext uri="{FF2B5EF4-FFF2-40B4-BE49-F238E27FC236}">
                <a16:creationId xmlns:a16="http://schemas.microsoft.com/office/drawing/2014/main" id="{1825A321-23D8-4A96-A8F6-A9AA83FE6A3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A0C0998-66EE-43C5-91C0-3F65EE0D69E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AI-generated draft, summary, chart narrative, call record, recommendation, translation, and exported report.</a:t>
            </a:r>
          </a:p>
        </p:txBody>
      </p:sp>
      <p:sp>
        <p:nvSpPr>
          <p:cNvPr id="11" name="">
            <a:extLst xmlns:a="http://schemas.openxmlformats.org/drawingml/2006/main">
              <a:ext uri="{FF2B5EF4-FFF2-40B4-BE49-F238E27FC236}">
                <a16:creationId xmlns:a16="http://schemas.microsoft.com/office/drawing/2014/main" id="{63C52ED5-2255-4DD3-B325-A282A7DFEF5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3A0AA116-4DB5-4CF4-8E0D-8AA82A3EBBC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46</a:t>
            </a:r>
          </a:p>
        </p:txBody>
      </p:sp>
    </p:spTree>
    <p:extLst>
      <p:ext uri="{BB962C8B-B14F-4D97-AF65-F5344CB8AC3E}">
        <p14:creationId xmlns:p14="http://schemas.microsoft.com/office/powerpoint/2010/main" val="189177116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5B5626F-3FFB-4CFA-9642-3AE01E50C54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EB8EDE56-AA4B-4643-90A2-8DF99E2DE7B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 process and practice</a:t>
            </a:r>
          </a:p>
        </p:txBody>
      </p:sp>
      <p:sp>
        <p:nvSpPr>
          <p:cNvPr id="3" name="">
            <a:extLst xmlns:a="http://schemas.openxmlformats.org/drawingml/2006/main">
              <a:ext uri="{FF2B5EF4-FFF2-40B4-BE49-F238E27FC236}">
                <a16:creationId xmlns:a16="http://schemas.microsoft.com/office/drawing/2014/main" id="{DE2BFD2A-7C83-4AAD-ACE0-E61712F3069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372235A-4FE2-4091-ADC0-D5C449C59B7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Place the source beside the AI output.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Verify factual claims and calculations.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Find missing decisions, actions, owners, or limitations.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Check tone, readability, privacy, recipients, and approval.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Correct, reject, or escalate the output.</a:t>
            </a:r>
          </a:p>
        </p:txBody>
      </p:sp>
      <p:sp>
        <p:nvSpPr>
          <p:cNvPr id="5" name="">
            <a:extLst xmlns:a="http://schemas.openxmlformats.org/drawingml/2006/main">
              <a:ext uri="{FF2B5EF4-FFF2-40B4-BE49-F238E27FC236}">
                <a16:creationId xmlns:a16="http://schemas.microsoft.com/office/drawing/2014/main" id="{213F26A9-C091-40F9-8A80-107D293F197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81F8540-A64D-4AE0-88E1-F8AA5B352C2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interface may label statements as supported, needs editing, unsupported, or missing. These statuses make the review decision visible and auditable.</a:t>
            </a:r>
          </a:p>
        </p:txBody>
      </p:sp>
      <p:sp>
        <p:nvSpPr>
          <p:cNvPr id="7" name="">
            <a:extLst xmlns:a="http://schemas.openxmlformats.org/drawingml/2006/main">
              <a:ext uri="{FF2B5EF4-FFF2-40B4-BE49-F238E27FC236}">
                <a16:creationId xmlns:a16="http://schemas.microsoft.com/office/drawing/2014/main" id="{670777FE-A68F-4CF9-9133-9E3D80C9F08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1989866-B574-4669-89C5-A352BA10FAF7}"/>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Reviewing only spelling and tone. - Correcting visible errors without checking omissions. - Assuming a human-edited output automatically used a permitted workflow.</a:t>
            </a:r>
          </a:p>
        </p:txBody>
      </p:sp>
      <p:sp>
        <p:nvSpPr>
          <p:cNvPr id="9" name="">
            <a:extLst xmlns:a="http://schemas.openxmlformats.org/drawingml/2006/main">
              <a:ext uri="{FF2B5EF4-FFF2-40B4-BE49-F238E27FC236}">
                <a16:creationId xmlns:a16="http://schemas.microsoft.com/office/drawing/2014/main" id="{AB206428-6720-4253-B928-AC4D1501FE0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70D18218-76F4-455E-B41C-3367EB4D24D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47</a:t>
            </a:r>
          </a:p>
        </p:txBody>
      </p:sp>
    </p:spTree>
    <p:extLst>
      <p:ext uri="{BB962C8B-B14F-4D97-AF65-F5344CB8AC3E}">
        <p14:creationId xmlns:p14="http://schemas.microsoft.com/office/powerpoint/2010/main" val="117514007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432CB9D-8AB9-4905-93AD-5A9292A2E8D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6AFB9A8E-4227-4095-8EB7-E4ED01B42DB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a:t>
            </a:r>
          </a:p>
        </p:txBody>
      </p:sp>
      <p:sp>
        <p:nvSpPr>
          <p:cNvPr id="3" name="">
            <a:extLst xmlns:a="http://schemas.openxmlformats.org/drawingml/2006/main">
              <a:ext uri="{FF2B5EF4-FFF2-40B4-BE49-F238E27FC236}">
                <a16:creationId xmlns:a16="http://schemas.microsoft.com/office/drawing/2014/main" id="{74239B69-3509-40AA-8064-3AFBE942BF9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53FEED7-42DB-43EF-9739-930A131F502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use, confirm permission and prepare the source. During use, provide clear instructions and avoid unnecessary information. After use, verify the output, obtain approval, and store or share it through the authorized route.</a:t>
            </a:r>
          </a:p>
        </p:txBody>
      </p:sp>
      <p:sp>
        <p:nvSpPr>
          <p:cNvPr id="5" name="">
            <a:extLst xmlns:a="http://schemas.openxmlformats.org/drawingml/2006/main">
              <a:ext uri="{FF2B5EF4-FFF2-40B4-BE49-F238E27FC236}">
                <a16:creationId xmlns:a16="http://schemas.microsoft.com/office/drawing/2014/main" id="{DD0F047F-6AD4-4792-8240-9135413B159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0AD64B2-3594-4FF6-A972-A18CEC6B7A5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the checklist before, during, and after the AI step.</a:t>
            </a:r>
          </a:p>
          <a:p xmlns:a="http://schemas.openxmlformats.org/drawingml/2006/main">
            <a:pPr marL="254000" indent="-127000">
              <a:spcAft>
                <a:spcPts val="600"/>
              </a:spcAft>
              <a:buChar char="•"/>
              <a:defRPr sz="1650">
                <a:solidFill>
                  <a:srgbClr val="1D2833"/>
                </a:solidFill>
                <a:latin typeface="Arial"/>
                <a:ea typeface="Arial"/>
                <a:cs typeface="Arial"/>
              </a:defRPr>
            </a:pPr>
            <a:r>
              <a:t>A safe input does not guarantee an accurate output.</a:t>
            </a:r>
          </a:p>
          <a:p xmlns:a="http://schemas.openxmlformats.org/drawingml/2006/main">
            <a:pPr marL="254000" indent="-127000">
              <a:spcAft>
                <a:spcPts val="600"/>
              </a:spcAft>
              <a:buChar char="•"/>
              <a:defRPr sz="1650">
                <a:solidFill>
                  <a:srgbClr val="1D2833"/>
                </a:solidFill>
                <a:latin typeface="Arial"/>
                <a:ea typeface="Arial"/>
                <a:cs typeface="Arial"/>
              </a:defRPr>
            </a:pPr>
            <a:r>
              <a:t>Complete the workflow only after approval and correct handling.</a:t>
            </a:r>
          </a:p>
        </p:txBody>
      </p:sp>
      <p:sp>
        <p:nvSpPr>
          <p:cNvPr id="7" name="">
            <a:extLst xmlns:a="http://schemas.openxmlformats.org/drawingml/2006/main">
              <a:ext uri="{FF2B5EF4-FFF2-40B4-BE49-F238E27FC236}">
                <a16:creationId xmlns:a16="http://schemas.microsoft.com/office/drawing/2014/main" id="{780903AE-AC06-4876-876E-BBF92E91C09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F9338A6-E1E3-4FFD-856F-AC0585D1BC2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sending a drafted memo, the employee checks the organizational account, verifies every claim, confirms the intended recipients, obtains the normal review, and saves the final version in the approved location.</a:t>
            </a:r>
          </a:p>
        </p:txBody>
      </p:sp>
      <p:sp>
        <p:nvSpPr>
          <p:cNvPr id="9" name="">
            <a:extLst xmlns:a="http://schemas.openxmlformats.org/drawingml/2006/main">
              <a:ext uri="{FF2B5EF4-FFF2-40B4-BE49-F238E27FC236}">
                <a16:creationId xmlns:a16="http://schemas.microsoft.com/office/drawing/2014/main" id="{A95209BF-E800-44F7-A25A-54CDE7D3701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7401601-CEED-49D4-ADD5-28560D9B2886}"/>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Daily drafting, summarization, analytics, meeting support, call documentation, and any repeated AI-assisted task.</a:t>
            </a:r>
          </a:p>
        </p:txBody>
      </p:sp>
      <p:sp>
        <p:nvSpPr>
          <p:cNvPr id="11" name="">
            <a:extLst xmlns:a="http://schemas.openxmlformats.org/drawingml/2006/main">
              <a:ext uri="{FF2B5EF4-FFF2-40B4-BE49-F238E27FC236}">
                <a16:creationId xmlns:a16="http://schemas.microsoft.com/office/drawing/2014/main" id="{304D7868-38E1-468B-8210-A3D448255D4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DA9F356B-67CD-43D4-95BC-7640EE5AFEA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48</a:t>
            </a:r>
          </a:p>
        </p:txBody>
      </p:sp>
    </p:spTree>
    <p:extLst>
      <p:ext uri="{BB962C8B-B14F-4D97-AF65-F5344CB8AC3E}">
        <p14:creationId xmlns:p14="http://schemas.microsoft.com/office/powerpoint/2010/main" val="111659594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7CB31F-E96D-42DE-AC91-8D53C2EC082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0B84FFFE-F848-4E7B-905E-B051CA49B36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 process and practice</a:t>
            </a:r>
          </a:p>
        </p:txBody>
      </p:sp>
      <p:sp>
        <p:nvSpPr>
          <p:cNvPr id="3" name="">
            <a:extLst xmlns:a="http://schemas.openxmlformats.org/drawingml/2006/main">
              <a:ext uri="{FF2B5EF4-FFF2-40B4-BE49-F238E27FC236}">
                <a16:creationId xmlns:a16="http://schemas.microsoft.com/office/drawing/2014/main" id="{7F13A7FD-09CE-42E7-9B1F-7D853B920A4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EDEB2F1-819C-451C-AFE6-D311BFFFA77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Before: confirm permission, purpose, source, and minimum information.</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During: use clear instructions and watch for unexpected behavior.</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After: verify the output and correct errors.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Obtain the required approval.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Store, share, measure, and report through authorized routes.</a:t>
            </a:r>
          </a:p>
        </p:txBody>
      </p:sp>
      <p:sp>
        <p:nvSpPr>
          <p:cNvPr id="5" name="">
            <a:extLst xmlns:a="http://schemas.openxmlformats.org/drawingml/2006/main">
              <a:ext uri="{FF2B5EF4-FFF2-40B4-BE49-F238E27FC236}">
                <a16:creationId xmlns:a16="http://schemas.microsoft.com/office/drawing/2014/main" id="{2BF8E350-EA46-4216-AB0F-1CA5E8C79A6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7DB4822F-AF8B-4BD0-A661-785BFB4CC6F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checklist can require confirmation of tool, account, data class, task, source, reviewer, and destination before the workflow status changes to complete.</a:t>
            </a:r>
          </a:p>
        </p:txBody>
      </p:sp>
      <p:sp>
        <p:nvSpPr>
          <p:cNvPr id="7" name="">
            <a:extLst xmlns:a="http://schemas.openxmlformats.org/drawingml/2006/main">
              <a:ext uri="{FF2B5EF4-FFF2-40B4-BE49-F238E27FC236}">
                <a16:creationId xmlns:a16="http://schemas.microsoft.com/office/drawing/2014/main" id="{9E191286-62C1-4214-9AF4-22A8E59F02D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7AF1E93-6E33-4F80-87CA-99CB04F6041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Using the checklist only after a problem occurs. - Checking input permission but not output handling. - Marking the task complete before review and approval.</a:t>
            </a:r>
          </a:p>
        </p:txBody>
      </p:sp>
      <p:sp>
        <p:nvSpPr>
          <p:cNvPr id="9" name="">
            <a:extLst xmlns:a="http://schemas.openxmlformats.org/drawingml/2006/main">
              <a:ext uri="{FF2B5EF4-FFF2-40B4-BE49-F238E27FC236}">
                <a16:creationId xmlns:a16="http://schemas.microsoft.com/office/drawing/2014/main" id="{51C19146-649B-42C1-849A-7B32CC57DDC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B839A7E1-9120-4B50-A6CE-AD2DE6AD309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49</a:t>
            </a:r>
          </a:p>
        </p:txBody>
      </p:sp>
    </p:spTree>
    <p:extLst>
      <p:ext uri="{BB962C8B-B14F-4D97-AF65-F5344CB8AC3E}">
        <p14:creationId xmlns:p14="http://schemas.microsoft.com/office/powerpoint/2010/main" val="1662597070"/>
      </p:ext>
    </p:extLst>
  </p:cSld>
</p:sld>
</file>

<file path=ppt/slides/slide5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0B56FC-5493-495C-A51F-CCD8F77B7453}"/>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6</a:t>
            </a:r>
          </a:p>
        </p:txBody>
      </p:sp>
      <p:sp>
        <p:nvSpPr>
          <p:cNvPr id="2" name="">
            <a:extLst xmlns:a="http://schemas.openxmlformats.org/drawingml/2006/main">
              <a:ext uri="{FF2B5EF4-FFF2-40B4-BE49-F238E27FC236}">
                <a16:creationId xmlns:a16="http://schemas.microsoft.com/office/drawing/2014/main" id="{406F7A63-A366-4F94-8AA4-72EFFB9B1923}"/>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Lumenore Impact Deep Dive</a:t>
            </a:r>
          </a:p>
        </p:txBody>
      </p:sp>
      <p:sp>
        <p:nvSpPr>
          <p:cNvPr id="3" name="">
            <a:extLst xmlns:a="http://schemas.openxmlformats.org/drawingml/2006/main">
              <a:ext uri="{FF2B5EF4-FFF2-40B4-BE49-F238E27FC236}">
                <a16:creationId xmlns:a16="http://schemas.microsoft.com/office/drawing/2014/main" id="{B1186794-EAF0-4A63-8D68-7BDA3908E035}"/>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develops practical Lumenore skills for asking data questions, reading results, working with dashboards, investigating service gaps, configuring supported alerts, and preparing reviewed reports. It is important because decisions depend on correct measures, filters, reporting periods, and definitions.</a:t>
            </a:r>
          </a:p>
        </p:txBody>
      </p:sp>
      <p:sp>
        <p:nvSpPr>
          <p:cNvPr id="4" name="">
            <a:extLst xmlns:a="http://schemas.openxmlformats.org/drawingml/2006/main">
              <a:ext uri="{FF2B5EF4-FFF2-40B4-BE49-F238E27FC236}">
                <a16:creationId xmlns:a16="http://schemas.microsoft.com/office/drawing/2014/main" id="{A4EEB3E2-BBCF-4B88-9EB1-ED5EE7299676}"/>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9A88629D-7491-4379-AF46-FD6F3B2F4454}"/>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Navigate the confirmed Lumenore workspace and locate governed content.</a:t>
            </a:r>
          </a:p>
          <a:p xmlns:a="http://schemas.openxmlformats.org/drawingml/2006/main">
            <a:pPr marL="254000" indent="-127000">
              <a:spcAft>
                <a:spcPts val="600"/>
              </a:spcAft>
              <a:buChar char="•"/>
              <a:defRPr sz="1500">
                <a:solidFill>
                  <a:srgbClr val="F1F6F8"/>
                </a:solidFill>
                <a:latin typeface="Arial"/>
                <a:ea typeface="Arial"/>
                <a:cs typeface="Arial"/>
              </a:defRPr>
            </a:pPr>
            <a:r>
              <a:t>Ask a data question with a measure, population, period, and comparison.</a:t>
            </a:r>
          </a:p>
          <a:p xmlns:a="http://schemas.openxmlformats.org/drawingml/2006/main">
            <a:pPr marL="254000" indent="-127000">
              <a:spcAft>
                <a:spcPts val="600"/>
              </a:spcAft>
              <a:buChar char="•"/>
              <a:defRPr sz="1500">
                <a:solidFill>
                  <a:srgbClr val="F1F6F8"/>
                </a:solidFill>
                <a:latin typeface="Arial"/>
                <a:ea typeface="Arial"/>
                <a:cs typeface="Arial"/>
              </a:defRPr>
            </a:pPr>
            <a:r>
              <a:t>Verify definitions, denominators, filters, freshness, and source records.</a:t>
            </a:r>
          </a:p>
          <a:p xmlns:a="http://schemas.openxmlformats.org/drawingml/2006/main">
            <a:pPr marL="254000" indent="-127000">
              <a:spcAft>
                <a:spcPts val="600"/>
              </a:spcAft>
              <a:buChar char="•"/>
              <a:defRPr sz="1500">
                <a:solidFill>
                  <a:srgbClr val="F1F6F8"/>
                </a:solidFill>
                <a:latin typeface="Arial"/>
                <a:ea typeface="Arial"/>
                <a:cs typeface="Arial"/>
              </a:defRPr>
            </a:pPr>
            <a:r>
              <a:t>Explain a trend without presenting an unsupported cause.</a:t>
            </a:r>
          </a:p>
          <a:p xmlns:a="http://schemas.openxmlformats.org/drawingml/2006/main">
            <a:pPr marL="254000" indent="-127000">
              <a:spcAft>
                <a:spcPts val="600"/>
              </a:spcAft>
              <a:buChar char="•"/>
              <a:defRPr sz="1500">
                <a:solidFill>
                  <a:srgbClr val="F1F6F8"/>
                </a:solidFill>
                <a:latin typeface="Arial"/>
                <a:ea typeface="Arial"/>
                <a:cs typeface="Arial"/>
              </a:defRPr>
            </a:pPr>
            <a:r>
              <a:t>Prepare a reviewed report or alert using enabled features.</a:t>
            </a:r>
          </a:p>
        </p:txBody>
      </p:sp>
      <p:sp>
        <p:nvSpPr>
          <p:cNvPr id="6" name="">
            <a:extLst xmlns:a="http://schemas.openxmlformats.org/drawingml/2006/main">
              <a:ext uri="{FF2B5EF4-FFF2-40B4-BE49-F238E27FC236}">
                <a16:creationId xmlns:a16="http://schemas.microsoft.com/office/drawing/2014/main" id="{6E24715D-020C-4FEB-AD4A-21FC9E0FAA05}"/>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3662C49C-452E-462B-8A44-1CDC32582831}"/>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Asking questions with Ask Me</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Building and reading a dashboard</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Investigating service gaps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Setting and responding to alerts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5. </a:t>
            </a:r>
            <a:r>
              <a:t>Exporting reviewed reports</a:t>
            </a:r>
          </a:p>
        </p:txBody>
      </p:sp>
      <p:sp>
        <p:nvSpPr>
          <p:cNvPr id="8" name="">
            <a:extLst xmlns:a="http://schemas.openxmlformats.org/drawingml/2006/main">
              <a:ext uri="{FF2B5EF4-FFF2-40B4-BE49-F238E27FC236}">
                <a16:creationId xmlns:a16="http://schemas.microsoft.com/office/drawing/2014/main" id="{03084A0E-344F-4047-B990-B9256CE9B175}"/>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analysts, program managers, and leaders    Prerequisites: Modules 1-5    Level: Intermediate</a:t>
            </a:r>
          </a:p>
        </p:txBody>
      </p:sp>
      <p:sp>
        <p:nvSpPr>
          <p:cNvPr id="9" name="">
            <a:extLst xmlns:a="http://schemas.openxmlformats.org/drawingml/2006/main">
              <a:ext uri="{FF2B5EF4-FFF2-40B4-BE49-F238E27FC236}">
                <a16:creationId xmlns:a16="http://schemas.microsoft.com/office/drawing/2014/main" id="{C660C26E-DAFC-416F-850F-84804BD635A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6</a:t>
            </a:r>
          </a:p>
        </p:txBody>
      </p:sp>
      <p:sp>
        <p:nvSpPr>
          <p:cNvPr id="10" name="">
            <a:extLst xmlns:a="http://schemas.openxmlformats.org/drawingml/2006/main">
              <a:ext uri="{FF2B5EF4-FFF2-40B4-BE49-F238E27FC236}">
                <a16:creationId xmlns:a16="http://schemas.microsoft.com/office/drawing/2014/main" id="{4CDA229A-3E43-4950-88DF-2FF01B68A41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50</a:t>
            </a:r>
          </a:p>
        </p:txBody>
      </p:sp>
    </p:spTree>
    <p:extLst>
      <p:ext uri="{BB962C8B-B14F-4D97-AF65-F5344CB8AC3E}">
        <p14:creationId xmlns:p14="http://schemas.microsoft.com/office/powerpoint/2010/main" val="163548147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05BF2F-A83B-465C-923E-C6CD7B5ED8B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068C096F-2F15-4354-A566-5060B0AEA4B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a:t>
            </a:r>
          </a:p>
        </p:txBody>
      </p:sp>
      <p:sp>
        <p:nvSpPr>
          <p:cNvPr id="3" name="">
            <a:extLst xmlns:a="http://schemas.openxmlformats.org/drawingml/2006/main">
              <a:ext uri="{FF2B5EF4-FFF2-40B4-BE49-F238E27FC236}">
                <a16:creationId xmlns:a16="http://schemas.microsoft.com/office/drawing/2014/main" id="{6A888E81-8555-4A0D-A753-5819364A278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EEA0704-B582-46DC-87F7-EFDB3D453B2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the Ask Me feature is enabled, it lets an authorized user ask a data question in everyday language. A useful question names the measure, population, reporting period, and comparison. These details reduce ambiguity and make the answer easier to verify.</a:t>
            </a:r>
          </a:p>
        </p:txBody>
      </p:sp>
      <p:sp>
        <p:nvSpPr>
          <p:cNvPr id="5" name="">
            <a:extLst xmlns:a="http://schemas.openxmlformats.org/drawingml/2006/main">
              <a:ext uri="{FF2B5EF4-FFF2-40B4-BE49-F238E27FC236}">
                <a16:creationId xmlns:a16="http://schemas.microsoft.com/office/drawing/2014/main" id="{FD0A31FD-5034-486D-94C9-4C9570B643C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ADAF090-814D-48C1-A081-28D9C702019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Name exactly what should be measured.</a:t>
            </a:r>
          </a:p>
          <a:p xmlns:a="http://schemas.openxmlformats.org/drawingml/2006/main">
            <a:pPr marL="254000" indent="-127000">
              <a:spcAft>
                <a:spcPts val="600"/>
              </a:spcAft>
              <a:buChar char="•"/>
              <a:defRPr sz="1650">
                <a:solidFill>
                  <a:srgbClr val="1D2833"/>
                </a:solidFill>
                <a:latin typeface="Arial"/>
                <a:ea typeface="Arial"/>
                <a:cs typeface="Arial"/>
              </a:defRPr>
            </a:pPr>
            <a:r>
              <a:t>Identify the group, program, or location to include.</a:t>
            </a:r>
          </a:p>
          <a:p xmlns:a="http://schemas.openxmlformats.org/drawingml/2006/main">
            <a:pPr marL="254000" indent="-127000">
              <a:spcAft>
                <a:spcPts val="600"/>
              </a:spcAft>
              <a:buChar char="•"/>
              <a:defRPr sz="1650">
                <a:solidFill>
                  <a:srgbClr val="1D2833"/>
                </a:solidFill>
                <a:latin typeface="Arial"/>
                <a:ea typeface="Arial"/>
                <a:cs typeface="Arial"/>
              </a:defRPr>
            </a:pPr>
            <a:r>
              <a:t>State the time period and the comparison.</a:t>
            </a:r>
          </a:p>
          <a:p xmlns:a="http://schemas.openxmlformats.org/drawingml/2006/main">
            <a:pPr marL="254000" indent="-127000">
              <a:spcAft>
                <a:spcPts val="600"/>
              </a:spcAft>
              <a:buChar char="•"/>
              <a:defRPr sz="1650">
                <a:solidFill>
                  <a:srgbClr val="1D2833"/>
                </a:solidFill>
                <a:latin typeface="Arial"/>
                <a:ea typeface="Arial"/>
                <a:cs typeface="Arial"/>
              </a:defRPr>
            </a:pPr>
            <a:r>
              <a:t>Treat the response as a result to verify, not an automatic fact.</a:t>
            </a:r>
          </a:p>
        </p:txBody>
      </p:sp>
      <p:sp>
        <p:nvSpPr>
          <p:cNvPr id="7" name="">
            <a:extLst xmlns:a="http://schemas.openxmlformats.org/drawingml/2006/main">
              <a:ext uri="{FF2B5EF4-FFF2-40B4-BE49-F238E27FC236}">
                <a16:creationId xmlns:a16="http://schemas.microsoft.com/office/drawing/2014/main" id="{7F2F9013-5EE4-4C28-95D5-AC7206DEFB9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F7FEF52-E171-4176-8D4A-544BF5FC973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for the fictional appointment completion rate for the North Training Area in Quarter 2 compared with Quarter 1. The manager avoids the vague question How are we doing?</a:t>
            </a:r>
          </a:p>
        </p:txBody>
      </p:sp>
      <p:sp>
        <p:nvSpPr>
          <p:cNvPr id="9" name="">
            <a:extLst xmlns:a="http://schemas.openxmlformats.org/drawingml/2006/main">
              <a:ext uri="{FF2B5EF4-FFF2-40B4-BE49-F238E27FC236}">
                <a16:creationId xmlns:a16="http://schemas.microsoft.com/office/drawing/2014/main" id="{05C45DAE-E431-4D57-8AA1-B6E95898BA2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823866B-B15E-48C1-9DAF-A529DDC6ECD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is used for program monitoring, operational questions, leadership preparation, service comparisons, and early exploration of governed data.</a:t>
            </a:r>
          </a:p>
        </p:txBody>
      </p:sp>
      <p:sp>
        <p:nvSpPr>
          <p:cNvPr id="11" name="">
            <a:extLst xmlns:a="http://schemas.openxmlformats.org/drawingml/2006/main">
              <a:ext uri="{FF2B5EF4-FFF2-40B4-BE49-F238E27FC236}">
                <a16:creationId xmlns:a16="http://schemas.microsoft.com/office/drawing/2014/main" id="{84146158-693C-4F84-8DBB-44E48C44373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43264976-261A-4D3E-833F-E14BA40D549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51</a:t>
            </a:r>
          </a:p>
        </p:txBody>
      </p:sp>
    </p:spTree>
    <p:extLst>
      <p:ext uri="{BB962C8B-B14F-4D97-AF65-F5344CB8AC3E}">
        <p14:creationId xmlns:p14="http://schemas.microsoft.com/office/powerpoint/2010/main" val="132847349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37ACCA-8BB0-47ED-AB7A-32BA6E23A32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604C5998-1DBA-439A-ABC0-18AECC7411B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 process and practice</a:t>
            </a:r>
          </a:p>
        </p:txBody>
      </p:sp>
      <p:sp>
        <p:nvSpPr>
          <p:cNvPr id="3" name="">
            <a:extLst xmlns:a="http://schemas.openxmlformats.org/drawingml/2006/main">
              <a:ext uri="{FF2B5EF4-FFF2-40B4-BE49-F238E27FC236}">
                <a16:creationId xmlns:a16="http://schemas.microsoft.com/office/drawing/2014/main" id="{FB332FBB-FCFD-4081-9C07-200A267A5AF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BC22DE2-DB08-4FEE-B0BB-18D18F2CA9A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Define the business question.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Add the measure, population, period, and comparison.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Submit the question in the approved workspace.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Review the returned value, chart, filters, and source.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Check the result against the metric definition before using it.</a:t>
            </a:r>
          </a:p>
        </p:txBody>
      </p:sp>
      <p:sp>
        <p:nvSpPr>
          <p:cNvPr id="5" name="">
            <a:extLst xmlns:a="http://schemas.openxmlformats.org/drawingml/2006/main">
              <a:ext uri="{FF2B5EF4-FFF2-40B4-BE49-F238E27FC236}">
                <a16:creationId xmlns:a16="http://schemas.microsoft.com/office/drawing/2014/main" id="{C6A1F511-B95F-4743-8B32-242BE56AB60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0275128-A947-4D5F-B0E6-792969DF2C0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question can be represented as four fields: measure = appointment completion rate, population = North Training Area, period = Quarter 2, and comparison = Quarter 1. The system translates those fields into a query against an approved dataset.</a:t>
            </a:r>
          </a:p>
        </p:txBody>
      </p:sp>
      <p:sp>
        <p:nvSpPr>
          <p:cNvPr id="7" name="">
            <a:extLst xmlns:a="http://schemas.openxmlformats.org/drawingml/2006/main">
              <a:ext uri="{FF2B5EF4-FFF2-40B4-BE49-F238E27FC236}">
                <a16:creationId xmlns:a16="http://schemas.microsoft.com/office/drawing/2014/main" id="{59413BDC-84D9-46AF-A9A6-2BD7598AE55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0EC58E6-9FB4-41D4-9C6E-83B8F241D06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ask a broad question, forget the time period, compare unlike groups, accept the first interpretation, or assume that a natural-language answer has already been validated.</a:t>
            </a:r>
          </a:p>
        </p:txBody>
      </p:sp>
      <p:sp>
        <p:nvSpPr>
          <p:cNvPr id="9" name="">
            <a:extLst xmlns:a="http://schemas.openxmlformats.org/drawingml/2006/main">
              <a:ext uri="{FF2B5EF4-FFF2-40B4-BE49-F238E27FC236}">
                <a16:creationId xmlns:a16="http://schemas.microsoft.com/office/drawing/2014/main" id="{2EEE539C-1060-4C28-A501-0F1737EFD39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EE01CD82-FE2C-44BC-A776-A6F775B9482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52</a:t>
            </a:r>
          </a:p>
        </p:txBody>
      </p:sp>
    </p:spTree>
    <p:extLst>
      <p:ext uri="{BB962C8B-B14F-4D97-AF65-F5344CB8AC3E}">
        <p14:creationId xmlns:p14="http://schemas.microsoft.com/office/powerpoint/2010/main" val="180971201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F17326-E71A-40D7-8189-1D0B4EEF2D1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667BFC89-BDBB-4ECD-8A6B-3CB305C8988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a:t>
            </a:r>
          </a:p>
        </p:txBody>
      </p:sp>
      <p:sp>
        <p:nvSpPr>
          <p:cNvPr id="3" name="">
            <a:extLst xmlns:a="http://schemas.openxmlformats.org/drawingml/2006/main">
              <a:ext uri="{FF2B5EF4-FFF2-40B4-BE49-F238E27FC236}">
                <a16:creationId xmlns:a16="http://schemas.microsoft.com/office/drawing/2014/main" id="{061AF22E-4EB1-47B9-B04F-96FC5CDF826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1500DBD-B189-4B0C-A042-8F8C73ACA3B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dashboard organizes related measures into indicators, charts, tables, and filters. It helps users see patterns quickly, but every visual must still be read with its definition, scale, reporting period, and active filters.</a:t>
            </a:r>
          </a:p>
        </p:txBody>
      </p:sp>
      <p:sp>
        <p:nvSpPr>
          <p:cNvPr id="5" name="">
            <a:extLst xmlns:a="http://schemas.openxmlformats.org/drawingml/2006/main">
              <a:ext uri="{FF2B5EF4-FFF2-40B4-BE49-F238E27FC236}">
                <a16:creationId xmlns:a16="http://schemas.microsoft.com/office/drawing/2014/main" id="{948FCD51-415B-47E5-96E2-41B1440D8A4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5270F7C-D033-4664-A72E-21C576D883E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Choose a visual that matches the question.</a:t>
            </a:r>
          </a:p>
          <a:p xmlns:a="http://schemas.openxmlformats.org/drawingml/2006/main">
            <a:pPr marL="254000" indent="-127000">
              <a:spcAft>
                <a:spcPts val="600"/>
              </a:spcAft>
              <a:buChar char="•"/>
              <a:defRPr sz="1650">
                <a:solidFill>
                  <a:srgbClr val="1D2833"/>
                </a:solidFill>
                <a:latin typeface="Arial"/>
                <a:ea typeface="Arial"/>
                <a:cs typeface="Arial"/>
              </a:defRPr>
            </a:pPr>
            <a:r>
              <a:t>Keep labels, units, scales, and time periods clear.</a:t>
            </a:r>
          </a:p>
          <a:p xmlns:a="http://schemas.openxmlformats.org/drawingml/2006/main">
            <a:pPr marL="254000" indent="-127000">
              <a:spcAft>
                <a:spcPts val="600"/>
              </a:spcAft>
              <a:buChar char="•"/>
              <a:defRPr sz="1650">
                <a:solidFill>
                  <a:srgbClr val="1D2833"/>
                </a:solidFill>
                <a:latin typeface="Arial"/>
                <a:ea typeface="Arial"/>
                <a:cs typeface="Arial"/>
              </a:defRPr>
            </a:pPr>
            <a:r>
              <a:t>Check all active filters before interpreting a value.</a:t>
            </a:r>
          </a:p>
          <a:p xmlns:a="http://schemas.openxmlformats.org/drawingml/2006/main">
            <a:pPr marL="254000" indent="-127000">
              <a:spcAft>
                <a:spcPts val="600"/>
              </a:spcAft>
              <a:buChar char="•"/>
              <a:defRPr sz="1650">
                <a:solidFill>
                  <a:srgbClr val="1D2833"/>
                </a:solidFill>
                <a:latin typeface="Arial"/>
                <a:ea typeface="Arial"/>
                <a:cs typeface="Arial"/>
              </a:defRPr>
            </a:pPr>
            <a:r>
              <a:t>Confirm the numerator, denominator, and data-freshness date.</a:t>
            </a:r>
          </a:p>
        </p:txBody>
      </p:sp>
      <p:sp>
        <p:nvSpPr>
          <p:cNvPr id="7" name="">
            <a:extLst xmlns:a="http://schemas.openxmlformats.org/drawingml/2006/main">
              <a:ext uri="{FF2B5EF4-FFF2-40B4-BE49-F238E27FC236}">
                <a16:creationId xmlns:a16="http://schemas.microsoft.com/office/drawing/2014/main" id="{727E3A50-E19E-4509-A719-B138CF15A46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EC6F8E7-96A9-46B4-B658-9BE111ED067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column chart compares completion rates across three fictional service areas. Before presenting it, the learner confirms that all areas use the same definition and reporting period.</a:t>
            </a:r>
          </a:p>
        </p:txBody>
      </p:sp>
      <p:sp>
        <p:nvSpPr>
          <p:cNvPr id="9" name="">
            <a:extLst xmlns:a="http://schemas.openxmlformats.org/drawingml/2006/main">
              <a:ext uri="{FF2B5EF4-FFF2-40B4-BE49-F238E27FC236}">
                <a16:creationId xmlns:a16="http://schemas.microsoft.com/office/drawing/2014/main" id="{5156048E-7545-4C86-8EEF-9A2D4648FAC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10C70C5-6698-4B88-B299-D5278F9C7ED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Dashboards support operational monitoring, service-area reviews, management meetings, quality improvement, and board-report preparation.</a:t>
            </a:r>
          </a:p>
        </p:txBody>
      </p:sp>
      <p:sp>
        <p:nvSpPr>
          <p:cNvPr id="11" name="">
            <a:extLst xmlns:a="http://schemas.openxmlformats.org/drawingml/2006/main">
              <a:ext uri="{FF2B5EF4-FFF2-40B4-BE49-F238E27FC236}">
                <a16:creationId xmlns:a16="http://schemas.microsoft.com/office/drawing/2014/main" id="{BC6CF522-7556-4D7D-A225-7BCDB8F2A6D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B65B811A-B79D-4885-9F12-F58A0E686FA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53</a:t>
            </a:r>
          </a:p>
        </p:txBody>
      </p:sp>
    </p:spTree>
    <p:extLst>
      <p:ext uri="{BB962C8B-B14F-4D97-AF65-F5344CB8AC3E}">
        <p14:creationId xmlns:p14="http://schemas.microsoft.com/office/powerpoint/2010/main" val="187171086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92F66F-36D8-439A-8B26-877B3318554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3B137BC8-170C-481D-A106-BAE282F6C9C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2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 process and practice</a:t>
            </a:r>
          </a:p>
        </p:txBody>
      </p:sp>
      <p:sp>
        <p:nvSpPr>
          <p:cNvPr id="3" name="">
            <a:extLst xmlns:a="http://schemas.openxmlformats.org/drawingml/2006/main">
              <a:ext uri="{FF2B5EF4-FFF2-40B4-BE49-F238E27FC236}">
                <a16:creationId xmlns:a16="http://schemas.microsoft.com/office/drawing/2014/main" id="{52778126-7670-4F5A-88B5-1E5BF3FFB81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FE158D4-4959-41B3-AAC2-434478C702C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Start with a precise question.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Select the governed measure and relevant filters.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Choose a chart that represents the comparison accurately.</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Add labels, units, period, source, and freshness information.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Test the dashboard and explain one verified observation.</a:t>
            </a:r>
          </a:p>
        </p:txBody>
      </p:sp>
      <p:sp>
        <p:nvSpPr>
          <p:cNvPr id="5" name="">
            <a:extLst xmlns:a="http://schemas.openxmlformats.org/drawingml/2006/main">
              <a:ext uri="{FF2B5EF4-FFF2-40B4-BE49-F238E27FC236}">
                <a16:creationId xmlns:a16="http://schemas.microsoft.com/office/drawing/2014/main" id="{0511B16A-6BB6-456E-B76D-C22C2C7D464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D39C420-9176-4292-A7FA-184F8785741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 a line chart for a rate over time, a column chart for categories, a table for exact values, and a single indicator for one headline measure. A completion rate should be calculated from a confirmed numerator and denominator rather than inferred from a count.</a:t>
            </a:r>
          </a:p>
        </p:txBody>
      </p:sp>
      <p:sp>
        <p:nvSpPr>
          <p:cNvPr id="7" name="">
            <a:extLst xmlns:a="http://schemas.openxmlformats.org/drawingml/2006/main">
              <a:ext uri="{FF2B5EF4-FFF2-40B4-BE49-F238E27FC236}">
                <a16:creationId xmlns:a16="http://schemas.microsoft.com/office/drawing/2014/main" id="{1EA12D9E-B467-41CC-B96D-750DF5F005A4}"/>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EC14D07-B542-48DC-BF69-C690D634899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truncated axes, unclear labels, hidden filters, mixing counts with rates, comparing incomplete periods, and adding too many visuals to one screen.</a:t>
            </a:r>
          </a:p>
        </p:txBody>
      </p:sp>
      <p:sp>
        <p:nvSpPr>
          <p:cNvPr id="9" name="">
            <a:extLst xmlns:a="http://schemas.openxmlformats.org/drawingml/2006/main">
              <a:ext uri="{FF2B5EF4-FFF2-40B4-BE49-F238E27FC236}">
                <a16:creationId xmlns:a16="http://schemas.microsoft.com/office/drawing/2014/main" id="{A5A04238-1CDF-4488-889F-9B8ACDA2E81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68A198BD-1732-4037-801B-658DA76B6B0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54</a:t>
            </a:r>
          </a:p>
        </p:txBody>
      </p:sp>
    </p:spTree>
    <p:extLst>
      <p:ext uri="{BB962C8B-B14F-4D97-AF65-F5344CB8AC3E}">
        <p14:creationId xmlns:p14="http://schemas.microsoft.com/office/powerpoint/2010/main" val="102504715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3943A0-488F-47ED-9483-67BA6BC2F28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26F27CDF-6D83-453B-A459-73F0AFF9218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a:t>
            </a:r>
          </a:p>
        </p:txBody>
      </p:sp>
      <p:sp>
        <p:nvSpPr>
          <p:cNvPr id="3" name="">
            <a:extLst xmlns:a="http://schemas.openxmlformats.org/drawingml/2006/main">
              <a:ext uri="{FF2B5EF4-FFF2-40B4-BE49-F238E27FC236}">
                <a16:creationId xmlns:a16="http://schemas.microsoft.com/office/drawing/2014/main" id="{21275138-A9C5-4013-980D-00F491B348A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15E6D18-B825-4D80-B3F4-3F1538F1FC4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Location, program, population, and time filters can reveal differences in access or outcomes. A difference is an observation that deserves investigation; it is not proof of its cause. The next step is to check the data and identify what additional evidence is needed.</a:t>
            </a:r>
          </a:p>
        </p:txBody>
      </p:sp>
      <p:sp>
        <p:nvSpPr>
          <p:cNvPr id="5" name="">
            <a:extLst xmlns:a="http://schemas.openxmlformats.org/drawingml/2006/main">
              <a:ext uri="{FF2B5EF4-FFF2-40B4-BE49-F238E27FC236}">
                <a16:creationId xmlns:a16="http://schemas.microsoft.com/office/drawing/2014/main" id="{20165403-981F-44A9-B826-1BDA6395629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58CC44B-9782-4589-AC5F-3A64D79604B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Compare like populations and complete reporting periods.</a:t>
            </a:r>
          </a:p>
          <a:p xmlns:a="http://schemas.openxmlformats.org/drawingml/2006/main">
            <a:pPr marL="254000" indent="-127000">
              <a:spcAft>
                <a:spcPts val="600"/>
              </a:spcAft>
              <a:buChar char="•"/>
              <a:defRPr sz="1650">
                <a:solidFill>
                  <a:srgbClr val="1D2833"/>
                </a:solidFill>
                <a:latin typeface="Arial"/>
                <a:ea typeface="Arial"/>
                <a:cs typeface="Arial"/>
              </a:defRPr>
            </a:pPr>
            <a:r>
              <a:t>Check small denominators and missing records.</a:t>
            </a:r>
          </a:p>
          <a:p xmlns:a="http://schemas.openxmlformats.org/drawingml/2006/main">
            <a:pPr marL="254000" indent="-127000">
              <a:spcAft>
                <a:spcPts val="600"/>
              </a:spcAft>
              <a:buChar char="•"/>
              <a:defRPr sz="1650">
                <a:solidFill>
                  <a:srgbClr val="1D2833"/>
                </a:solidFill>
                <a:latin typeface="Arial"/>
                <a:ea typeface="Arial"/>
                <a:cs typeface="Arial"/>
              </a:defRPr>
            </a:pPr>
            <a:r>
              <a:t>Separate the observed gap from possible explanations.</a:t>
            </a:r>
          </a:p>
          <a:p xmlns:a="http://schemas.openxmlformats.org/drawingml/2006/main">
            <a:pPr marL="254000" indent="-127000">
              <a:spcAft>
                <a:spcPts val="600"/>
              </a:spcAft>
              <a:buChar char="•"/>
              <a:defRPr sz="1650">
                <a:solidFill>
                  <a:srgbClr val="1D2833"/>
                </a:solidFill>
                <a:latin typeface="Arial"/>
                <a:ea typeface="Arial"/>
                <a:cs typeface="Arial"/>
              </a:defRPr>
            </a:pPr>
            <a:r>
              <a:t>Consider fairness before recommending an action.</a:t>
            </a:r>
          </a:p>
        </p:txBody>
      </p:sp>
      <p:sp>
        <p:nvSpPr>
          <p:cNvPr id="7" name="">
            <a:extLst xmlns:a="http://schemas.openxmlformats.org/drawingml/2006/main">
              <a:ext uri="{FF2B5EF4-FFF2-40B4-BE49-F238E27FC236}">
                <a16:creationId xmlns:a16="http://schemas.microsoft.com/office/drawing/2014/main" id="{45510C6C-616B-4A95-B7DD-0D99CFD64D5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8C6533E-BEEE-4136-AB5F-71EB61B7228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synthetic map shows a lower completion rate in one fictional ZIP code. The learner reports the difference, checks the denominator, and asks about scheduling, transportation, and missing records without claiming that any one factor caused it.</a:t>
            </a:r>
          </a:p>
        </p:txBody>
      </p:sp>
      <p:sp>
        <p:nvSpPr>
          <p:cNvPr id="9" name="">
            <a:extLst xmlns:a="http://schemas.openxmlformats.org/drawingml/2006/main">
              <a:ext uri="{FF2B5EF4-FFF2-40B4-BE49-F238E27FC236}">
                <a16:creationId xmlns:a16="http://schemas.microsoft.com/office/drawing/2014/main" id="{92015515-1F9A-4B2C-826C-044757C3624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BB92D2D-B308-48B8-B1BB-79CD2CC88D6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approach supports access analysis, geographic service planning, outreach review, capacity planning, and quality-improvement discussions.</a:t>
            </a:r>
          </a:p>
        </p:txBody>
      </p:sp>
      <p:sp>
        <p:nvSpPr>
          <p:cNvPr id="11" name="">
            <a:extLst xmlns:a="http://schemas.openxmlformats.org/drawingml/2006/main">
              <a:ext uri="{FF2B5EF4-FFF2-40B4-BE49-F238E27FC236}">
                <a16:creationId xmlns:a16="http://schemas.microsoft.com/office/drawing/2014/main" id="{F2F5987D-A9A8-4116-BBF8-8F401D6A500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0F25D11A-F046-4EA6-865E-4C42F9DAC6B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55</a:t>
            </a:r>
          </a:p>
        </p:txBody>
      </p:sp>
    </p:spTree>
    <p:extLst>
      <p:ext uri="{BB962C8B-B14F-4D97-AF65-F5344CB8AC3E}">
        <p14:creationId xmlns:p14="http://schemas.microsoft.com/office/powerpoint/2010/main" val="30119591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F63C4C-DB5B-4319-9705-08E441C5A7C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687752BD-7FC1-4327-A32C-D63AAF550F2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 process and practice</a:t>
            </a:r>
          </a:p>
        </p:txBody>
      </p:sp>
      <p:sp>
        <p:nvSpPr>
          <p:cNvPr id="3" name="">
            <a:extLst xmlns:a="http://schemas.openxmlformats.org/drawingml/2006/main">
              <a:ext uri="{FF2B5EF4-FFF2-40B4-BE49-F238E27FC236}">
                <a16:creationId xmlns:a16="http://schemas.microsoft.com/office/drawing/2014/main" id="{57CE5A5E-39B8-44C0-8498-419F738DC53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AB9B23E-AFC5-4725-8102-434634F8D8F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Define the service measure and comparison groups.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Apply the same period and definition to every group.</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Calculate counts and rates, then check missing data.</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Record the difference as an observation.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Gather evidence before selecting a limited response.</a:t>
            </a:r>
          </a:p>
        </p:txBody>
      </p:sp>
      <p:sp>
        <p:nvSpPr>
          <p:cNvPr id="5" name="">
            <a:extLst xmlns:a="http://schemas.openxmlformats.org/drawingml/2006/main">
              <a:ext uri="{FF2B5EF4-FFF2-40B4-BE49-F238E27FC236}">
                <a16:creationId xmlns:a16="http://schemas.microsoft.com/office/drawing/2014/main" id="{56D6D13C-6EAD-48D5-B472-F90A1030D5B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5959100-8EB4-4FAA-A06A-3A96DDC5AC1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Group synthetic appointment records by ZIP code, calculate completed appointments divided by scheduled appointments for each group, and display the rates with record counts. Small groups should be reviewed carefully because one record can change the rate sharply.</a:t>
            </a:r>
          </a:p>
        </p:txBody>
      </p:sp>
      <p:sp>
        <p:nvSpPr>
          <p:cNvPr id="7" name="">
            <a:extLst xmlns:a="http://schemas.openxmlformats.org/drawingml/2006/main">
              <a:ext uri="{FF2B5EF4-FFF2-40B4-BE49-F238E27FC236}">
                <a16:creationId xmlns:a16="http://schemas.microsoft.com/office/drawing/2014/main" id="{85977ABB-7B7E-43AE-85A3-DA1AB14B9D3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109F03B-1850-46A9-9559-20197120007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correlation as causation, rank areas without context, ignore population size, use an incomplete month, or assume the data explains barriers it did not measure.</a:t>
            </a:r>
          </a:p>
        </p:txBody>
      </p:sp>
      <p:sp>
        <p:nvSpPr>
          <p:cNvPr id="9" name="">
            <a:extLst xmlns:a="http://schemas.openxmlformats.org/drawingml/2006/main">
              <a:ext uri="{FF2B5EF4-FFF2-40B4-BE49-F238E27FC236}">
                <a16:creationId xmlns:a16="http://schemas.microsoft.com/office/drawing/2014/main" id="{C700AF78-5CB9-4613-86FB-4E58AF6CB8C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9748E921-7A94-4CBD-A4AB-A96A356B847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56</a:t>
            </a:r>
          </a:p>
        </p:txBody>
      </p:sp>
    </p:spTree>
    <p:extLst>
      <p:ext uri="{BB962C8B-B14F-4D97-AF65-F5344CB8AC3E}">
        <p14:creationId xmlns:p14="http://schemas.microsoft.com/office/powerpoint/2010/main" val="132990407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315F22-D37E-4EEB-A0DF-594366F4B77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5A746CDB-CA9B-49FC-A8F7-18BCC38D710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a:t>
            </a:r>
          </a:p>
        </p:txBody>
      </p:sp>
      <p:sp>
        <p:nvSpPr>
          <p:cNvPr id="3" name="">
            <a:extLst xmlns:a="http://schemas.openxmlformats.org/drawingml/2006/main">
              <a:ext uri="{FF2B5EF4-FFF2-40B4-BE49-F238E27FC236}">
                <a16:creationId xmlns:a16="http://schemas.microsoft.com/office/drawing/2014/main" id="{61663616-EFAE-4D5C-830F-C3E1277C2ED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87E9742-1DA5-46C3-9E81-A4C1E776C59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alerts are enabled, they notify authorized people when a measure meets a defined condition. A useful alert has a meaningful threshold, recipient, owner, expected response, and review process. It signals that someone should look closer; it does not make the final decision.</a:t>
            </a:r>
          </a:p>
        </p:txBody>
      </p:sp>
      <p:sp>
        <p:nvSpPr>
          <p:cNvPr id="5" name="">
            <a:extLst xmlns:a="http://schemas.openxmlformats.org/drawingml/2006/main">
              <a:ext uri="{FF2B5EF4-FFF2-40B4-BE49-F238E27FC236}">
                <a16:creationId xmlns:a16="http://schemas.microsoft.com/office/drawing/2014/main" id="{6B8D71C3-B402-41C6-8036-B7FF2AEFCF8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5F6CE3E-7BDD-44B8-A586-00C9EE7D2D8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Connect each alert to a clear operational purpose.</a:t>
            </a:r>
          </a:p>
          <a:p xmlns:a="http://schemas.openxmlformats.org/drawingml/2006/main">
            <a:pPr marL="254000" indent="-127000">
              <a:spcAft>
                <a:spcPts val="600"/>
              </a:spcAft>
              <a:buChar char="•"/>
              <a:defRPr sz="1650">
                <a:solidFill>
                  <a:srgbClr val="1D2833"/>
                </a:solidFill>
                <a:latin typeface="Arial"/>
                <a:ea typeface="Arial"/>
                <a:cs typeface="Arial"/>
              </a:defRPr>
            </a:pPr>
            <a:r>
              <a:t>Define the metric, condition, threshold, and frequency.</a:t>
            </a:r>
          </a:p>
          <a:p xmlns:a="http://schemas.openxmlformats.org/drawingml/2006/main">
            <a:pPr marL="254000" indent="-127000">
              <a:spcAft>
                <a:spcPts val="600"/>
              </a:spcAft>
              <a:buChar char="•"/>
              <a:defRPr sz="1650">
                <a:solidFill>
                  <a:srgbClr val="1D2833"/>
                </a:solidFill>
                <a:latin typeface="Arial"/>
                <a:ea typeface="Arial"/>
                <a:cs typeface="Arial"/>
              </a:defRPr>
            </a:pPr>
            <a:r>
              <a:t>Assign an owner and expected response.</a:t>
            </a:r>
          </a:p>
          <a:p xmlns:a="http://schemas.openxmlformats.org/drawingml/2006/main">
            <a:pPr marL="254000" indent="-127000">
              <a:spcAft>
                <a:spcPts val="600"/>
              </a:spcAft>
              <a:buChar char="•"/>
              <a:defRPr sz="1650">
                <a:solidFill>
                  <a:srgbClr val="1D2833"/>
                </a:solidFill>
                <a:latin typeface="Arial"/>
                <a:ea typeface="Arial"/>
                <a:cs typeface="Arial"/>
              </a:defRPr>
            </a:pPr>
            <a:r>
              <a:t>Review false alarms, missed events, and continued usefulness.</a:t>
            </a:r>
          </a:p>
        </p:txBody>
      </p:sp>
      <p:sp>
        <p:nvSpPr>
          <p:cNvPr id="7" name="">
            <a:extLst xmlns:a="http://schemas.openxmlformats.org/drawingml/2006/main">
              <a:ext uri="{FF2B5EF4-FFF2-40B4-BE49-F238E27FC236}">
                <a16:creationId xmlns:a16="http://schemas.microsoft.com/office/drawing/2014/main" id="{2BE109D9-06E4-4035-8707-434D0B3E064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754EFB3-ED2F-48A7-93E0-66CDD63928C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program alert is triggered when a weekly completion rate falls below an approved threshold. The assigned manager verifies the records before deciding whether action is required.</a:t>
            </a:r>
          </a:p>
        </p:txBody>
      </p:sp>
      <p:sp>
        <p:nvSpPr>
          <p:cNvPr id="9" name="">
            <a:extLst xmlns:a="http://schemas.openxmlformats.org/drawingml/2006/main">
              <a:ext uri="{FF2B5EF4-FFF2-40B4-BE49-F238E27FC236}">
                <a16:creationId xmlns:a16="http://schemas.microsoft.com/office/drawing/2014/main" id="{C9E3C4E5-3E90-48F8-8B65-9E6EA606B3D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453D92C-C156-4054-92E5-0A5710B1285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Alerts can support workload monitoring, service-level review, data-quality checks, capacity concerns, and unusual changes that require human attention.</a:t>
            </a:r>
          </a:p>
        </p:txBody>
      </p:sp>
      <p:sp>
        <p:nvSpPr>
          <p:cNvPr id="11" name="">
            <a:extLst xmlns:a="http://schemas.openxmlformats.org/drawingml/2006/main">
              <a:ext uri="{FF2B5EF4-FFF2-40B4-BE49-F238E27FC236}">
                <a16:creationId xmlns:a16="http://schemas.microsoft.com/office/drawing/2014/main" id="{62A61B43-7AA9-4825-A374-3BC747EF323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39FDDAF7-59FE-4A17-BB24-D75F331BD58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57</a:t>
            </a:r>
          </a:p>
        </p:txBody>
      </p:sp>
    </p:spTree>
    <p:extLst>
      <p:ext uri="{BB962C8B-B14F-4D97-AF65-F5344CB8AC3E}">
        <p14:creationId xmlns:p14="http://schemas.microsoft.com/office/powerpoint/2010/main" val="127101674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D80611-7097-420F-B2FB-4FCA54AB003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CA9CE0FB-0723-40DB-884B-5E70C2BCBFB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 process and practice</a:t>
            </a:r>
          </a:p>
        </p:txBody>
      </p:sp>
      <p:sp>
        <p:nvSpPr>
          <p:cNvPr id="3" name="">
            <a:extLst xmlns:a="http://schemas.openxmlformats.org/drawingml/2006/main">
              <a:ext uri="{FF2B5EF4-FFF2-40B4-BE49-F238E27FC236}">
                <a16:creationId xmlns:a16="http://schemas.microsoft.com/office/drawing/2014/main" id="{5335838F-D9D5-40FE-868B-3C655C21DF3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9A5AC71-2AF2-4CD8-88F8-9162EEE9D11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Choose a governed measure linked to a real decision.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Set an approved condition and threshold.</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Assign recipients, owner, and response instructions.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Test the alert with synthetic data.</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Verify every live alert before taking action and review the rule regularly.</a:t>
            </a:r>
          </a:p>
        </p:txBody>
      </p:sp>
      <p:sp>
        <p:nvSpPr>
          <p:cNvPr id="5" name="">
            <a:extLst xmlns:a="http://schemas.openxmlformats.org/drawingml/2006/main">
              <a:ext uri="{FF2B5EF4-FFF2-40B4-BE49-F238E27FC236}">
                <a16:creationId xmlns:a16="http://schemas.microsoft.com/office/drawing/2014/main" id="{8730FAE3-DD90-4D49-B812-8DA248358DB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5055939-E801-41E8-9E2F-B1E1BEE84E7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alert rule may contain metric = weekly completion rate, operator = below, threshold = approved value, recipient = program manager, frequency = weekly, and owner = dashboard administrator.</a:t>
            </a:r>
          </a:p>
        </p:txBody>
      </p:sp>
      <p:sp>
        <p:nvSpPr>
          <p:cNvPr id="7" name="">
            <a:extLst xmlns:a="http://schemas.openxmlformats.org/drawingml/2006/main">
              <a:ext uri="{FF2B5EF4-FFF2-40B4-BE49-F238E27FC236}">
                <a16:creationId xmlns:a16="http://schemas.microsoft.com/office/drawing/2014/main" id="{8740220A-B236-4B7D-8574-C6B230BE38A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F934AF9-1C06-42CE-A5F2-37C71B03CCB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Poor thresholds can create alert fatigue. Other mistakes include sending alerts to the wrong audience, omitting an owner, acting without checking the data, or assuming an alert proves why a change happened.</a:t>
            </a:r>
          </a:p>
        </p:txBody>
      </p:sp>
      <p:sp>
        <p:nvSpPr>
          <p:cNvPr id="9" name="">
            <a:extLst xmlns:a="http://schemas.openxmlformats.org/drawingml/2006/main">
              <a:ext uri="{FF2B5EF4-FFF2-40B4-BE49-F238E27FC236}">
                <a16:creationId xmlns:a16="http://schemas.microsoft.com/office/drawing/2014/main" id="{D6E3E1B9-E6BE-412D-A39D-C115BDC217B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EEA49D0E-601D-45BD-A5A5-442D2609DAB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58</a:t>
            </a:r>
          </a:p>
        </p:txBody>
      </p:sp>
    </p:spTree>
    <p:extLst>
      <p:ext uri="{BB962C8B-B14F-4D97-AF65-F5344CB8AC3E}">
        <p14:creationId xmlns:p14="http://schemas.microsoft.com/office/powerpoint/2010/main" val="956691066"/>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D805BC0-DC47-422E-92F5-1189FC2E462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30EA4347-FBCD-4B4D-ADA2-103E4A25101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a:t>
            </a:r>
          </a:p>
        </p:txBody>
      </p:sp>
      <p:sp>
        <p:nvSpPr>
          <p:cNvPr id="3" name="">
            <a:extLst xmlns:a="http://schemas.openxmlformats.org/drawingml/2006/main">
              <a:ext uri="{FF2B5EF4-FFF2-40B4-BE49-F238E27FC236}">
                <a16:creationId xmlns:a16="http://schemas.microsoft.com/office/drawing/2014/main" id="{DBD97E6D-3A98-4033-B856-2E412C59155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77E11C5-A409-418B-8E73-266D492BBE5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exported report leaves the dashboard context, so it must carry the information a reader needs to understand it correctly. That includes the source, period, filters, metric definition, data-freshness date, limitations, classification, and approved audience.</a:t>
            </a:r>
          </a:p>
        </p:txBody>
      </p:sp>
      <p:sp>
        <p:nvSpPr>
          <p:cNvPr id="5" name="">
            <a:extLst xmlns:a="http://schemas.openxmlformats.org/drawingml/2006/main">
              <a:ext uri="{FF2B5EF4-FFF2-40B4-BE49-F238E27FC236}">
                <a16:creationId xmlns:a16="http://schemas.microsoft.com/office/drawing/2014/main" id="{B7E38B36-B9D5-4CEF-A631-B03DA811D31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0AA36F5-70B6-44C2-A868-170563D4F92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Review the figures before export.</a:t>
            </a:r>
          </a:p>
          <a:p xmlns:a="http://schemas.openxmlformats.org/drawingml/2006/main">
            <a:pPr marL="254000" indent="-127000">
              <a:spcAft>
                <a:spcPts val="600"/>
              </a:spcAft>
              <a:buChar char="•"/>
              <a:defRPr sz="1650">
                <a:solidFill>
                  <a:srgbClr val="1D2833"/>
                </a:solidFill>
                <a:latin typeface="Arial"/>
                <a:ea typeface="Arial"/>
                <a:cs typeface="Arial"/>
              </a:defRPr>
            </a:pPr>
            <a:r>
              <a:t>Include definitions, filters, source, and freshness.</a:t>
            </a:r>
          </a:p>
          <a:p xmlns:a="http://schemas.openxmlformats.org/drawingml/2006/main">
            <a:pPr marL="254000" indent="-127000">
              <a:spcAft>
                <a:spcPts val="600"/>
              </a:spcAft>
              <a:buChar char="•"/>
              <a:defRPr sz="1650">
                <a:solidFill>
                  <a:srgbClr val="1D2833"/>
                </a:solidFill>
                <a:latin typeface="Arial"/>
                <a:ea typeface="Arial"/>
                <a:cs typeface="Arial"/>
              </a:defRPr>
            </a:pPr>
            <a:r>
              <a:t>State limitations and incomplete periods clearly.</a:t>
            </a:r>
          </a:p>
          <a:p xmlns:a="http://schemas.openxmlformats.org/drawingml/2006/main">
            <a:pPr marL="254000" indent="-127000">
              <a:spcAft>
                <a:spcPts val="600"/>
              </a:spcAft>
              <a:buChar char="•"/>
              <a:defRPr sz="1650">
                <a:solidFill>
                  <a:srgbClr val="1D2833"/>
                </a:solidFill>
                <a:latin typeface="Arial"/>
                <a:ea typeface="Arial"/>
                <a:cs typeface="Arial"/>
              </a:defRPr>
            </a:pPr>
            <a:r>
              <a:t>Follow classification, storage, and sharing rules.</a:t>
            </a:r>
          </a:p>
        </p:txBody>
      </p:sp>
      <p:sp>
        <p:nvSpPr>
          <p:cNvPr id="7" name="">
            <a:extLst xmlns:a="http://schemas.openxmlformats.org/drawingml/2006/main">
              <a:ext uri="{FF2B5EF4-FFF2-40B4-BE49-F238E27FC236}">
                <a16:creationId xmlns:a16="http://schemas.microsoft.com/office/drawing/2014/main" id="{61E46417-D1C8-4658-B9C7-676C65E7188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1438320-A516-4CAF-8938-28426AFDADE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board-report chart is accompanied by a note explaining that the latest month is incomplete. Without that note, readers might mistake a partial-month value for a final result.</a:t>
            </a:r>
          </a:p>
        </p:txBody>
      </p:sp>
      <p:sp>
        <p:nvSpPr>
          <p:cNvPr id="9" name="">
            <a:extLst xmlns:a="http://schemas.openxmlformats.org/drawingml/2006/main">
              <a:ext uri="{FF2B5EF4-FFF2-40B4-BE49-F238E27FC236}">
                <a16:creationId xmlns:a16="http://schemas.microsoft.com/office/drawing/2014/main" id="{A21143B3-70C3-455B-BF5E-B7528278321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426BD73-FE1C-4E20-9E49-D0C83A1A20B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Reviewed exports are used for leadership briefings, program reports, board materials, quality meetings, and approved operational follow-up.</a:t>
            </a:r>
          </a:p>
        </p:txBody>
      </p:sp>
      <p:sp>
        <p:nvSpPr>
          <p:cNvPr id="11" name="">
            <a:extLst xmlns:a="http://schemas.openxmlformats.org/drawingml/2006/main">
              <a:ext uri="{FF2B5EF4-FFF2-40B4-BE49-F238E27FC236}">
                <a16:creationId xmlns:a16="http://schemas.microsoft.com/office/drawing/2014/main" id="{D12A3DA8-E93F-4CC7-9819-D6EA22E2A36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3798CCE4-EC73-4989-AD63-BA74F692E1E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59</a:t>
            </a:r>
          </a:p>
        </p:txBody>
      </p:sp>
    </p:spTree>
    <p:extLst>
      <p:ext uri="{BB962C8B-B14F-4D97-AF65-F5344CB8AC3E}">
        <p14:creationId xmlns:p14="http://schemas.microsoft.com/office/powerpoint/2010/main" val="848005760"/>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F087FE-CE88-4E14-BAFB-417DCEA116E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792817AE-75C6-4AA5-91D7-B75CF33F3DD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 process and practice</a:t>
            </a:r>
          </a:p>
        </p:txBody>
      </p:sp>
      <p:sp>
        <p:nvSpPr>
          <p:cNvPr id="3" name="">
            <a:extLst xmlns:a="http://schemas.openxmlformats.org/drawingml/2006/main">
              <a:ext uri="{FF2B5EF4-FFF2-40B4-BE49-F238E27FC236}">
                <a16:creationId xmlns:a16="http://schemas.microsoft.com/office/drawing/2014/main" id="{B774DD48-0D5E-41FE-89C0-BBEDED191A0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37128F2-CE8A-4CE4-B0DA-8A5A6198A26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Verify the dashboard values and active filters.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Select only the visuals needed for the audience.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Add definitions, dates, source, and limitations.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Complete the required human review.</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Export, store, and share through an approved destination.</a:t>
            </a:r>
          </a:p>
        </p:txBody>
      </p:sp>
      <p:sp>
        <p:nvSpPr>
          <p:cNvPr id="5" name="">
            <a:extLst xmlns:a="http://schemas.openxmlformats.org/drawingml/2006/main">
              <a:ext uri="{FF2B5EF4-FFF2-40B4-BE49-F238E27FC236}">
                <a16:creationId xmlns:a16="http://schemas.microsoft.com/office/drawing/2014/main" id="{68FF5635-8533-47DD-AC3F-BB0F0BFC951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3B7555C-4788-4CCD-B6B0-F61EDD71545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Add report metadata such as dataset name, last refresh date, reporting period, active filters, measure definition, export date, reviewer, and limitation note to the report footer or accompanying record.</a:t>
            </a:r>
          </a:p>
        </p:txBody>
      </p:sp>
      <p:sp>
        <p:nvSpPr>
          <p:cNvPr id="7" name="">
            <a:extLst xmlns:a="http://schemas.openxmlformats.org/drawingml/2006/main">
              <a:ext uri="{FF2B5EF4-FFF2-40B4-BE49-F238E27FC236}">
                <a16:creationId xmlns:a16="http://schemas.microsoft.com/office/drawing/2014/main" id="{069D039A-8E31-4E27-B9B0-6B87E2AEC044}"/>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4589F86-D175-47D0-A720-3B79FC90182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Frequent errors are exporting before review, removing context, sharing an outdated snapshot, exposing sensitive information, or sending the file beyond the authorized audience.</a:t>
            </a:r>
          </a:p>
        </p:txBody>
      </p:sp>
      <p:sp>
        <p:nvSpPr>
          <p:cNvPr id="9" name="">
            <a:extLst xmlns:a="http://schemas.openxmlformats.org/drawingml/2006/main">
              <a:ext uri="{FF2B5EF4-FFF2-40B4-BE49-F238E27FC236}">
                <a16:creationId xmlns:a16="http://schemas.microsoft.com/office/drawing/2014/main" id="{B7930B8E-0519-4539-AA2C-D6898332237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9FFD1FE2-61F4-43E9-B8A7-5EDD3B6DC6D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60</a:t>
            </a:r>
          </a:p>
        </p:txBody>
      </p:sp>
    </p:spTree>
    <p:extLst>
      <p:ext uri="{BB962C8B-B14F-4D97-AF65-F5344CB8AC3E}">
        <p14:creationId xmlns:p14="http://schemas.microsoft.com/office/powerpoint/2010/main" val="103581723"/>
      </p:ext>
    </p:extLst>
  </p:cSld>
</p:sld>
</file>

<file path=ppt/slides/slide6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27F250-B39C-4A16-9814-360F2958D4DB}"/>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7</a:t>
            </a:r>
          </a:p>
        </p:txBody>
      </p:sp>
      <p:sp>
        <p:nvSpPr>
          <p:cNvPr id="2" name="">
            <a:extLst xmlns:a="http://schemas.openxmlformats.org/drawingml/2006/main">
              <a:ext uri="{FF2B5EF4-FFF2-40B4-BE49-F238E27FC236}">
                <a16:creationId xmlns:a16="http://schemas.microsoft.com/office/drawing/2014/main" id="{B880CD3C-18B6-4143-971D-AD7F724764C7}"/>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Genesys AI for Call-Center Excellence</a:t>
            </a:r>
          </a:p>
        </p:txBody>
      </p:sp>
      <p:sp>
        <p:nvSpPr>
          <p:cNvPr id="3" name="">
            <a:extLst xmlns:a="http://schemas.openxmlformats.org/drawingml/2006/main">
              <a:ext uri="{FF2B5EF4-FFF2-40B4-BE49-F238E27FC236}">
                <a16:creationId xmlns:a16="http://schemas.microsoft.com/office/drawing/2014/main" id="{29E19496-768C-4659-BE1B-3C04EBA4AB94}"/>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enabled Genesys AI features may support call-center work through transcripts, summaries, knowledge suggestions, sentiment signals, and routing. It is important because these features can assist employees but can also mishear, omit, or misinterpret important information.</a:t>
            </a:r>
          </a:p>
        </p:txBody>
      </p:sp>
      <p:sp>
        <p:nvSpPr>
          <p:cNvPr id="4" name="">
            <a:extLst xmlns:a="http://schemas.openxmlformats.org/drawingml/2006/main">
              <a:ext uri="{FF2B5EF4-FFF2-40B4-BE49-F238E27FC236}">
                <a16:creationId xmlns:a16="http://schemas.microsoft.com/office/drawing/2014/main" id="{B8BCAE96-02F6-4E08-B0AA-74E5B6F32157}"/>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A779C179-EE56-4661-8A94-2F68DC68E02F}"/>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582"/>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Identify where enabled AI assistance appears in the call workflow.</a:t>
            </a:r>
          </a:p>
          <a:p xmlns:a="http://schemas.openxmlformats.org/drawingml/2006/main">
            <a:pPr marL="254000" indent="-127000">
              <a:spcAft>
                <a:spcPts val="600"/>
              </a:spcAft>
              <a:buChar char="•"/>
              <a:defRPr sz="1500">
                <a:solidFill>
                  <a:srgbClr val="F1F6F8"/>
                </a:solidFill>
                <a:latin typeface="Arial"/>
                <a:ea typeface="Arial"/>
                <a:cs typeface="Arial"/>
              </a:defRPr>
            </a:pPr>
            <a:r>
              <a:t>Review a transcript for recognition errors and missing context.</a:t>
            </a:r>
          </a:p>
          <a:p xmlns:a="http://schemas.openxmlformats.org/drawingml/2006/main">
            <a:pPr marL="254000" indent="-127000">
              <a:spcAft>
                <a:spcPts val="600"/>
              </a:spcAft>
              <a:buChar char="•"/>
              <a:defRPr sz="1500">
                <a:solidFill>
                  <a:srgbClr val="F1F6F8"/>
                </a:solidFill>
                <a:latin typeface="Arial"/>
                <a:ea typeface="Arial"/>
                <a:cs typeface="Arial"/>
              </a:defRPr>
            </a:pPr>
            <a:r>
              <a:t>Correct a summary using the approved source and process.</a:t>
            </a:r>
          </a:p>
          <a:p xmlns:a="http://schemas.openxmlformats.org/drawingml/2006/main">
            <a:pPr marL="254000" indent="-127000">
              <a:spcAft>
                <a:spcPts val="600"/>
              </a:spcAft>
              <a:buChar char="•"/>
              <a:defRPr sz="1500">
                <a:solidFill>
                  <a:srgbClr val="F1F6F8"/>
                </a:solidFill>
                <a:latin typeface="Arial"/>
                <a:ea typeface="Arial"/>
                <a:cs typeface="Arial"/>
              </a:defRPr>
            </a:pPr>
            <a:r>
              <a:t>Evaluate knowledge suggestions before communicating them.</a:t>
            </a:r>
          </a:p>
          <a:p xmlns:a="http://schemas.openxmlformats.org/drawingml/2006/main">
            <a:pPr marL="254000" indent="-127000">
              <a:spcAft>
                <a:spcPts val="600"/>
              </a:spcAft>
              <a:buChar char="•"/>
              <a:defRPr sz="1500">
                <a:solidFill>
                  <a:srgbClr val="F1F6F8"/>
                </a:solidFill>
                <a:latin typeface="Arial"/>
                <a:ea typeface="Arial"/>
                <a:cs typeface="Arial"/>
              </a:defRPr>
            </a:pPr>
            <a:r>
              <a:t>Treat sentiment and routing outputs as configured signals, not clinical facts.</a:t>
            </a:r>
          </a:p>
        </p:txBody>
      </p:sp>
      <p:sp>
        <p:nvSpPr>
          <p:cNvPr id="6" name="">
            <a:extLst xmlns:a="http://schemas.openxmlformats.org/drawingml/2006/main">
              <a:ext uri="{FF2B5EF4-FFF2-40B4-BE49-F238E27FC236}">
                <a16:creationId xmlns:a16="http://schemas.microsoft.com/office/drawing/2014/main" id="{AD1C7D18-B3D3-4798-8390-1310A72DB449}"/>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24024631-4680-4D5C-A12E-10D1B1C2E846}"/>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4F7F52"/>
                </a:solidFill>
              </a:rPr>
              <a:t>1. </a:t>
            </a:r>
            <a:r>
              <a:t>Agent assistance and suggestions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2. </a:t>
            </a:r>
            <a:r>
              <a:t>Transcripts and automatic call summaries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3. </a:t>
            </a:r>
            <a:r>
              <a:t>Sentiment alerts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4. </a:t>
            </a:r>
            <a:r>
              <a:t>Predictive routing</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5. </a:t>
            </a:r>
            <a:r>
              <a:t>Using the approved knowledge base</a:t>
            </a:r>
          </a:p>
        </p:txBody>
      </p:sp>
      <p:sp>
        <p:nvSpPr>
          <p:cNvPr id="8" name="">
            <a:extLst xmlns:a="http://schemas.openxmlformats.org/drawingml/2006/main">
              <a:ext uri="{FF2B5EF4-FFF2-40B4-BE49-F238E27FC236}">
                <a16:creationId xmlns:a16="http://schemas.microsoft.com/office/drawing/2014/main" id="{596A1BB1-1577-49B0-903E-A4D9CC83A716}"/>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call-center staff and supervisors    Prerequisites: Modules 1-5    Level: Intermediate</a:t>
            </a:r>
          </a:p>
        </p:txBody>
      </p:sp>
      <p:sp>
        <p:nvSpPr>
          <p:cNvPr id="9" name="">
            <a:extLst xmlns:a="http://schemas.openxmlformats.org/drawingml/2006/main">
              <a:ext uri="{FF2B5EF4-FFF2-40B4-BE49-F238E27FC236}">
                <a16:creationId xmlns:a16="http://schemas.microsoft.com/office/drawing/2014/main" id="{506B470C-3A45-4D29-B234-FA3F2DCA2DC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7</a:t>
            </a:r>
          </a:p>
        </p:txBody>
      </p:sp>
      <p:sp>
        <p:nvSpPr>
          <p:cNvPr id="10" name="">
            <a:extLst xmlns:a="http://schemas.openxmlformats.org/drawingml/2006/main">
              <a:ext uri="{FF2B5EF4-FFF2-40B4-BE49-F238E27FC236}">
                <a16:creationId xmlns:a16="http://schemas.microsoft.com/office/drawing/2014/main" id="{3B7B6C48-4480-4982-8212-A17EE8B095E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61</a:t>
            </a:r>
          </a:p>
        </p:txBody>
      </p:sp>
    </p:spTree>
    <p:extLst>
      <p:ext uri="{BB962C8B-B14F-4D97-AF65-F5344CB8AC3E}">
        <p14:creationId xmlns:p14="http://schemas.microsoft.com/office/powerpoint/2010/main" val="56101329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D31FC8-9AC3-4582-884D-64240E28F5E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4F4C37D4-582D-405A-B249-0D0E6EC2430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a:t>
            </a:r>
          </a:p>
        </p:txBody>
      </p:sp>
      <p:sp>
        <p:nvSpPr>
          <p:cNvPr id="3" name="">
            <a:extLst xmlns:a="http://schemas.openxmlformats.org/drawingml/2006/main">
              <a:ext uri="{FF2B5EF4-FFF2-40B4-BE49-F238E27FC236}">
                <a16:creationId xmlns:a16="http://schemas.microsoft.com/office/drawing/2014/main" id="{AE701A77-B488-482B-BDA8-A57EC11636E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61495AB-C601-4CA7-912B-F922A7D1EE4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agent assistance may surface possible information or next steps during a call. The suggestion is support for the employee, not an instruction that must be followed. The employee must confirm relevance, accuracy, currency, and permission before communicating it.</a:t>
            </a:r>
          </a:p>
        </p:txBody>
      </p:sp>
      <p:sp>
        <p:nvSpPr>
          <p:cNvPr id="5" name="">
            <a:extLst xmlns:a="http://schemas.openxmlformats.org/drawingml/2006/main">
              <a:ext uri="{FF2B5EF4-FFF2-40B4-BE49-F238E27FC236}">
                <a16:creationId xmlns:a16="http://schemas.microsoft.com/office/drawing/2014/main" id="{91CF860B-0F1F-4B1B-AFF8-D9B9BC850DC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CD85D20-D2CE-42CD-BD95-14E89BB519C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Match the suggestion to the caller's actual question.</a:t>
            </a:r>
          </a:p>
          <a:p xmlns:a="http://schemas.openxmlformats.org/drawingml/2006/main">
            <a:pPr marL="254000" indent="-127000">
              <a:spcAft>
                <a:spcPts val="600"/>
              </a:spcAft>
              <a:buChar char="•"/>
              <a:defRPr sz="1650">
                <a:solidFill>
                  <a:srgbClr val="1D2833"/>
                </a:solidFill>
                <a:latin typeface="Arial"/>
                <a:ea typeface="Arial"/>
                <a:cs typeface="Arial"/>
              </a:defRPr>
            </a:pPr>
            <a:r>
              <a:t>Confirm that the source is current and approved.</a:t>
            </a:r>
          </a:p>
          <a:p xmlns:a="http://schemas.openxmlformats.org/drawingml/2006/main">
            <a:pPr marL="254000" indent="-127000">
              <a:spcAft>
                <a:spcPts val="600"/>
              </a:spcAft>
              <a:buChar char="•"/>
              <a:defRPr sz="1650">
                <a:solidFill>
                  <a:srgbClr val="1D2833"/>
                </a:solidFill>
                <a:latin typeface="Arial"/>
                <a:ea typeface="Arial"/>
                <a:cs typeface="Arial"/>
              </a:defRPr>
            </a:pPr>
            <a:r>
              <a:t>Keep listening instead of following the screen mechanically.</a:t>
            </a:r>
          </a:p>
          <a:p xmlns:a="http://schemas.openxmlformats.org/drawingml/2006/main">
            <a:pPr marL="254000" indent="-127000">
              <a:spcAft>
                <a:spcPts val="600"/>
              </a:spcAft>
              <a:buChar char="•"/>
              <a:defRPr sz="1650">
                <a:solidFill>
                  <a:srgbClr val="1D2833"/>
                </a:solidFill>
                <a:latin typeface="Arial"/>
                <a:ea typeface="Arial"/>
                <a:cs typeface="Arial"/>
              </a:defRPr>
            </a:pPr>
            <a:r>
              <a:t>Preserve required authentication, escalation, and documentation steps.</a:t>
            </a:r>
          </a:p>
        </p:txBody>
      </p:sp>
      <p:sp>
        <p:nvSpPr>
          <p:cNvPr id="7" name="">
            <a:extLst xmlns:a="http://schemas.openxmlformats.org/drawingml/2006/main">
              <a:ext uri="{FF2B5EF4-FFF2-40B4-BE49-F238E27FC236}">
                <a16:creationId xmlns:a16="http://schemas.microsoft.com/office/drawing/2014/main" id="{6AE56C52-60F1-4D99-AF94-611FE90EF47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6F60BFA-DA73-4027-AA88-3731A4046E58}"/>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asks about a fictional service location. The system suggests an article, but the agent notices it describes a different program. The agent searches the approved knowledge source instead of reading the irrelevant suggestion.</a:t>
            </a:r>
          </a:p>
        </p:txBody>
      </p:sp>
      <p:sp>
        <p:nvSpPr>
          <p:cNvPr id="9" name="">
            <a:extLst xmlns:a="http://schemas.openxmlformats.org/drawingml/2006/main">
              <a:ext uri="{FF2B5EF4-FFF2-40B4-BE49-F238E27FC236}">
                <a16:creationId xmlns:a16="http://schemas.microsoft.com/office/drawing/2014/main" id="{9B659A8F-7CFB-45F2-AB8E-7932F94349A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8B82015-D936-4317-8869-D7819635814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Agent assistance can support information lookup, consistent explanations, approved next-step reminders, and faster navigation during routine calls.</a:t>
            </a:r>
          </a:p>
        </p:txBody>
      </p:sp>
      <p:sp>
        <p:nvSpPr>
          <p:cNvPr id="11" name="">
            <a:extLst xmlns:a="http://schemas.openxmlformats.org/drawingml/2006/main">
              <a:ext uri="{FF2B5EF4-FFF2-40B4-BE49-F238E27FC236}">
                <a16:creationId xmlns:a16="http://schemas.microsoft.com/office/drawing/2014/main" id="{BA2D7D6C-1FEB-4280-9336-403EC400AB1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830EBF2D-2599-49A9-AE1D-F70CE0C6AA5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62</a:t>
            </a:r>
          </a:p>
        </p:txBody>
      </p:sp>
    </p:spTree>
    <p:extLst>
      <p:ext uri="{BB962C8B-B14F-4D97-AF65-F5344CB8AC3E}">
        <p14:creationId xmlns:p14="http://schemas.microsoft.com/office/powerpoint/2010/main" val="193593335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2D14EA-66E6-4E4D-A123-C348F206E30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F249F0C5-68D6-47A6-ACCD-2056EFE12BC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 process and practice</a:t>
            </a:r>
          </a:p>
        </p:txBody>
      </p:sp>
      <p:sp>
        <p:nvSpPr>
          <p:cNvPr id="3" name="">
            <a:extLst xmlns:a="http://schemas.openxmlformats.org/drawingml/2006/main">
              <a:ext uri="{FF2B5EF4-FFF2-40B4-BE49-F238E27FC236}">
                <a16:creationId xmlns:a16="http://schemas.microsoft.com/office/drawing/2014/main" id="{586AEEB2-0B72-4E73-997D-D852469DF1A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443A375-D7CC-44AA-BD67-089E17468FE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Listen and clarify the caller's need.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Review the suggestion and its source.</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Compare it with the approved procedure and caller context.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Use, revise, or reject the suggestion.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Document the action through the confirmed workflow.</a:t>
            </a:r>
          </a:p>
        </p:txBody>
      </p:sp>
      <p:sp>
        <p:nvSpPr>
          <p:cNvPr id="5" name="">
            <a:extLst xmlns:a="http://schemas.openxmlformats.org/drawingml/2006/main">
              <a:ext uri="{FF2B5EF4-FFF2-40B4-BE49-F238E27FC236}">
                <a16:creationId xmlns:a16="http://schemas.microsoft.com/office/drawing/2014/main" id="{D705ABFA-2341-4D25-A338-EDC1C176039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45AE7CA-8ADC-47CF-A778-0B81B71F48A3}"/>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assistance service may use the recognized topic from a transcript to retrieve a related knowledge article. The returned article still needs a source identifier, version, effective date, and relevance check.</a:t>
            </a:r>
          </a:p>
        </p:txBody>
      </p:sp>
      <p:sp>
        <p:nvSpPr>
          <p:cNvPr id="7" name="">
            <a:extLst xmlns:a="http://schemas.openxmlformats.org/drawingml/2006/main">
              <a:ext uri="{FF2B5EF4-FFF2-40B4-BE49-F238E27FC236}">
                <a16:creationId xmlns:a16="http://schemas.microsoft.com/office/drawing/2014/main" id="{A29EB604-416B-4D84-92C1-938D4F78661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18FC569-7521-463A-B730-26CB2EADDB37}"/>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read a suggestion word for word, overlook an expired article, stop listening to the caller, or assume the tool has understood the complete situation.</a:t>
            </a:r>
          </a:p>
        </p:txBody>
      </p:sp>
      <p:sp>
        <p:nvSpPr>
          <p:cNvPr id="9" name="">
            <a:extLst xmlns:a="http://schemas.openxmlformats.org/drawingml/2006/main">
              <a:ext uri="{FF2B5EF4-FFF2-40B4-BE49-F238E27FC236}">
                <a16:creationId xmlns:a16="http://schemas.microsoft.com/office/drawing/2014/main" id="{3921C747-5DED-4A93-87AB-DA3B3448746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045409B9-BB0A-4B3D-BB8A-BBBFB75CC1D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63</a:t>
            </a:r>
          </a:p>
        </p:txBody>
      </p:sp>
    </p:spTree>
    <p:extLst>
      <p:ext uri="{BB962C8B-B14F-4D97-AF65-F5344CB8AC3E}">
        <p14:creationId xmlns:p14="http://schemas.microsoft.com/office/powerpoint/2010/main" val="1473540618"/>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E4F031-7D24-41BE-BD23-A5B41734910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22C1B169-7C8A-409F-AE6D-5B1119EF7D4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a:t>
            </a:r>
          </a:p>
        </p:txBody>
      </p:sp>
      <p:sp>
        <p:nvSpPr>
          <p:cNvPr id="3" name="">
            <a:extLst xmlns:a="http://schemas.openxmlformats.org/drawingml/2006/main">
              <a:ext uri="{FF2B5EF4-FFF2-40B4-BE49-F238E27FC236}">
                <a16:creationId xmlns:a16="http://schemas.microsoft.com/office/drawing/2014/main" id="{DB425F3E-7F94-4B2C-877B-96D9FA2DA06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CB53CF5-0ACC-4549-981A-E2F8E289F2F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Transcription converts speech into text, and summarization turns the transcript into a shorter record. Speech recognition can mishear names, dates, numbers, accents, background audio, or specialized terms. A summary can also omit an open issue or change a discussion into a commitment.</a:t>
            </a:r>
          </a:p>
        </p:txBody>
      </p:sp>
      <p:sp>
        <p:nvSpPr>
          <p:cNvPr id="5" name="">
            <a:extLst xmlns:a="http://schemas.openxmlformats.org/drawingml/2006/main">
              <a:ext uri="{FF2B5EF4-FFF2-40B4-BE49-F238E27FC236}">
                <a16:creationId xmlns:a16="http://schemas.microsoft.com/office/drawing/2014/main" id="{9416939F-0AE5-4984-90D7-29A58F53C58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5226364-0CF6-4AA3-8B9E-ACA42877722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transcript is a generated representation, not a perfect record.</a:t>
            </a:r>
          </a:p>
          <a:p xmlns:a="http://schemas.openxmlformats.org/drawingml/2006/main">
            <a:pPr marL="254000" indent="-127000">
              <a:spcAft>
                <a:spcPts val="600"/>
              </a:spcAft>
              <a:buChar char="•"/>
              <a:defRPr sz="1650">
                <a:solidFill>
                  <a:srgbClr val="1D2833"/>
                </a:solidFill>
                <a:latin typeface="Arial"/>
                <a:ea typeface="Arial"/>
                <a:cs typeface="Arial"/>
              </a:defRPr>
            </a:pPr>
            <a:r>
              <a:t>Compare important summary claims with the transcript or approved source.</a:t>
            </a:r>
          </a:p>
          <a:p xmlns:a="http://schemas.openxmlformats.org/drawingml/2006/main">
            <a:pPr marL="254000" indent="-127000">
              <a:spcAft>
                <a:spcPts val="600"/>
              </a:spcAft>
              <a:buChar char="•"/>
              <a:defRPr sz="1650">
                <a:solidFill>
                  <a:srgbClr val="1D2833"/>
                </a:solidFill>
                <a:latin typeface="Arial"/>
                <a:ea typeface="Arial"/>
                <a:cs typeface="Arial"/>
              </a:defRPr>
            </a:pPr>
            <a:r>
              <a:t>Correct names, numbers, decisions, ownership, and follow-up.</a:t>
            </a:r>
          </a:p>
          <a:p xmlns:a="http://schemas.openxmlformats.org/drawingml/2006/main">
            <a:pPr marL="254000" indent="-127000">
              <a:spcAft>
                <a:spcPts val="600"/>
              </a:spcAft>
              <a:buChar char="•"/>
              <a:defRPr sz="1650">
                <a:solidFill>
                  <a:srgbClr val="1D2833"/>
                </a:solidFill>
                <a:latin typeface="Arial"/>
                <a:ea typeface="Arial"/>
                <a:cs typeface="Arial"/>
              </a:defRPr>
            </a:pPr>
            <a:r>
              <a:t>Complete the record only after the required review.</a:t>
            </a:r>
          </a:p>
        </p:txBody>
      </p:sp>
      <p:sp>
        <p:nvSpPr>
          <p:cNvPr id="7" name="">
            <a:extLst xmlns:a="http://schemas.openxmlformats.org/drawingml/2006/main">
              <a:ext uri="{FF2B5EF4-FFF2-40B4-BE49-F238E27FC236}">
                <a16:creationId xmlns:a16="http://schemas.microsoft.com/office/drawing/2014/main" id="{CCAB071E-C35D-403C-970C-3239E0AC660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062BB65-70BC-49A1-B5C9-BB4996B06FF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discusses a Thursday appointment but does not accept it. The generated summary says the appointment was booked. The agent corrects the summary to show that transportation must be confirmed first.</a:t>
            </a:r>
          </a:p>
        </p:txBody>
      </p:sp>
      <p:sp>
        <p:nvSpPr>
          <p:cNvPr id="9" name="">
            <a:extLst xmlns:a="http://schemas.openxmlformats.org/drawingml/2006/main">
              <a:ext uri="{FF2B5EF4-FFF2-40B4-BE49-F238E27FC236}">
                <a16:creationId xmlns:a16="http://schemas.microsoft.com/office/drawing/2014/main" id="{5A865219-AAB3-42BE-B842-979872ED92C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375E17F-AF95-4DEE-BDBF-9E090ADD006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can support call documentation, follow-up records, supervisor review, quality assurance, and retrieval of agreed actions where these features are authorized.</a:t>
            </a:r>
          </a:p>
        </p:txBody>
      </p:sp>
      <p:sp>
        <p:nvSpPr>
          <p:cNvPr id="11" name="">
            <a:extLst xmlns:a="http://schemas.openxmlformats.org/drawingml/2006/main">
              <a:ext uri="{FF2B5EF4-FFF2-40B4-BE49-F238E27FC236}">
                <a16:creationId xmlns:a16="http://schemas.microsoft.com/office/drawing/2014/main" id="{9210413A-A120-4DB2-AFFC-5DBFF18B7CA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5C82B01B-EE75-446B-8493-49007936D42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64</a:t>
            </a:r>
          </a:p>
        </p:txBody>
      </p:sp>
    </p:spTree>
    <p:extLst>
      <p:ext uri="{BB962C8B-B14F-4D97-AF65-F5344CB8AC3E}">
        <p14:creationId xmlns:p14="http://schemas.microsoft.com/office/powerpoint/2010/main" val="44378790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AD135D-865F-406E-AED3-96947D5004C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846A50D1-8FC9-47E4-AFB2-85361DBE0B1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4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 process and practice</a:t>
            </a:r>
          </a:p>
        </p:txBody>
      </p:sp>
      <p:sp>
        <p:nvSpPr>
          <p:cNvPr id="3" name="">
            <a:extLst xmlns:a="http://schemas.openxmlformats.org/drawingml/2006/main">
              <a:ext uri="{FF2B5EF4-FFF2-40B4-BE49-F238E27FC236}">
                <a16:creationId xmlns:a16="http://schemas.microsoft.com/office/drawing/2014/main" id="{CEEA0DDB-CC1C-40F9-9E21-47792D2ABE4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FDCBE37-3A22-4E42-B6D6-603F45D053D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approved system records or processes the call as configured.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Speech recognition produces a draft transcript.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A summarization feature proposes key facts and actions.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The employee checks the proposal against the source.</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Corrections are made before the record is finalized.</a:t>
            </a:r>
          </a:p>
        </p:txBody>
      </p:sp>
      <p:sp>
        <p:nvSpPr>
          <p:cNvPr id="5" name="">
            <a:extLst xmlns:a="http://schemas.openxmlformats.org/drawingml/2006/main">
              <a:ext uri="{FF2B5EF4-FFF2-40B4-BE49-F238E27FC236}">
                <a16:creationId xmlns:a16="http://schemas.microsoft.com/office/drawing/2014/main" id="{437C7196-107D-47DC-B9E0-5B4F0F556FD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D8FE036-A65E-4759-913D-C65D6AAEEE4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simplified pipeline is audio -&gt; speech-to-text transcript -&gt; generated summary -&gt; human review -&gt; approved call record. Each transformation can introduce an error, so high-impact details require source comparison.</a:t>
            </a:r>
          </a:p>
        </p:txBody>
      </p:sp>
      <p:sp>
        <p:nvSpPr>
          <p:cNvPr id="7" name="">
            <a:extLst xmlns:a="http://schemas.openxmlformats.org/drawingml/2006/main">
              <a:ext uri="{FF2B5EF4-FFF2-40B4-BE49-F238E27FC236}">
                <a16:creationId xmlns:a16="http://schemas.microsoft.com/office/drawing/2014/main" id="{E5D9653A-1D08-43E1-B988-D8245D569EC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66361B0-5370-4E99-B9E4-165D7C4D5D5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accepting the draft unchanged, overlooking a wrong number, removing uncertainty, assigning an action to the wrong person, or treating discussed options as confirmed decisions.</a:t>
            </a:r>
          </a:p>
        </p:txBody>
      </p:sp>
      <p:sp>
        <p:nvSpPr>
          <p:cNvPr id="9" name="">
            <a:extLst xmlns:a="http://schemas.openxmlformats.org/drawingml/2006/main">
              <a:ext uri="{FF2B5EF4-FFF2-40B4-BE49-F238E27FC236}">
                <a16:creationId xmlns:a16="http://schemas.microsoft.com/office/drawing/2014/main" id="{232D3F42-C32B-49DE-BC60-C142C759D69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C4B19A06-82DA-4AC2-A4E9-435FE595CCE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65</a:t>
            </a:r>
          </a:p>
        </p:txBody>
      </p:sp>
    </p:spTree>
    <p:extLst>
      <p:ext uri="{BB962C8B-B14F-4D97-AF65-F5344CB8AC3E}">
        <p14:creationId xmlns:p14="http://schemas.microsoft.com/office/powerpoint/2010/main" val="137216415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A0838F-0BB8-428F-9074-9CAC6CF0E32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B2BC0150-5EDF-4B53-A390-94A5FE6F2A9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a:t>
            </a:r>
          </a:p>
        </p:txBody>
      </p:sp>
      <p:sp>
        <p:nvSpPr>
          <p:cNvPr id="3" name="">
            <a:extLst xmlns:a="http://schemas.openxmlformats.org/drawingml/2006/main">
              <a:ext uri="{FF2B5EF4-FFF2-40B4-BE49-F238E27FC236}">
                <a16:creationId xmlns:a16="http://schemas.microsoft.com/office/drawing/2014/main" id="{F7F7E00B-7173-4241-BD54-BEFBC7EC8D2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942E8FA-9B45-4663-9B89-CD724970B16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Sentiment analysis estimates an emotional category or change from language or voice patterns. It is uncertain and can be affected by culture, disability, communication style, accent, silence, or background noise. It does not establish how a person feels and is never a diagnosis.</a:t>
            </a:r>
          </a:p>
        </p:txBody>
      </p:sp>
      <p:sp>
        <p:nvSpPr>
          <p:cNvPr id="5" name="">
            <a:extLst xmlns:a="http://schemas.openxmlformats.org/drawingml/2006/main">
              <a:ext uri="{FF2B5EF4-FFF2-40B4-BE49-F238E27FC236}">
                <a16:creationId xmlns:a16="http://schemas.microsoft.com/office/drawing/2014/main" id="{EC61270C-25B4-4A99-8551-2C03993513F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4C7DF95-0F15-4096-B631-FDCA79CB242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Treat sentiment as an uncertain signal.</a:t>
            </a:r>
          </a:p>
          <a:p xmlns:a="http://schemas.openxmlformats.org/drawingml/2006/main">
            <a:pPr marL="254000" indent="-127000">
              <a:spcAft>
                <a:spcPts val="600"/>
              </a:spcAft>
              <a:buChar char="•"/>
              <a:defRPr sz="1650">
                <a:solidFill>
                  <a:srgbClr val="1D2833"/>
                </a:solidFill>
                <a:latin typeface="Arial"/>
                <a:ea typeface="Arial"/>
                <a:cs typeface="Arial"/>
              </a:defRPr>
            </a:pPr>
            <a:r>
              <a:t>Respond to the caller's words and observable needs.</a:t>
            </a:r>
          </a:p>
          <a:p xmlns:a="http://schemas.openxmlformats.org/drawingml/2006/main">
            <a:pPr marL="254000" indent="-127000">
              <a:spcAft>
                <a:spcPts val="600"/>
              </a:spcAft>
              <a:buChar char="•"/>
              <a:defRPr sz="1650">
                <a:solidFill>
                  <a:srgbClr val="1D2833"/>
                </a:solidFill>
                <a:latin typeface="Arial"/>
                <a:ea typeface="Arial"/>
                <a:cs typeface="Arial"/>
              </a:defRPr>
            </a:pPr>
            <a:r>
              <a:t>Never use the label as a clinical conclusion.</a:t>
            </a:r>
          </a:p>
          <a:p xmlns:a="http://schemas.openxmlformats.org/drawingml/2006/main">
            <a:pPr marL="254000" indent="-127000">
              <a:spcAft>
                <a:spcPts val="600"/>
              </a:spcAft>
              <a:buChar char="•"/>
              <a:defRPr sz="1650">
                <a:solidFill>
                  <a:srgbClr val="1D2833"/>
                </a:solidFill>
                <a:latin typeface="Arial"/>
                <a:ea typeface="Arial"/>
                <a:cs typeface="Arial"/>
              </a:defRPr>
            </a:pPr>
            <a:r>
              <a:t>Follow confirmed crisis and escalation procedures regardless of the label.</a:t>
            </a:r>
          </a:p>
        </p:txBody>
      </p:sp>
      <p:sp>
        <p:nvSpPr>
          <p:cNvPr id="7" name="">
            <a:extLst xmlns:a="http://schemas.openxmlformats.org/drawingml/2006/main">
              <a:ext uri="{FF2B5EF4-FFF2-40B4-BE49-F238E27FC236}">
                <a16:creationId xmlns:a16="http://schemas.microsoft.com/office/drawing/2014/main" id="{7FE913A4-CD3C-46A1-975A-F8F675E5B0B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1CC0D77-C3C6-40FB-A52B-FD7C7ACC257C}"/>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system displays a negative sentiment label while the caller calmly requests written confirmation. The agent responds to the caller's actual words and follows the approved workflow instead of treating the label as a clinical fact.</a:t>
            </a:r>
          </a:p>
        </p:txBody>
      </p:sp>
      <p:sp>
        <p:nvSpPr>
          <p:cNvPr id="9" name="">
            <a:extLst xmlns:a="http://schemas.openxmlformats.org/drawingml/2006/main">
              <a:ext uri="{FF2B5EF4-FFF2-40B4-BE49-F238E27FC236}">
                <a16:creationId xmlns:a16="http://schemas.microsoft.com/office/drawing/2014/main" id="{4985D58E-A64B-4AD0-8865-0BC6B4F2B6C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87F7BA4-F198-4FC9-803F-E2DB91325B8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Where approved, sentiment may support quality review, supervisor awareness, coaching discussions, or prompts to pay closer attention during a call.</a:t>
            </a:r>
          </a:p>
        </p:txBody>
      </p:sp>
      <p:sp>
        <p:nvSpPr>
          <p:cNvPr id="11" name="">
            <a:extLst xmlns:a="http://schemas.openxmlformats.org/drawingml/2006/main">
              <a:ext uri="{FF2B5EF4-FFF2-40B4-BE49-F238E27FC236}">
                <a16:creationId xmlns:a16="http://schemas.microsoft.com/office/drawing/2014/main" id="{9B0901F0-9327-46CE-8CBE-522C7100DA1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B3108D67-7431-45D7-8D9E-D9476C1E574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66</a:t>
            </a:r>
          </a:p>
        </p:txBody>
      </p:sp>
    </p:spTree>
    <p:extLst>
      <p:ext uri="{BB962C8B-B14F-4D97-AF65-F5344CB8AC3E}">
        <p14:creationId xmlns:p14="http://schemas.microsoft.com/office/powerpoint/2010/main" val="25140161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A9A83A-E90B-455E-BA1C-2083C1A9EF2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73F3D42B-59C3-4253-BF48-35537D51BE8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 process and practice</a:t>
            </a:r>
          </a:p>
        </p:txBody>
      </p:sp>
      <p:sp>
        <p:nvSpPr>
          <p:cNvPr id="3" name="">
            <a:extLst xmlns:a="http://schemas.openxmlformats.org/drawingml/2006/main">
              <a:ext uri="{FF2B5EF4-FFF2-40B4-BE49-F238E27FC236}">
                <a16:creationId xmlns:a16="http://schemas.microsoft.com/office/drawing/2014/main" id="{95FB0FAE-BC92-4DCC-98AB-8D0D3BFC88B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157BF94-D9C1-4F86-B762-C2FC59EA1E8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configured system analyzes permitted call signals.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It produces a category, score, or alert.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The employee notices the signal without assuming it is correct.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The employee listens, clarifies, and follows procedure.</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Required action is based on the full situation and approved workflow.</a:t>
            </a:r>
          </a:p>
        </p:txBody>
      </p:sp>
      <p:sp>
        <p:nvSpPr>
          <p:cNvPr id="5" name="">
            <a:extLst xmlns:a="http://schemas.openxmlformats.org/drawingml/2006/main">
              <a:ext uri="{FF2B5EF4-FFF2-40B4-BE49-F238E27FC236}">
                <a16:creationId xmlns:a16="http://schemas.microsoft.com/office/drawing/2014/main" id="{53B510BB-6929-48E6-94BB-4839C16FD83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CF02F53-CA6B-4574-B9EA-72D7D5E3F99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model may return a label and confidence score from text or audio features. Even a high score describes model confidence in its classification, not certainty about a person's feelings or needs.</a:t>
            </a:r>
          </a:p>
        </p:txBody>
      </p:sp>
      <p:sp>
        <p:nvSpPr>
          <p:cNvPr id="7" name="">
            <a:extLst xmlns:a="http://schemas.openxmlformats.org/drawingml/2006/main">
              <a:ext uri="{FF2B5EF4-FFF2-40B4-BE49-F238E27FC236}">
                <a16:creationId xmlns:a16="http://schemas.microsoft.com/office/drawing/2014/main" id="{BF7953AE-424C-48BC-B96C-2CE139C04C1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694C4F8-9EB5-4129-B209-AA8F94268C0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confuse sentiment with diagnosis, allow a label to override the caller's words, act differently because of bias, or fail to follow a required escalation because the system did not flag the call.</a:t>
            </a:r>
          </a:p>
        </p:txBody>
      </p:sp>
      <p:sp>
        <p:nvSpPr>
          <p:cNvPr id="9" name="">
            <a:extLst xmlns:a="http://schemas.openxmlformats.org/drawingml/2006/main">
              <a:ext uri="{FF2B5EF4-FFF2-40B4-BE49-F238E27FC236}">
                <a16:creationId xmlns:a16="http://schemas.microsoft.com/office/drawing/2014/main" id="{5D8DD179-C6FA-40B8-9786-F152DF52216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E4F23730-95A8-4C01-A30C-FCD337277E0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67</a:t>
            </a:r>
          </a:p>
        </p:txBody>
      </p:sp>
    </p:spTree>
    <p:extLst>
      <p:ext uri="{BB962C8B-B14F-4D97-AF65-F5344CB8AC3E}">
        <p14:creationId xmlns:p14="http://schemas.microsoft.com/office/powerpoint/2010/main" val="100387399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40676C-CB28-46E2-B897-7C84DB2E98C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364688F5-814A-453D-B7E9-53D1533D8A1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a:t>
            </a:r>
          </a:p>
        </p:txBody>
      </p:sp>
      <p:sp>
        <p:nvSpPr>
          <p:cNvPr id="3" name="">
            <a:extLst xmlns:a="http://schemas.openxmlformats.org/drawingml/2006/main">
              <a:ext uri="{FF2B5EF4-FFF2-40B4-BE49-F238E27FC236}">
                <a16:creationId xmlns:a16="http://schemas.microsoft.com/office/drawing/2014/main" id="{B472F7F7-F613-4429-BC7B-23AA8876E53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97FECAE-CF19-4C33-8AEF-E67DE4F96C4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predictive routing uses configured data and rules or models to choose a queue or agent. Routing can improve flow, but it may be wrong or inappropriate. Staff remain responsible for the call once it reaches them and must know how to correct or escalate a poor route.</a:t>
            </a:r>
          </a:p>
        </p:txBody>
      </p:sp>
      <p:sp>
        <p:nvSpPr>
          <p:cNvPr id="5" name="">
            <a:extLst xmlns:a="http://schemas.openxmlformats.org/drawingml/2006/main">
              <a:ext uri="{FF2B5EF4-FFF2-40B4-BE49-F238E27FC236}">
                <a16:creationId xmlns:a16="http://schemas.microsoft.com/office/drawing/2014/main" id="{865F3149-4D25-4152-A7BC-211F3D6F21A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E78A78E-3555-48D9-8E5F-C04AEF1DCFA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102"/>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Understand the approved goal of the routing system.</a:t>
            </a:r>
          </a:p>
          <a:p xmlns:a="http://schemas.openxmlformats.org/drawingml/2006/main">
            <a:pPr marL="254000" indent="-127000">
              <a:spcAft>
                <a:spcPts val="600"/>
              </a:spcAft>
              <a:buChar char="•"/>
              <a:defRPr sz="1650">
                <a:solidFill>
                  <a:srgbClr val="1D2833"/>
                </a:solidFill>
                <a:latin typeface="Arial"/>
                <a:ea typeface="Arial"/>
                <a:cs typeface="Arial"/>
              </a:defRPr>
            </a:pPr>
            <a:r>
              <a:t>Know which information and constraints influence the route.</a:t>
            </a:r>
          </a:p>
          <a:p xmlns:a="http://schemas.openxmlformats.org/drawingml/2006/main">
            <a:pPr marL="254000" indent="-127000">
              <a:spcAft>
                <a:spcPts val="600"/>
              </a:spcAft>
              <a:buChar char="•"/>
              <a:defRPr sz="1650">
                <a:solidFill>
                  <a:srgbClr val="1D2833"/>
                </a:solidFill>
                <a:latin typeface="Arial"/>
                <a:ea typeface="Arial"/>
                <a:cs typeface="Arial"/>
              </a:defRPr>
            </a:pPr>
            <a:r>
              <a:t>Follow the authorized transfer process when a route is unsuitable.</a:t>
            </a:r>
          </a:p>
          <a:p xmlns:a="http://schemas.openxmlformats.org/drawingml/2006/main">
            <a:pPr marL="254000" indent="-127000">
              <a:spcAft>
                <a:spcPts val="600"/>
              </a:spcAft>
              <a:buChar char="•"/>
              <a:defRPr sz="1650">
                <a:solidFill>
                  <a:srgbClr val="1D2833"/>
                </a:solidFill>
                <a:latin typeface="Arial"/>
                <a:ea typeface="Arial"/>
                <a:cs typeface="Arial"/>
              </a:defRPr>
            </a:pPr>
            <a:r>
              <a:t>Monitor routing performance and fairness across groups.</a:t>
            </a:r>
          </a:p>
        </p:txBody>
      </p:sp>
      <p:sp>
        <p:nvSpPr>
          <p:cNvPr id="7" name="">
            <a:extLst xmlns:a="http://schemas.openxmlformats.org/drawingml/2006/main">
              <a:ext uri="{FF2B5EF4-FFF2-40B4-BE49-F238E27FC236}">
                <a16:creationId xmlns:a16="http://schemas.microsoft.com/office/drawing/2014/main" id="{2CE24741-324B-4BF5-8736-C74ABA2A875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1EB73D3-9DA4-4125-8B4D-8E8E3D7D90C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 reaches a general queue even though the fictional caller needs language assistance. The agent follows the approved transfer or support process rather than assuming the routing decision cannot be changed.</a:t>
            </a:r>
          </a:p>
        </p:txBody>
      </p:sp>
      <p:sp>
        <p:nvSpPr>
          <p:cNvPr id="9" name="">
            <a:extLst xmlns:a="http://schemas.openxmlformats.org/drawingml/2006/main">
              <a:ext uri="{FF2B5EF4-FFF2-40B4-BE49-F238E27FC236}">
                <a16:creationId xmlns:a16="http://schemas.microsoft.com/office/drawing/2014/main" id="{D9064599-1F3A-4029-B311-1481E79BDCF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6D20F77-658A-44F0-B7DE-51EAD943E29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may support skill-based routing, language assistance, queue balancing, specialist access, and reduced transfer time where DWIHN has enabled it.</a:t>
            </a:r>
          </a:p>
        </p:txBody>
      </p:sp>
      <p:sp>
        <p:nvSpPr>
          <p:cNvPr id="11" name="">
            <a:extLst xmlns:a="http://schemas.openxmlformats.org/drawingml/2006/main">
              <a:ext uri="{FF2B5EF4-FFF2-40B4-BE49-F238E27FC236}">
                <a16:creationId xmlns:a16="http://schemas.microsoft.com/office/drawing/2014/main" id="{758DC750-61AF-4BDF-87ED-6158672E029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AD0A25F0-91E1-4DD9-9775-E1BB46B6C97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68</a:t>
            </a:r>
          </a:p>
        </p:txBody>
      </p:sp>
    </p:spTree>
    <p:extLst>
      <p:ext uri="{BB962C8B-B14F-4D97-AF65-F5344CB8AC3E}">
        <p14:creationId xmlns:p14="http://schemas.microsoft.com/office/powerpoint/2010/main" val="1855964598"/>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A099B8-E8FD-43A3-BF45-8E0B8C852EE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717C60E6-971B-487B-8E27-361C7F43756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 process and practice</a:t>
            </a:r>
          </a:p>
        </p:txBody>
      </p:sp>
      <p:sp>
        <p:nvSpPr>
          <p:cNvPr id="3" name="">
            <a:extLst xmlns:a="http://schemas.openxmlformats.org/drawingml/2006/main">
              <a:ext uri="{FF2B5EF4-FFF2-40B4-BE49-F238E27FC236}">
                <a16:creationId xmlns:a16="http://schemas.microsoft.com/office/drawing/2014/main" id="{7FD2E6C8-069C-4852-83AB-9BCBB4E3ECA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09274AE-D1B7-4CC0-980A-FC3BE62D553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system receives permitted call and queue information.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Rules or a model evaluate possible destinations.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The call is routed to a queue or agent.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The receiving employee verifies that the route fits the need.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Mismatches and recurring patterns follow the confirmed correction route.</a:t>
            </a:r>
          </a:p>
        </p:txBody>
      </p:sp>
      <p:sp>
        <p:nvSpPr>
          <p:cNvPr id="5" name="">
            <a:extLst xmlns:a="http://schemas.openxmlformats.org/drawingml/2006/main">
              <a:ext uri="{FF2B5EF4-FFF2-40B4-BE49-F238E27FC236}">
                <a16:creationId xmlns:a16="http://schemas.microsoft.com/office/drawing/2014/main" id="{3B96D08F-8C86-46F9-9A02-DE2D39DD68C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8D89C93-6417-43FE-BA84-89EFCC8C264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routing configuration may consider queue availability, agent skills, language capability, and the identified contact reason. It returns a destination, but an employee can still identify a mismatch that the model did not capture.</a:t>
            </a:r>
          </a:p>
        </p:txBody>
      </p:sp>
      <p:sp>
        <p:nvSpPr>
          <p:cNvPr id="7" name="">
            <a:extLst xmlns:a="http://schemas.openxmlformats.org/drawingml/2006/main">
              <a:ext uri="{FF2B5EF4-FFF2-40B4-BE49-F238E27FC236}">
                <a16:creationId xmlns:a16="http://schemas.microsoft.com/office/drawing/2014/main" id="{0325E5FC-AA68-4160-A46A-9A5D3626330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8F0E61E-B83A-48A8-B0DB-27002AA7686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the route is always correct, transfer without explanation, ignore unfair patterns, or misunderstand a prediction as an instruction that cannot be changed.</a:t>
            </a:r>
          </a:p>
        </p:txBody>
      </p:sp>
      <p:sp>
        <p:nvSpPr>
          <p:cNvPr id="9" name="">
            <a:extLst xmlns:a="http://schemas.openxmlformats.org/drawingml/2006/main">
              <a:ext uri="{FF2B5EF4-FFF2-40B4-BE49-F238E27FC236}">
                <a16:creationId xmlns:a16="http://schemas.microsoft.com/office/drawing/2014/main" id="{4E769A96-31C3-456B-99D6-00F6EA16124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9BB54971-E504-4FF6-9CC1-F23F3A2C598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69</a:t>
            </a:r>
          </a:p>
        </p:txBody>
      </p:sp>
    </p:spTree>
    <p:extLst>
      <p:ext uri="{BB962C8B-B14F-4D97-AF65-F5344CB8AC3E}">
        <p14:creationId xmlns:p14="http://schemas.microsoft.com/office/powerpoint/2010/main" val="69917951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4997D5-0A8B-43F1-8AD5-B4CA9F03A92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21499E60-AE26-4297-A73B-9C2E665CEB6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a:t>
            </a:r>
          </a:p>
        </p:txBody>
      </p:sp>
      <p:sp>
        <p:nvSpPr>
          <p:cNvPr id="3" name="">
            <a:extLst xmlns:a="http://schemas.openxmlformats.org/drawingml/2006/main">
              <a:ext uri="{FF2B5EF4-FFF2-40B4-BE49-F238E27FC236}">
                <a16:creationId xmlns:a16="http://schemas.microsoft.com/office/drawing/2014/main" id="{71D15BF1-1FDB-45C7-BFDC-C94598BF1F0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516FBD32-9FA5-4D03-BD10-F7AD980F3F9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approved knowledge base stores controlled information such as procedures, program details, and call guidance. A suggested article is useful only when it is relevant, current, authorized for the employee, and appropriate for the caller.</a:t>
            </a:r>
          </a:p>
        </p:txBody>
      </p:sp>
      <p:sp>
        <p:nvSpPr>
          <p:cNvPr id="5" name="">
            <a:extLst xmlns:a="http://schemas.openxmlformats.org/drawingml/2006/main">
              <a:ext uri="{FF2B5EF4-FFF2-40B4-BE49-F238E27FC236}">
                <a16:creationId xmlns:a16="http://schemas.microsoft.com/office/drawing/2014/main" id="{9A0EF2E8-8869-4676-A0B5-DEF58A6A4A8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C8DF0CA-2CD7-44A9-8EF2-04CB5191AFE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only the approved knowledge source.</a:t>
            </a:r>
          </a:p>
          <a:p xmlns:a="http://schemas.openxmlformats.org/drawingml/2006/main">
            <a:pPr marL="254000" indent="-127000">
              <a:spcAft>
                <a:spcPts val="600"/>
              </a:spcAft>
              <a:buChar char="•"/>
              <a:defRPr sz="1650">
                <a:solidFill>
                  <a:srgbClr val="1D2833"/>
                </a:solidFill>
                <a:latin typeface="Arial"/>
                <a:ea typeface="Arial"/>
                <a:cs typeface="Arial"/>
              </a:defRPr>
            </a:pPr>
            <a:r>
              <a:t>Check the title, program, audience, version, and effective date.</a:t>
            </a:r>
          </a:p>
          <a:p xmlns:a="http://schemas.openxmlformats.org/drawingml/2006/main">
            <a:pPr marL="254000" indent="-127000">
              <a:spcAft>
                <a:spcPts val="600"/>
              </a:spcAft>
              <a:buChar char="•"/>
              <a:defRPr sz="1650">
                <a:solidFill>
                  <a:srgbClr val="1D2833"/>
                </a:solidFill>
                <a:latin typeface="Arial"/>
                <a:ea typeface="Arial"/>
                <a:cs typeface="Arial"/>
              </a:defRPr>
            </a:pPr>
            <a:r>
              <a:t>Confirm that local instructions match the caller's situation.</a:t>
            </a:r>
          </a:p>
          <a:p xmlns:a="http://schemas.openxmlformats.org/drawingml/2006/main">
            <a:pPr marL="254000" indent="-127000">
              <a:spcAft>
                <a:spcPts val="600"/>
              </a:spcAft>
              <a:buChar char="•"/>
              <a:defRPr sz="1650">
                <a:solidFill>
                  <a:srgbClr val="1D2833"/>
                </a:solidFill>
                <a:latin typeface="Arial"/>
                <a:ea typeface="Arial"/>
                <a:cs typeface="Arial"/>
              </a:defRPr>
            </a:pPr>
            <a:r>
              <a:t>Report outdated or conflicting content through the confirmed process.</a:t>
            </a:r>
          </a:p>
        </p:txBody>
      </p:sp>
      <p:sp>
        <p:nvSpPr>
          <p:cNvPr id="7" name="">
            <a:extLst xmlns:a="http://schemas.openxmlformats.org/drawingml/2006/main">
              <a:ext uri="{FF2B5EF4-FFF2-40B4-BE49-F238E27FC236}">
                <a16:creationId xmlns:a16="http://schemas.microsoft.com/office/drawing/2014/main" id="{5B110CFF-44B1-4971-B544-0F34C60A55C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74DB48A-0F88-4441-A38C-E579A62B896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articles have similar titles, but only one contains the current fictional office hours. The agent checks the publication details and uses the current source.</a:t>
            </a:r>
          </a:p>
        </p:txBody>
      </p:sp>
      <p:sp>
        <p:nvSpPr>
          <p:cNvPr id="9" name="">
            <a:extLst xmlns:a="http://schemas.openxmlformats.org/drawingml/2006/main">
              <a:ext uri="{FF2B5EF4-FFF2-40B4-BE49-F238E27FC236}">
                <a16:creationId xmlns:a16="http://schemas.microsoft.com/office/drawing/2014/main" id="{9AABCCA0-FA41-40EC-9B66-C5BFBF8886E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A6CDDBA-116E-4105-A5CC-3083CEB38DA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Knowledge bases support consistent service information, standard procedures, location details, eligibility guidance, call scripts, and employee reference.</a:t>
            </a:r>
          </a:p>
        </p:txBody>
      </p:sp>
      <p:sp>
        <p:nvSpPr>
          <p:cNvPr id="11" name="">
            <a:extLst xmlns:a="http://schemas.openxmlformats.org/drawingml/2006/main">
              <a:ext uri="{FF2B5EF4-FFF2-40B4-BE49-F238E27FC236}">
                <a16:creationId xmlns:a16="http://schemas.microsoft.com/office/drawing/2014/main" id="{65A12F5C-C7FE-4228-98C8-D40CD76BD21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0A7EA889-7823-458D-BC6E-E33B4721EC3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70</a:t>
            </a:r>
          </a:p>
        </p:txBody>
      </p:sp>
    </p:spTree>
    <p:extLst>
      <p:ext uri="{BB962C8B-B14F-4D97-AF65-F5344CB8AC3E}">
        <p14:creationId xmlns:p14="http://schemas.microsoft.com/office/powerpoint/2010/main" val="81915108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B9A46C-6E67-4EA2-A266-FC992B85BB1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A3A93CB5-37D2-4415-AB9C-DEC076C4373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 process and practice</a:t>
            </a:r>
          </a:p>
        </p:txBody>
      </p:sp>
      <p:sp>
        <p:nvSpPr>
          <p:cNvPr id="3" name="">
            <a:extLst xmlns:a="http://schemas.openxmlformats.org/drawingml/2006/main">
              <a:ext uri="{FF2B5EF4-FFF2-40B4-BE49-F238E27FC236}">
                <a16:creationId xmlns:a16="http://schemas.microsoft.com/office/drawing/2014/main" id="{73EFE9E8-0912-4C4A-A96F-A6599BFF43E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7FD193F-DE8F-4A66-8175-FB38F54558C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Search by the caller's confirmed need.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Open the most relevant approved article.</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Check its metadata, scope, and current status.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Use only the information that applies.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Document or report content issues as required.</a:t>
            </a:r>
          </a:p>
        </p:txBody>
      </p:sp>
      <p:sp>
        <p:nvSpPr>
          <p:cNvPr id="5" name="">
            <a:extLst xmlns:a="http://schemas.openxmlformats.org/drawingml/2006/main">
              <a:ext uri="{FF2B5EF4-FFF2-40B4-BE49-F238E27FC236}">
                <a16:creationId xmlns:a16="http://schemas.microsoft.com/office/drawing/2014/main" id="{9595017D-ADDF-4064-A007-F72CA6B360F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1BD19EF-A226-4DBD-8488-F5EC0115F03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knowledge article can include metadata such as article ID, owner, version, effective date, audience, program, and review date. Search ranking may surface a similar article first, so metadata is part of verification.</a:t>
            </a:r>
          </a:p>
        </p:txBody>
      </p:sp>
      <p:sp>
        <p:nvSpPr>
          <p:cNvPr id="7" name="">
            <a:extLst xmlns:a="http://schemas.openxmlformats.org/drawingml/2006/main">
              <a:ext uri="{FF2B5EF4-FFF2-40B4-BE49-F238E27FC236}">
                <a16:creationId xmlns:a16="http://schemas.microsoft.com/office/drawing/2014/main" id="{64CC1062-0A9B-499D-9AB8-D16026381AE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6AA7BC0-AC8F-4C67-B34E-6941B241056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using the first result, selecting an article for the wrong program, ignoring an expiration date, quoting internal-only content, or relying on personal notes instead of the controlled source.</a:t>
            </a:r>
          </a:p>
        </p:txBody>
      </p:sp>
      <p:sp>
        <p:nvSpPr>
          <p:cNvPr id="9" name="">
            <a:extLst xmlns:a="http://schemas.openxmlformats.org/drawingml/2006/main">
              <a:ext uri="{FF2B5EF4-FFF2-40B4-BE49-F238E27FC236}">
                <a16:creationId xmlns:a16="http://schemas.microsoft.com/office/drawing/2014/main" id="{5D3B1FCF-241E-454B-B31E-1BA466E5394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999C1907-B531-4339-8281-E607DF64101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71</a:t>
            </a:r>
          </a:p>
        </p:txBody>
      </p:sp>
    </p:spTree>
    <p:extLst>
      <p:ext uri="{BB962C8B-B14F-4D97-AF65-F5344CB8AC3E}">
        <p14:creationId xmlns:p14="http://schemas.microsoft.com/office/powerpoint/2010/main" val="2033869759"/>
      </p:ext>
    </p:extLst>
  </p:cSld>
</p:sld>
</file>

<file path=ppt/slides/slide7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E85478-40FE-4FDB-9192-3D33E48E8806}"/>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8</a:t>
            </a:r>
          </a:p>
        </p:txBody>
      </p:sp>
      <p:sp>
        <p:nvSpPr>
          <p:cNvPr id="2" name="">
            <a:extLst xmlns:a="http://schemas.openxmlformats.org/drawingml/2006/main">
              <a:ext uri="{FF2B5EF4-FFF2-40B4-BE49-F238E27FC236}">
                <a16:creationId xmlns:a16="http://schemas.microsoft.com/office/drawing/2014/main" id="{241262EA-538B-4573-9B01-4E42823DE5AF}"/>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Objective Decisions with Data</a:t>
            </a:r>
          </a:p>
        </p:txBody>
      </p:sp>
      <p:sp>
        <p:nvSpPr>
          <p:cNvPr id="3" name="">
            <a:extLst xmlns:a="http://schemas.openxmlformats.org/drawingml/2006/main">
              <a:ext uri="{FF2B5EF4-FFF2-40B4-BE49-F238E27FC236}">
                <a16:creationId xmlns:a16="http://schemas.microsoft.com/office/drawing/2014/main" id="{08E8C37E-8A92-4D06-818F-CC6D9B947D52}"/>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move from a chart or AI-generated insight to a transparent, evidence-based decision. It is important because data can show a pattern without proving its cause, and predictions require validation, fairness checks, and monitoring.</a:t>
            </a:r>
          </a:p>
        </p:txBody>
      </p:sp>
      <p:sp>
        <p:nvSpPr>
          <p:cNvPr id="4" name="">
            <a:extLst xmlns:a="http://schemas.openxmlformats.org/drawingml/2006/main">
              <a:ext uri="{FF2B5EF4-FFF2-40B4-BE49-F238E27FC236}">
                <a16:creationId xmlns:a16="http://schemas.microsoft.com/office/drawing/2014/main" id="{0C995591-F1E7-4298-AB23-0C8A8786286C}"/>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BCF43875-E564-4BBF-8781-EBDC645316DA}"/>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Distinguish an observation, interpretation, hypothesis, and prediction.</a:t>
            </a:r>
          </a:p>
          <a:p xmlns:a="http://schemas.openxmlformats.org/drawingml/2006/main">
            <a:pPr marL="254000" indent="-127000">
              <a:spcAft>
                <a:spcPts val="600"/>
              </a:spcAft>
              <a:buChar char="•"/>
              <a:defRPr sz="1500">
                <a:solidFill>
                  <a:srgbClr val="F1F6F8"/>
                </a:solidFill>
                <a:latin typeface="Arial"/>
                <a:ea typeface="Arial"/>
                <a:cs typeface="Arial"/>
              </a:defRPr>
            </a:pPr>
            <a:r>
              <a:t>Evaluate denominators, missing records, sample size, periods, and data changes.</a:t>
            </a:r>
          </a:p>
          <a:p xmlns:a="http://schemas.openxmlformats.org/drawingml/2006/main">
            <a:pPr marL="254000" indent="-127000">
              <a:spcAft>
                <a:spcPts val="600"/>
              </a:spcAft>
              <a:buChar char="•"/>
              <a:defRPr sz="1500">
                <a:solidFill>
                  <a:srgbClr val="F1F6F8"/>
                </a:solidFill>
                <a:latin typeface="Arial"/>
                <a:ea typeface="Arial"/>
                <a:cs typeface="Arial"/>
              </a:defRPr>
            </a:pPr>
            <a:r>
              <a:t>Consider alternative explanations and fairness before recommending action.</a:t>
            </a:r>
          </a:p>
          <a:p xmlns:a="http://schemas.openxmlformats.org/drawingml/2006/main">
            <a:pPr marL="254000" indent="-127000">
              <a:spcAft>
                <a:spcPts val="600"/>
              </a:spcAft>
              <a:buChar char="•"/>
              <a:defRPr sz="1500">
                <a:solidFill>
                  <a:srgbClr val="F1F6F8"/>
                </a:solidFill>
                <a:latin typeface="Arial"/>
                <a:ea typeface="Arial"/>
                <a:cs typeface="Arial"/>
              </a:defRPr>
            </a:pPr>
            <a:r>
              <a:t>Communicate evidence, limitations, ownership, and a review measure.</a:t>
            </a:r>
          </a:p>
        </p:txBody>
      </p:sp>
      <p:sp>
        <p:nvSpPr>
          <p:cNvPr id="6" name="">
            <a:extLst xmlns:a="http://schemas.openxmlformats.org/drawingml/2006/main">
              <a:ext uri="{FF2B5EF4-FFF2-40B4-BE49-F238E27FC236}">
                <a16:creationId xmlns:a16="http://schemas.microsoft.com/office/drawing/2014/main" id="{26C9A069-0533-4292-84D3-E5B72846879C}"/>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3B45ECFA-62F6-457F-BC4B-B8D425A13822}"/>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E6B85C"/>
                </a:solidFill>
              </a:rPr>
              <a:t>1. </a:t>
            </a:r>
            <a:r>
              <a:t>Creating a single source of truth</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2. </a:t>
            </a:r>
            <a:r>
              <a:t>Reading and presenting trend analysis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3. </a:t>
            </a:r>
            <a:r>
              <a:t>Understanding predictive insights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4. </a:t>
            </a:r>
            <a:r>
              <a:t>Running a data-driven meeting</a:t>
            </a:r>
          </a:p>
        </p:txBody>
      </p:sp>
      <p:sp>
        <p:nvSpPr>
          <p:cNvPr id="8" name="">
            <a:extLst xmlns:a="http://schemas.openxmlformats.org/drawingml/2006/main">
              <a:ext uri="{FF2B5EF4-FFF2-40B4-BE49-F238E27FC236}">
                <a16:creationId xmlns:a16="http://schemas.microsoft.com/office/drawing/2014/main" id="{F5DCC5E7-3BD1-4865-B626-2AD49ED708C1}"/>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Managers, analysts, and decision-makers    Prerequisites: Modules 1-6    Level: Intermediate to advanced</a:t>
            </a:r>
          </a:p>
        </p:txBody>
      </p:sp>
      <p:sp>
        <p:nvSpPr>
          <p:cNvPr id="9" name="">
            <a:extLst xmlns:a="http://schemas.openxmlformats.org/drawingml/2006/main">
              <a:ext uri="{FF2B5EF4-FFF2-40B4-BE49-F238E27FC236}">
                <a16:creationId xmlns:a16="http://schemas.microsoft.com/office/drawing/2014/main" id="{5BC752C4-FDAF-46A2-9B60-C5EDA9B05F3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8</a:t>
            </a:r>
          </a:p>
        </p:txBody>
      </p:sp>
      <p:sp>
        <p:nvSpPr>
          <p:cNvPr id="10" name="">
            <a:extLst xmlns:a="http://schemas.openxmlformats.org/drawingml/2006/main">
              <a:ext uri="{FF2B5EF4-FFF2-40B4-BE49-F238E27FC236}">
                <a16:creationId xmlns:a16="http://schemas.microsoft.com/office/drawing/2014/main" id="{705B7FFB-261E-4979-8E5B-99E80F4E417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72</a:t>
            </a:r>
          </a:p>
        </p:txBody>
      </p:sp>
    </p:spTree>
    <p:extLst>
      <p:ext uri="{BB962C8B-B14F-4D97-AF65-F5344CB8AC3E}">
        <p14:creationId xmlns:p14="http://schemas.microsoft.com/office/powerpoint/2010/main" val="202986379"/>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BE21C3F-80F5-4810-9CE5-086BEA6DA82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6EEAB15B-041D-4A32-8C59-DFC4271D001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a:t>
            </a:r>
          </a:p>
        </p:txBody>
      </p:sp>
      <p:sp>
        <p:nvSpPr>
          <p:cNvPr id="3" name="">
            <a:extLst xmlns:a="http://schemas.openxmlformats.org/drawingml/2006/main">
              <a:ext uri="{FF2B5EF4-FFF2-40B4-BE49-F238E27FC236}">
                <a16:creationId xmlns:a16="http://schemas.microsoft.com/office/drawing/2014/main" id="{5CCA3EDF-5418-4376-9E59-B693B3D9A70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42DEE25-8FF0-4709-8659-10023AE4885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Teams need governed data sources and shared metric definitions before comparing performance. A single source of truth does not mean one chart answers every question. It means people agree on the source, definition, period, update schedule, and owner used for a decision.</a:t>
            </a:r>
          </a:p>
        </p:txBody>
      </p:sp>
      <p:sp>
        <p:nvSpPr>
          <p:cNvPr id="5" name="">
            <a:extLst xmlns:a="http://schemas.openxmlformats.org/drawingml/2006/main">
              <a:ext uri="{FF2B5EF4-FFF2-40B4-BE49-F238E27FC236}">
                <a16:creationId xmlns:a16="http://schemas.microsoft.com/office/drawing/2014/main" id="{B48F20A2-BBA8-4FE7-8E34-7F2259BFF01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D96F571-C570-4D49-9318-261F69396C03}"/>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an approved source with a named owner.</a:t>
            </a:r>
          </a:p>
          <a:p xmlns:a="http://schemas.openxmlformats.org/drawingml/2006/main">
            <a:pPr marL="254000" indent="-127000">
              <a:spcAft>
                <a:spcPts val="600"/>
              </a:spcAft>
              <a:buChar char="•"/>
              <a:defRPr sz="1650">
                <a:solidFill>
                  <a:srgbClr val="1D2833"/>
                </a:solidFill>
                <a:latin typeface="Arial"/>
                <a:ea typeface="Arial"/>
                <a:cs typeface="Arial"/>
              </a:defRPr>
            </a:pPr>
            <a:r>
              <a:t>Define every important measure consistently.</a:t>
            </a:r>
          </a:p>
          <a:p xmlns:a="http://schemas.openxmlformats.org/drawingml/2006/main">
            <a:pPr marL="254000" indent="-127000">
              <a:spcAft>
                <a:spcPts val="600"/>
              </a:spcAft>
              <a:buChar char="•"/>
              <a:defRPr sz="1650">
                <a:solidFill>
                  <a:srgbClr val="1D2833"/>
                </a:solidFill>
                <a:latin typeface="Arial"/>
                <a:ea typeface="Arial"/>
                <a:cs typeface="Arial"/>
              </a:defRPr>
            </a:pPr>
            <a:r>
              <a:t>Record calculation rules, exclusions, and refresh dates.</a:t>
            </a:r>
          </a:p>
          <a:p xmlns:a="http://schemas.openxmlformats.org/drawingml/2006/main">
            <a:pPr marL="254000" indent="-127000">
              <a:spcAft>
                <a:spcPts val="600"/>
              </a:spcAft>
              <a:buChar char="•"/>
              <a:defRPr sz="1650">
                <a:solidFill>
                  <a:srgbClr val="1D2833"/>
                </a:solidFill>
                <a:latin typeface="Arial"/>
                <a:ea typeface="Arial"/>
                <a:cs typeface="Arial"/>
              </a:defRPr>
            </a:pPr>
            <a:r>
              <a:t>Resolve differences before presenting competing numbers.</a:t>
            </a:r>
          </a:p>
        </p:txBody>
      </p:sp>
      <p:sp>
        <p:nvSpPr>
          <p:cNvPr id="7" name="">
            <a:extLst xmlns:a="http://schemas.openxmlformats.org/drawingml/2006/main">
              <a:ext uri="{FF2B5EF4-FFF2-40B4-BE49-F238E27FC236}">
                <a16:creationId xmlns:a16="http://schemas.microsoft.com/office/drawing/2014/main" id="{D13CE5C9-928D-447D-85FF-5CF1FA5067A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7A64327-5B32-41BB-BA43-7AB7537666E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teams report different fictional completion rates. They discover that one includes cancelled appointments in the denominator and the other does not. Agreeing on the governed definition resolves the apparent conflict.</a:t>
            </a:r>
          </a:p>
        </p:txBody>
      </p:sp>
      <p:sp>
        <p:nvSpPr>
          <p:cNvPr id="9" name="">
            <a:extLst xmlns:a="http://schemas.openxmlformats.org/drawingml/2006/main">
              <a:ext uri="{FF2B5EF4-FFF2-40B4-BE49-F238E27FC236}">
                <a16:creationId xmlns:a16="http://schemas.microsoft.com/office/drawing/2014/main" id="{2F0986B3-DC26-48F6-858B-EDEBFA7CB97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C9FE527-2448-4F37-A987-B1231268738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single source of truth supports leadership reports, program comparisons, quality review, budgeting, service planning, and cross-team meetings.</a:t>
            </a:r>
          </a:p>
        </p:txBody>
      </p:sp>
      <p:sp>
        <p:nvSpPr>
          <p:cNvPr id="11" name="">
            <a:extLst xmlns:a="http://schemas.openxmlformats.org/drawingml/2006/main">
              <a:ext uri="{FF2B5EF4-FFF2-40B4-BE49-F238E27FC236}">
                <a16:creationId xmlns:a16="http://schemas.microsoft.com/office/drawing/2014/main" id="{6C99F1F3-49EB-479E-A1F5-57D0A134BB8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EAD2C601-7D7F-47BA-A01D-AB683A46AE5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73</a:t>
            </a:r>
          </a:p>
        </p:txBody>
      </p:sp>
    </p:spTree>
    <p:extLst>
      <p:ext uri="{BB962C8B-B14F-4D97-AF65-F5344CB8AC3E}">
        <p14:creationId xmlns:p14="http://schemas.microsoft.com/office/powerpoint/2010/main" val="166300921"/>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77DF57-ECCB-47EE-BB46-30F47A0E4F3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3CCA8AB9-01F2-47DB-974B-56E20DFB1D7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 process and practice</a:t>
            </a:r>
          </a:p>
        </p:txBody>
      </p:sp>
      <p:sp>
        <p:nvSpPr>
          <p:cNvPr id="3" name="">
            <a:extLst xmlns:a="http://schemas.openxmlformats.org/drawingml/2006/main">
              <a:ext uri="{FF2B5EF4-FFF2-40B4-BE49-F238E27FC236}">
                <a16:creationId xmlns:a16="http://schemas.microsoft.com/office/drawing/2014/main" id="{B9CD6F85-6BC0-4131-AEA0-22B6C46474E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5C8749A-A0C1-4E1C-B926-2D7C4EF8EC9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Identify the decision and required measures.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Locate the approved data source and metric owner.</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Agree on definitions, calculation rules, and period.</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Reconcile conflicting values and document the resolution.</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Use the governed result with its freshness and limitations.</a:t>
            </a:r>
          </a:p>
        </p:txBody>
      </p:sp>
      <p:sp>
        <p:nvSpPr>
          <p:cNvPr id="5" name="">
            <a:extLst xmlns:a="http://schemas.openxmlformats.org/drawingml/2006/main">
              <a:ext uri="{FF2B5EF4-FFF2-40B4-BE49-F238E27FC236}">
                <a16:creationId xmlns:a16="http://schemas.microsoft.com/office/drawing/2014/main" id="{2641EE15-96F9-4FD3-958A-E6E5CB3EE96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A7DCDE5-AA87-4589-BE6D-98405255F81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02"/>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metric dictionary can record metric name, business definition, numerator, denominator, exclusions, source table, refresh frequency, and owner. A dashboard should reference this definition instead of creating a private calculation.</a:t>
            </a:r>
          </a:p>
        </p:txBody>
      </p:sp>
      <p:sp>
        <p:nvSpPr>
          <p:cNvPr id="7" name="">
            <a:extLst xmlns:a="http://schemas.openxmlformats.org/drawingml/2006/main">
              <a:ext uri="{FF2B5EF4-FFF2-40B4-BE49-F238E27FC236}">
                <a16:creationId xmlns:a16="http://schemas.microsoft.com/office/drawing/2014/main" id="{43ABE3A2-946F-4D75-88A1-21929BC7872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99C7D1A-AD4B-4BE6-80E3-547E37CF6C9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think one file is automatically authoritative, create local calculations, mix reporting periods, overlook exclusions, or use an old export after the governed source has changed.</a:t>
            </a:r>
          </a:p>
        </p:txBody>
      </p:sp>
      <p:sp>
        <p:nvSpPr>
          <p:cNvPr id="9" name="">
            <a:extLst xmlns:a="http://schemas.openxmlformats.org/drawingml/2006/main">
              <a:ext uri="{FF2B5EF4-FFF2-40B4-BE49-F238E27FC236}">
                <a16:creationId xmlns:a16="http://schemas.microsoft.com/office/drawing/2014/main" id="{CC725DD9-DDF9-42D2-A98C-8B1CF037A62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2BBE6FC0-79C7-487A-A2D5-64543265CB0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74</a:t>
            </a:r>
          </a:p>
        </p:txBody>
      </p:sp>
    </p:spTree>
    <p:extLst>
      <p:ext uri="{BB962C8B-B14F-4D97-AF65-F5344CB8AC3E}">
        <p14:creationId xmlns:p14="http://schemas.microsoft.com/office/powerpoint/2010/main" val="89685104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96300D-902C-4214-81FD-D59882C7F0A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B0E25231-D151-4732-94E1-06D24DD7B75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a:t>
            </a:r>
          </a:p>
        </p:txBody>
      </p:sp>
      <p:sp>
        <p:nvSpPr>
          <p:cNvPr id="3" name="">
            <a:extLst xmlns:a="http://schemas.openxmlformats.org/drawingml/2006/main">
              <a:ext uri="{FF2B5EF4-FFF2-40B4-BE49-F238E27FC236}">
                <a16:creationId xmlns:a16="http://schemas.microsoft.com/office/drawing/2014/main" id="{270C044C-546B-40D0-A36E-E096E7E8121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00BA8EF-74F1-4650-88A5-7EB5EFA5DEE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trend describes how a measure changes over time. Responsible analysis checks whether the periods are comparable, identifies unusual values, and separates what the data directly shows from possible explanations. A visual trend does not prove what caused the change.</a:t>
            </a:r>
          </a:p>
        </p:txBody>
      </p:sp>
      <p:sp>
        <p:nvSpPr>
          <p:cNvPr id="5" name="">
            <a:extLst xmlns:a="http://schemas.openxmlformats.org/drawingml/2006/main">
              <a:ext uri="{FF2B5EF4-FFF2-40B4-BE49-F238E27FC236}">
                <a16:creationId xmlns:a16="http://schemas.microsoft.com/office/drawing/2014/main" id="{49D0448A-9C52-466A-B253-6960D9443609}"/>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49D5DEC-85F2-46D1-AF1D-5AA65ADF868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Compare the same measure across comparable periods.</a:t>
            </a:r>
          </a:p>
          <a:p xmlns:a="http://schemas.openxmlformats.org/drawingml/2006/main">
            <a:pPr marL="254000" indent="-127000">
              <a:spcAft>
                <a:spcPts val="600"/>
              </a:spcAft>
              <a:buChar char="•"/>
              <a:defRPr sz="1650">
                <a:solidFill>
                  <a:srgbClr val="1D2833"/>
                </a:solidFill>
                <a:latin typeface="Arial"/>
                <a:ea typeface="Arial"/>
                <a:cs typeface="Arial"/>
              </a:defRPr>
            </a:pPr>
            <a:r>
              <a:t>Show the scale, units, source, and complete time range.</a:t>
            </a:r>
          </a:p>
          <a:p xmlns:a="http://schemas.openxmlformats.org/drawingml/2006/main">
            <a:pPr marL="254000" indent="-127000">
              <a:spcAft>
                <a:spcPts val="600"/>
              </a:spcAft>
              <a:buChar char="•"/>
              <a:defRPr sz="1650">
                <a:solidFill>
                  <a:srgbClr val="1D2833"/>
                </a:solidFill>
                <a:latin typeface="Arial"/>
                <a:ea typeface="Arial"/>
                <a:cs typeface="Arial"/>
              </a:defRPr>
            </a:pPr>
            <a:r>
              <a:t>Distinguish normal variation from a meaningful change.</a:t>
            </a:r>
          </a:p>
          <a:p xmlns:a="http://schemas.openxmlformats.org/drawingml/2006/main">
            <a:pPr marL="254000" indent="-127000">
              <a:spcAft>
                <a:spcPts val="600"/>
              </a:spcAft>
              <a:buChar char="•"/>
              <a:defRPr sz="1650">
                <a:solidFill>
                  <a:srgbClr val="1D2833"/>
                </a:solidFill>
                <a:latin typeface="Arial"/>
                <a:ea typeface="Arial"/>
                <a:cs typeface="Arial"/>
              </a:defRPr>
            </a:pPr>
            <a:r>
              <a:t>State missing context and incomplete periods.</a:t>
            </a:r>
          </a:p>
        </p:txBody>
      </p:sp>
      <p:sp>
        <p:nvSpPr>
          <p:cNvPr id="7" name="">
            <a:extLst xmlns:a="http://schemas.openxmlformats.org/drawingml/2006/main">
              <a:ext uri="{FF2B5EF4-FFF2-40B4-BE49-F238E27FC236}">
                <a16:creationId xmlns:a16="http://schemas.microsoft.com/office/drawing/2014/main" id="{A25A06AF-86E1-4C97-904D-B048E360DAD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78EEB38-6A7C-41CE-9470-D4EA2A73ACC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rate decreases for two months, but the newest month is incomplete. The presenter separates the confirmed two-month trend from the partial value and avoids presenting the latest point as final.</a:t>
            </a:r>
          </a:p>
        </p:txBody>
      </p:sp>
      <p:sp>
        <p:nvSpPr>
          <p:cNvPr id="9" name="">
            <a:extLst xmlns:a="http://schemas.openxmlformats.org/drawingml/2006/main">
              <a:ext uri="{FF2B5EF4-FFF2-40B4-BE49-F238E27FC236}">
                <a16:creationId xmlns:a16="http://schemas.microsoft.com/office/drawing/2014/main" id="{00E76042-82FA-49C9-B6D5-272B4FCF15A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0656E45-C56B-4C8A-8219-F04467A8810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Trend analysis supports performance monitoring, staffing discussions, demand planning, service access review, and reports to leaders or governance groups.</a:t>
            </a:r>
          </a:p>
        </p:txBody>
      </p:sp>
      <p:sp>
        <p:nvSpPr>
          <p:cNvPr id="11" name="">
            <a:extLst xmlns:a="http://schemas.openxmlformats.org/drawingml/2006/main">
              <a:ext uri="{FF2B5EF4-FFF2-40B4-BE49-F238E27FC236}">
                <a16:creationId xmlns:a16="http://schemas.microsoft.com/office/drawing/2014/main" id="{CF34378C-DD80-45B2-9DCD-81ABF148C9A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C8BB9CC5-99AA-4F0B-B2F0-9BA09E1B234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75</a:t>
            </a:r>
          </a:p>
        </p:txBody>
      </p:sp>
    </p:spTree>
    <p:extLst>
      <p:ext uri="{BB962C8B-B14F-4D97-AF65-F5344CB8AC3E}">
        <p14:creationId xmlns:p14="http://schemas.microsoft.com/office/powerpoint/2010/main" val="526287943"/>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FEB4488-530F-4AA1-B67D-99E751A142D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F688EFE8-0F30-43E9-96C0-8E3B1C7F810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 process and practice</a:t>
            </a:r>
          </a:p>
        </p:txBody>
      </p:sp>
      <p:sp>
        <p:nvSpPr>
          <p:cNvPr id="3" name="">
            <a:extLst xmlns:a="http://schemas.openxmlformats.org/drawingml/2006/main">
              <a:ext uri="{FF2B5EF4-FFF2-40B4-BE49-F238E27FC236}">
                <a16:creationId xmlns:a16="http://schemas.microsoft.com/office/drawing/2014/main" id="{B2100974-6092-46A5-A1BD-D002946438C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58B284A-2E5C-4CC1-AFB4-B4C52D9DE0E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Confirm the metric definition and time interval.</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Check data quality, completeness, and unusual events.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Plot or summarize values in chronological order.</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Describe the observed direction without assigning a cause.</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Add limitations and questions for further investigation.</a:t>
            </a:r>
          </a:p>
        </p:txBody>
      </p:sp>
      <p:sp>
        <p:nvSpPr>
          <p:cNvPr id="5" name="">
            <a:extLst xmlns:a="http://schemas.openxmlformats.org/drawingml/2006/main">
              <a:ext uri="{FF2B5EF4-FFF2-40B4-BE49-F238E27FC236}">
                <a16:creationId xmlns:a16="http://schemas.microsoft.com/office/drawing/2014/main" id="{0AB65E2A-6AEB-4CCB-948B-B16C4B9EFD6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6ACB036-432D-4029-AD4F-EA911792803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monthly time series stores one date and one governed rate per period. Analysts can compare it with a target or prior-year baseline, but they should flag partial periods and explain any definition change that breaks comparability.</a:t>
            </a:r>
          </a:p>
        </p:txBody>
      </p:sp>
      <p:sp>
        <p:nvSpPr>
          <p:cNvPr id="7" name="">
            <a:extLst xmlns:a="http://schemas.openxmlformats.org/drawingml/2006/main">
              <a:ext uri="{FF2B5EF4-FFF2-40B4-BE49-F238E27FC236}">
                <a16:creationId xmlns:a16="http://schemas.microsoft.com/office/drawing/2014/main" id="{D06CA006-8AA4-4CF2-BC4B-70FBE5D9042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0B62C9C-A79F-4F82-B9A4-4CC0ADF7D18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comparing a partial month with a full month, hiding a long-term pattern, choosing a misleading scale, treating one change as a trend, or claiming causation from timing alone.</a:t>
            </a:r>
          </a:p>
        </p:txBody>
      </p:sp>
      <p:sp>
        <p:nvSpPr>
          <p:cNvPr id="9" name="">
            <a:extLst xmlns:a="http://schemas.openxmlformats.org/drawingml/2006/main">
              <a:ext uri="{FF2B5EF4-FFF2-40B4-BE49-F238E27FC236}">
                <a16:creationId xmlns:a16="http://schemas.microsoft.com/office/drawing/2014/main" id="{6A949AEB-E424-4BD7-8CB3-BC709223281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389778A3-F137-4468-82DE-AAFD5623539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76</a:t>
            </a:r>
          </a:p>
        </p:txBody>
      </p:sp>
    </p:spTree>
    <p:extLst>
      <p:ext uri="{BB962C8B-B14F-4D97-AF65-F5344CB8AC3E}">
        <p14:creationId xmlns:p14="http://schemas.microsoft.com/office/powerpoint/2010/main" val="1098660822"/>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4CBAF9-4AD7-42FF-A08E-A6D232D55FB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3D3F0244-3419-4FE1-BC6D-E65A5DCE0CC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a:t>
            </a:r>
          </a:p>
        </p:txBody>
      </p:sp>
      <p:sp>
        <p:nvSpPr>
          <p:cNvPr id="3" name="">
            <a:extLst xmlns:a="http://schemas.openxmlformats.org/drawingml/2006/main">
              <a:ext uri="{FF2B5EF4-FFF2-40B4-BE49-F238E27FC236}">
                <a16:creationId xmlns:a16="http://schemas.microsoft.com/office/drawing/2014/main" id="{1958341A-28C7-4888-8CD6-984D1F9A5B9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CA056FF-00B9-468F-9706-26F7DEE78CF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predictive insight is an estimate produced from past patterns and stated assumptions. It may help people prepare for a possible future condition, but it is not a guaranteed outcome. Its usefulness depends on validation, current conditions, fairness, and continued monitoring.</a:t>
            </a:r>
          </a:p>
        </p:txBody>
      </p:sp>
      <p:sp>
        <p:nvSpPr>
          <p:cNvPr id="5" name="">
            <a:extLst xmlns:a="http://schemas.openxmlformats.org/drawingml/2006/main">
              <a:ext uri="{FF2B5EF4-FFF2-40B4-BE49-F238E27FC236}">
                <a16:creationId xmlns:a16="http://schemas.microsoft.com/office/drawing/2014/main" id="{49A6E00E-7508-4E0A-8992-82FB47D3689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A4ED624-DDDE-45B1-8D1E-5B9E9D1EB22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384"/>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Identify exactly what is being predicted and for what period.</a:t>
            </a:r>
          </a:p>
          <a:p xmlns:a="http://schemas.openxmlformats.org/drawingml/2006/main">
            <a:pPr marL="254000" indent="-127000">
              <a:spcAft>
                <a:spcPts val="600"/>
              </a:spcAft>
              <a:buChar char="•"/>
              <a:defRPr sz="1650">
                <a:solidFill>
                  <a:srgbClr val="1D2833"/>
                </a:solidFill>
                <a:latin typeface="Arial"/>
                <a:ea typeface="Arial"/>
                <a:cs typeface="Arial"/>
              </a:defRPr>
            </a:pPr>
            <a:r>
              <a:t>Ask how performance was tested and against which baseline.</a:t>
            </a:r>
          </a:p>
          <a:p xmlns:a="http://schemas.openxmlformats.org/drawingml/2006/main">
            <a:pPr marL="254000" indent="-127000">
              <a:spcAft>
                <a:spcPts val="600"/>
              </a:spcAft>
              <a:buChar char="•"/>
              <a:defRPr sz="1650">
                <a:solidFill>
                  <a:srgbClr val="1D2833"/>
                </a:solidFill>
                <a:latin typeface="Arial"/>
                <a:ea typeface="Arial"/>
                <a:cs typeface="Arial"/>
              </a:defRPr>
            </a:pPr>
            <a:r>
              <a:t>Consider false positives, false negatives, and affected groups.</a:t>
            </a:r>
          </a:p>
          <a:p xmlns:a="http://schemas.openxmlformats.org/drawingml/2006/main">
            <a:pPr marL="254000" indent="-127000">
              <a:spcAft>
                <a:spcPts val="600"/>
              </a:spcAft>
              <a:buChar char="•"/>
              <a:defRPr sz="1650">
                <a:solidFill>
                  <a:srgbClr val="1D2833"/>
                </a:solidFill>
                <a:latin typeface="Arial"/>
                <a:ea typeface="Arial"/>
                <a:cs typeface="Arial"/>
              </a:defRPr>
            </a:pPr>
            <a:r>
              <a:t>Keep a human decision maker and a monitoring plan.</a:t>
            </a:r>
          </a:p>
        </p:txBody>
      </p:sp>
      <p:sp>
        <p:nvSpPr>
          <p:cNvPr id="7" name="">
            <a:extLst xmlns:a="http://schemas.openxmlformats.org/drawingml/2006/main">
              <a:ext uri="{FF2B5EF4-FFF2-40B4-BE49-F238E27FC236}">
                <a16:creationId xmlns:a16="http://schemas.microsoft.com/office/drawing/2014/main" id="{78E5F4A4-A451-4D97-AC78-D7D2D4ABA1D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82B0D7B-EBC7-4A2D-8803-DBB8319946B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model suggests that call demand may rise next week. The manager uses the signal to review staffing options but does not treat the predicted number as a confirmed schedule requirement.</a:t>
            </a:r>
          </a:p>
        </p:txBody>
      </p:sp>
      <p:sp>
        <p:nvSpPr>
          <p:cNvPr id="9" name="">
            <a:extLst xmlns:a="http://schemas.openxmlformats.org/drawingml/2006/main">
              <a:ext uri="{FF2B5EF4-FFF2-40B4-BE49-F238E27FC236}">
                <a16:creationId xmlns:a16="http://schemas.microsoft.com/office/drawing/2014/main" id="{AE43529A-4D05-465C-A3F8-A874993C818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4D5DECE-A683-4B0C-AA77-40EB7C585A4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Predictive insights may support demand planning, workload preparation, outreach prioritization, capacity review, and early operational discussion where approved.</a:t>
            </a:r>
          </a:p>
        </p:txBody>
      </p:sp>
      <p:sp>
        <p:nvSpPr>
          <p:cNvPr id="11" name="">
            <a:extLst xmlns:a="http://schemas.openxmlformats.org/drawingml/2006/main">
              <a:ext uri="{FF2B5EF4-FFF2-40B4-BE49-F238E27FC236}">
                <a16:creationId xmlns:a16="http://schemas.microsoft.com/office/drawing/2014/main" id="{8A6524AD-F4F3-4DE4-AC08-1B2100AF839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667F55AE-B6AD-49D1-AF13-5FD83437A27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77</a:t>
            </a:r>
          </a:p>
        </p:txBody>
      </p:sp>
    </p:spTree>
    <p:extLst>
      <p:ext uri="{BB962C8B-B14F-4D97-AF65-F5344CB8AC3E}">
        <p14:creationId xmlns:p14="http://schemas.microsoft.com/office/powerpoint/2010/main" val="33192745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0FD649-0A3D-4B86-B7E0-0F666E47BCF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49A928AA-47DE-40C2-BE10-62FF83CB128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8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 process and practice</a:t>
            </a:r>
          </a:p>
        </p:txBody>
      </p:sp>
      <p:sp>
        <p:nvSpPr>
          <p:cNvPr id="3" name="">
            <a:extLst xmlns:a="http://schemas.openxmlformats.org/drawingml/2006/main">
              <a:ext uri="{FF2B5EF4-FFF2-40B4-BE49-F238E27FC236}">
                <a16:creationId xmlns:a16="http://schemas.microsoft.com/office/drawing/2014/main" id="{733D682C-C270-4F11-9E4B-19A56D61303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6C160F7-212F-44A1-A340-D7890505F32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Define the outcome and decision the prediction may support.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Review the approved inputs, assumptions, and validation evidence.</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Read the estimate together with uncertainty and limitations.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Consider consequences for different groups before acting.</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Compare predictions with actual outcomes and adjust or stop use when needed.</a:t>
            </a:r>
          </a:p>
        </p:txBody>
      </p:sp>
      <p:sp>
        <p:nvSpPr>
          <p:cNvPr id="5" name="">
            <a:extLst xmlns:a="http://schemas.openxmlformats.org/drawingml/2006/main">
              <a:ext uri="{FF2B5EF4-FFF2-40B4-BE49-F238E27FC236}">
                <a16:creationId xmlns:a16="http://schemas.microsoft.com/office/drawing/2014/main" id="{53AD77EC-9275-4FD7-8DCC-87603FE0A24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90DC427-683B-4E99-991D-EC48053FD24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28"/>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forecasting model may use prior call volume, weekday, season, and approved event information to estimate next week's demand. Its predicted value should be compared with actual demand and a simple baseline such as the recent average.</a:t>
            </a:r>
          </a:p>
        </p:txBody>
      </p:sp>
      <p:sp>
        <p:nvSpPr>
          <p:cNvPr id="7" name="">
            <a:extLst xmlns:a="http://schemas.openxmlformats.org/drawingml/2006/main">
              <a:ext uri="{FF2B5EF4-FFF2-40B4-BE49-F238E27FC236}">
                <a16:creationId xmlns:a16="http://schemas.microsoft.com/office/drawing/2014/main" id="{33B674AA-BA50-48E6-AAA8-541EB476F78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1CDE326-9571-4117-8AE8-5A01099BC27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a probability as certainty, confuse correlation with cause, ignore model drift, use a prediction outside its intended population, or automate a high-impact decision without suitable review.</a:t>
            </a:r>
          </a:p>
        </p:txBody>
      </p:sp>
      <p:sp>
        <p:nvSpPr>
          <p:cNvPr id="9" name="">
            <a:extLst xmlns:a="http://schemas.openxmlformats.org/drawingml/2006/main">
              <a:ext uri="{FF2B5EF4-FFF2-40B4-BE49-F238E27FC236}">
                <a16:creationId xmlns:a16="http://schemas.microsoft.com/office/drawing/2014/main" id="{25D257A3-0227-41DE-BE49-B8DE84E940D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C3813EB6-0D85-4D32-984D-B5D232E2BE3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78</a:t>
            </a:r>
          </a:p>
        </p:txBody>
      </p:sp>
    </p:spTree>
    <p:extLst>
      <p:ext uri="{BB962C8B-B14F-4D97-AF65-F5344CB8AC3E}">
        <p14:creationId xmlns:p14="http://schemas.microsoft.com/office/powerpoint/2010/main" val="721136112"/>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51732C-20EE-4F5F-A0F2-A0FB88A9B86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C313B667-7689-4BC5-8F07-B4B39287035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a:t>
            </a:r>
          </a:p>
        </p:txBody>
      </p:sp>
      <p:sp>
        <p:nvSpPr>
          <p:cNvPr id="3" name="">
            <a:extLst xmlns:a="http://schemas.openxmlformats.org/drawingml/2006/main">
              <a:ext uri="{FF2B5EF4-FFF2-40B4-BE49-F238E27FC236}">
                <a16:creationId xmlns:a16="http://schemas.microsoft.com/office/drawing/2014/main" id="{479DEC6B-CB08-4118-93D0-5F1DC60DC97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8E3BD77-1AF7-4B8F-9607-88883939B91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data-driven meeting uses verified evidence to focus discussion and make decisions transparent. Participants separate observations, possible explanations, evidence requests, decisions, owners, and review dates. The dashboard supports the meeting, while people remain accountable for judgment and action.</a:t>
            </a:r>
          </a:p>
        </p:txBody>
      </p:sp>
      <p:sp>
        <p:nvSpPr>
          <p:cNvPr id="5" name="">
            <a:extLst xmlns:a="http://schemas.openxmlformats.org/drawingml/2006/main">
              <a:ext uri="{FF2B5EF4-FFF2-40B4-BE49-F238E27FC236}">
                <a16:creationId xmlns:a16="http://schemas.microsoft.com/office/drawing/2014/main" id="{EA609F6F-7AE0-4ABB-930E-A36AE4D8573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5FBDEB1-99E7-449F-9625-60F60D8C8C3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Share definitions and evidence before debating causes.</a:t>
            </a:r>
          </a:p>
          <a:p xmlns:a="http://schemas.openxmlformats.org/drawingml/2006/main">
            <a:pPr marL="254000" indent="-127000">
              <a:spcAft>
                <a:spcPts val="600"/>
              </a:spcAft>
              <a:buChar char="•"/>
              <a:defRPr sz="1650">
                <a:solidFill>
                  <a:srgbClr val="1D2833"/>
                </a:solidFill>
                <a:latin typeface="Arial"/>
                <a:ea typeface="Arial"/>
                <a:cs typeface="Arial"/>
              </a:defRPr>
            </a:pPr>
            <a:r>
              <a:t>Separate facts, hypotheses, and decisions in the notes.</a:t>
            </a:r>
          </a:p>
          <a:p xmlns:a="http://schemas.openxmlformats.org/drawingml/2006/main">
            <a:pPr marL="254000" indent="-127000">
              <a:spcAft>
                <a:spcPts val="600"/>
              </a:spcAft>
              <a:buChar char="•"/>
              <a:defRPr sz="1650">
                <a:solidFill>
                  <a:srgbClr val="1D2833"/>
                </a:solidFill>
                <a:latin typeface="Arial"/>
                <a:ea typeface="Arial"/>
                <a:cs typeface="Arial"/>
              </a:defRPr>
            </a:pPr>
            <a:r>
              <a:t>Assign an owner, deadline, and measure to each action.</a:t>
            </a:r>
          </a:p>
          <a:p xmlns:a="http://schemas.openxmlformats.org/drawingml/2006/main">
            <a:pPr marL="254000" indent="-127000">
              <a:spcAft>
                <a:spcPts val="600"/>
              </a:spcAft>
              <a:buChar char="•"/>
              <a:defRPr sz="1650">
                <a:solidFill>
                  <a:srgbClr val="1D2833"/>
                </a:solidFill>
                <a:latin typeface="Arial"/>
                <a:ea typeface="Arial"/>
                <a:cs typeface="Arial"/>
              </a:defRPr>
            </a:pPr>
            <a:r>
              <a:t>Revisit the result and unintended effects.</a:t>
            </a:r>
          </a:p>
        </p:txBody>
      </p:sp>
      <p:sp>
        <p:nvSpPr>
          <p:cNvPr id="7" name="">
            <a:extLst xmlns:a="http://schemas.openxmlformats.org/drawingml/2006/main">
              <a:ext uri="{FF2B5EF4-FFF2-40B4-BE49-F238E27FC236}">
                <a16:creationId xmlns:a16="http://schemas.microsoft.com/office/drawing/2014/main" id="{131633FC-0222-4789-8F2C-7F12F9F77E1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4972767-51A8-4266-B18E-A98689A794BC}"/>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team observes a lower completion rate, lists transportation and scheduling as hypotheses, assigns two evidence checks, chooses a limited outreach test, and agrees to review the result after four weeks.</a:t>
            </a:r>
          </a:p>
        </p:txBody>
      </p:sp>
      <p:sp>
        <p:nvSpPr>
          <p:cNvPr id="9" name="">
            <a:extLst xmlns:a="http://schemas.openxmlformats.org/drawingml/2006/main">
              <a:ext uri="{FF2B5EF4-FFF2-40B4-BE49-F238E27FC236}">
                <a16:creationId xmlns:a16="http://schemas.microsoft.com/office/drawing/2014/main" id="{1BF3AEDF-B9A4-4AF6-BD7D-EA243AE8A73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8A94FCE-FF6A-49E7-96C4-A59B044D1FC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structure supports operational meetings, program reviews, quality-improvement sessions, leadership discussions, and cross-functional planning.</a:t>
            </a:r>
          </a:p>
        </p:txBody>
      </p:sp>
      <p:sp>
        <p:nvSpPr>
          <p:cNvPr id="11" name="">
            <a:extLst xmlns:a="http://schemas.openxmlformats.org/drawingml/2006/main">
              <a:ext uri="{FF2B5EF4-FFF2-40B4-BE49-F238E27FC236}">
                <a16:creationId xmlns:a16="http://schemas.microsoft.com/office/drawing/2014/main" id="{977FF1CF-0AB5-499C-AB28-5F6E4CC16C3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70C7DF0B-312C-4227-B2BF-47430728488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79</a:t>
            </a:r>
          </a:p>
        </p:txBody>
      </p:sp>
    </p:spTree>
    <p:extLst>
      <p:ext uri="{BB962C8B-B14F-4D97-AF65-F5344CB8AC3E}">
        <p14:creationId xmlns:p14="http://schemas.microsoft.com/office/powerpoint/2010/main" val="66159263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CD5A0B-C2E7-46B2-AAC7-03EAA9E75DB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FFACC81A-0AEF-46A7-859F-02AA2A618B5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 process and practice</a:t>
            </a:r>
          </a:p>
        </p:txBody>
      </p:sp>
      <p:sp>
        <p:nvSpPr>
          <p:cNvPr id="3" name="">
            <a:extLst xmlns:a="http://schemas.openxmlformats.org/drawingml/2006/main">
              <a:ext uri="{FF2B5EF4-FFF2-40B4-BE49-F238E27FC236}">
                <a16:creationId xmlns:a16="http://schemas.microsoft.com/office/drawing/2014/main" id="{6DBB60D4-6B06-4D0F-9580-10EEF9BB982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E6027C1-17F0-47D5-8106-9C4AEB558FD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State the decision question and governed measures.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Review definitions, filters, freshness, and limitations.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Record observations separately from explanations.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Choose a limited action and assign ownership.</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Set a review date and compare results with the agreed measure.</a:t>
            </a:r>
          </a:p>
        </p:txBody>
      </p:sp>
      <p:sp>
        <p:nvSpPr>
          <p:cNvPr id="5" name="">
            <a:extLst xmlns:a="http://schemas.openxmlformats.org/drawingml/2006/main">
              <a:ext uri="{FF2B5EF4-FFF2-40B4-BE49-F238E27FC236}">
                <a16:creationId xmlns:a16="http://schemas.microsoft.com/office/drawing/2014/main" id="{46F8C23A-C395-42CA-8B90-EF8FB6E2524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9BF2644-D531-4691-961E-13ABA88F114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meeting decision log can include observation, source, possible explanations, missing evidence, selected action, owner, due date, review metric, and fairness check. This creates a traceable connection between data and action.</a:t>
            </a:r>
          </a:p>
        </p:txBody>
      </p:sp>
      <p:sp>
        <p:nvSpPr>
          <p:cNvPr id="7" name="">
            <a:extLst xmlns:a="http://schemas.openxmlformats.org/drawingml/2006/main">
              <a:ext uri="{FF2B5EF4-FFF2-40B4-BE49-F238E27FC236}">
                <a16:creationId xmlns:a16="http://schemas.microsoft.com/office/drawing/2014/main" id="{DE187D43-D265-46E2-ADDA-147FCA1F6CD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E94AC41-B74B-4F4E-A1FF-49334A6FDA8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Meetings can fail when participants debate unverified numbers, choose a cause too early, leave actions ownerless, omit dissent or uncertainty, or never return to see whether the action helped.</a:t>
            </a:r>
          </a:p>
        </p:txBody>
      </p:sp>
      <p:sp>
        <p:nvSpPr>
          <p:cNvPr id="9" name="">
            <a:extLst xmlns:a="http://schemas.openxmlformats.org/drawingml/2006/main">
              <a:ext uri="{FF2B5EF4-FFF2-40B4-BE49-F238E27FC236}">
                <a16:creationId xmlns:a16="http://schemas.microsoft.com/office/drawing/2014/main" id="{05F8B3A3-25EB-4BD9-8DF7-6D5C5D3A092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87DA5D15-631F-48C6-A057-3B420A46E9D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80</a:t>
            </a:r>
          </a:p>
        </p:txBody>
      </p:sp>
    </p:spTree>
    <p:extLst>
      <p:ext uri="{BB962C8B-B14F-4D97-AF65-F5344CB8AC3E}">
        <p14:creationId xmlns:p14="http://schemas.microsoft.com/office/powerpoint/2010/main" val="692500258"/>
      </p:ext>
    </p:extLst>
  </p:cSld>
</p:sld>
</file>

<file path=ppt/slides/slide8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E3C35C-C77C-4049-A0C8-F51C6630E10D}"/>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9</a:t>
            </a:r>
          </a:p>
        </p:txBody>
      </p:sp>
      <p:sp>
        <p:nvSpPr>
          <p:cNvPr id="2" name="">
            <a:extLst xmlns:a="http://schemas.openxmlformats.org/drawingml/2006/main">
              <a:ext uri="{FF2B5EF4-FFF2-40B4-BE49-F238E27FC236}">
                <a16:creationId xmlns:a16="http://schemas.microsoft.com/office/drawing/2014/main" id="{F80702D9-4B01-4F9C-875D-1B461FED5E4E}"/>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Governance and Incident Handling</a:t>
            </a:r>
          </a:p>
        </p:txBody>
      </p:sp>
      <p:sp>
        <p:nvSpPr>
          <p:cNvPr id="3" name="">
            <a:extLst xmlns:a="http://schemas.openxmlformats.org/drawingml/2006/main">
              <a:ext uri="{FF2B5EF4-FFF2-40B4-BE49-F238E27FC236}">
                <a16:creationId xmlns:a16="http://schemas.microsoft.com/office/drawing/2014/main" id="{6F1E5769-0803-424C-88B6-78B527F8D868}"/>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who owns AI decisions, how employees recognize concerns, what facts should be recorded, and how confirmed response procedures are followed. It is important because early reporting and clear accountability protect people, information, and organizational trust.</a:t>
            </a:r>
          </a:p>
        </p:txBody>
      </p:sp>
      <p:sp>
        <p:nvSpPr>
          <p:cNvPr id="4" name="">
            <a:extLst xmlns:a="http://schemas.openxmlformats.org/drawingml/2006/main">
              <a:ext uri="{FF2B5EF4-FFF2-40B4-BE49-F238E27FC236}">
                <a16:creationId xmlns:a16="http://schemas.microsoft.com/office/drawing/2014/main" id="{8212DD2F-A954-429D-BB56-9D9C5E68E0C5}"/>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00B66C37-83BB-4D9A-AF05-D67BD65B22B5}"/>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357"/>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the purpose of AI governance and their role within it.</a:t>
            </a:r>
          </a:p>
          <a:p xmlns:a="http://schemas.openxmlformats.org/drawingml/2006/main">
            <a:pPr marL="254000" indent="-127000">
              <a:spcAft>
                <a:spcPts val="600"/>
              </a:spcAft>
              <a:buChar char="•"/>
              <a:defRPr sz="1500">
                <a:solidFill>
                  <a:srgbClr val="F1F6F8"/>
                </a:solidFill>
                <a:latin typeface="Arial"/>
                <a:ea typeface="Arial"/>
                <a:cs typeface="Arial"/>
              </a:defRPr>
            </a:pPr>
            <a:r>
              <a:t>Distinguish an ordinary tool error, output-quality problem, policy concern, and suspected information exposure.</a:t>
            </a:r>
          </a:p>
          <a:p xmlns:a="http://schemas.openxmlformats.org/drawingml/2006/main">
            <a:pPr marL="254000" indent="-127000">
              <a:spcAft>
                <a:spcPts val="600"/>
              </a:spcAft>
              <a:buChar char="•"/>
              <a:defRPr sz="1500">
                <a:solidFill>
                  <a:srgbClr val="F1F6F8"/>
                </a:solidFill>
                <a:latin typeface="Arial"/>
                <a:ea typeface="Arial"/>
                <a:cs typeface="Arial"/>
              </a:defRPr>
            </a:pPr>
            <a:r>
              <a:t>Record useful facts without conducting an unauthorized investigation.</a:t>
            </a:r>
          </a:p>
          <a:p xmlns:a="http://schemas.openxmlformats.org/drawingml/2006/main">
            <a:pPr marL="254000" indent="-127000">
              <a:spcAft>
                <a:spcPts val="600"/>
              </a:spcAft>
              <a:buChar char="•"/>
              <a:defRPr sz="1500">
                <a:solidFill>
                  <a:srgbClr val="F1F6F8"/>
                </a:solidFill>
                <a:latin typeface="Arial"/>
                <a:ea typeface="Arial"/>
                <a:cs typeface="Arial"/>
              </a:defRPr>
            </a:pPr>
            <a:r>
              <a:t>Follow DWIHN's confirmed immediate-action and reporting process.</a:t>
            </a:r>
          </a:p>
          <a:p xmlns:a="http://schemas.openxmlformats.org/drawingml/2006/main">
            <a:pPr marL="254000" indent="-127000">
              <a:spcAft>
                <a:spcPts val="600"/>
              </a:spcAft>
              <a:buChar char="•"/>
              <a:defRPr sz="1500">
                <a:solidFill>
                  <a:srgbClr val="F1F6F8"/>
                </a:solidFill>
                <a:latin typeface="Arial"/>
                <a:ea typeface="Arial"/>
                <a:cs typeface="Arial"/>
              </a:defRPr>
            </a:pPr>
            <a:r>
              <a:t>Describe how lessons from concerns can improve training and controls.</a:t>
            </a:r>
          </a:p>
        </p:txBody>
      </p:sp>
      <p:sp>
        <p:nvSpPr>
          <p:cNvPr id="6" name="">
            <a:extLst xmlns:a="http://schemas.openxmlformats.org/drawingml/2006/main">
              <a:ext uri="{FF2B5EF4-FFF2-40B4-BE49-F238E27FC236}">
                <a16:creationId xmlns:a16="http://schemas.microsoft.com/office/drawing/2014/main" id="{29BD566E-75C3-4156-A8B4-16DC27711E96}"/>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376F882C-94CA-4ED6-ADD9-885AA6899CD6}"/>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The AI governance committee</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Recognizing an AI-related concern</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Following the confirmed incident process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Manager responsibilities</a:t>
            </a:r>
          </a:p>
        </p:txBody>
      </p:sp>
      <p:sp>
        <p:nvSpPr>
          <p:cNvPr id="8" name="">
            <a:extLst xmlns:a="http://schemas.openxmlformats.org/drawingml/2006/main">
              <a:ext uri="{FF2B5EF4-FFF2-40B4-BE49-F238E27FC236}">
                <a16:creationId xmlns:a16="http://schemas.microsoft.com/office/drawing/2014/main" id="{62250D06-5D18-4DC0-814B-BDFB37CF0E9C}"/>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expanded duties for managers    Prerequisites: Modules 1-5    Level: Intermediate</a:t>
            </a:r>
          </a:p>
        </p:txBody>
      </p:sp>
      <p:sp>
        <p:nvSpPr>
          <p:cNvPr id="9" name="">
            <a:extLst xmlns:a="http://schemas.openxmlformats.org/drawingml/2006/main">
              <a:ext uri="{FF2B5EF4-FFF2-40B4-BE49-F238E27FC236}">
                <a16:creationId xmlns:a16="http://schemas.microsoft.com/office/drawing/2014/main" id="{77975AED-3328-415A-A58A-B0BFBB0C95B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9</a:t>
            </a:r>
          </a:p>
        </p:txBody>
      </p:sp>
      <p:sp>
        <p:nvSpPr>
          <p:cNvPr id="10" name="">
            <a:extLst xmlns:a="http://schemas.openxmlformats.org/drawingml/2006/main">
              <a:ext uri="{FF2B5EF4-FFF2-40B4-BE49-F238E27FC236}">
                <a16:creationId xmlns:a16="http://schemas.microsoft.com/office/drawing/2014/main" id="{13BD6CE7-05AE-4380-A5D2-13C975608C7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81</a:t>
            </a:r>
          </a:p>
        </p:txBody>
      </p:sp>
    </p:spTree>
    <p:extLst>
      <p:ext uri="{BB962C8B-B14F-4D97-AF65-F5344CB8AC3E}">
        <p14:creationId xmlns:p14="http://schemas.microsoft.com/office/powerpoint/2010/main" val="1975373303"/>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C8E436-0849-4658-BCDF-410DCF4476C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C77E15ED-3A26-406E-AE7F-97FE79B800B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a:t>
            </a:r>
          </a:p>
        </p:txBody>
      </p:sp>
      <p:sp>
        <p:nvSpPr>
          <p:cNvPr id="3" name="">
            <a:extLst xmlns:a="http://schemas.openxmlformats.org/drawingml/2006/main">
              <a:ext uri="{FF2B5EF4-FFF2-40B4-BE49-F238E27FC236}">
                <a16:creationId xmlns:a16="http://schemas.microsoft.com/office/drawing/2014/main" id="{6BB288D3-BF3E-40CB-83BC-8BDA0D3188A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9248300-FFAF-4985-9B10-8BBAAFDECBB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governance assigns responsibility for approving tools and use cases, maintaining guidance, monitoring performance, reviewing risks, and responding to concerns. A committee or equivalent group connects technical, operational, privacy, security, legal, compliance, and workforce perspectives.</a:t>
            </a:r>
          </a:p>
        </p:txBody>
      </p:sp>
      <p:sp>
        <p:nvSpPr>
          <p:cNvPr id="5" name="">
            <a:extLst xmlns:a="http://schemas.openxmlformats.org/drawingml/2006/main">
              <a:ext uri="{FF2B5EF4-FFF2-40B4-BE49-F238E27FC236}">
                <a16:creationId xmlns:a16="http://schemas.microsoft.com/office/drawing/2014/main" id="{F6E1E3A6-735C-489C-BC0C-CB32990C104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92ECD80-9449-467C-B54E-0AF1E612F82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Name owners for tools, policies, risks, monitoring, and response.</a:t>
            </a:r>
          </a:p>
          <a:p xmlns:a="http://schemas.openxmlformats.org/drawingml/2006/main">
            <a:pPr marL="254000" indent="-127000">
              <a:spcAft>
                <a:spcPts val="600"/>
              </a:spcAft>
              <a:buChar char="•"/>
              <a:defRPr sz="1650">
                <a:solidFill>
                  <a:srgbClr val="1D2833"/>
                </a:solidFill>
                <a:latin typeface="Arial"/>
                <a:ea typeface="Arial"/>
                <a:cs typeface="Arial"/>
              </a:defRPr>
            </a:pPr>
            <a:r>
              <a:t>Review both the tool and its proposed use case.</a:t>
            </a:r>
          </a:p>
          <a:p xmlns:a="http://schemas.openxmlformats.org/drawingml/2006/main">
            <a:pPr marL="254000" indent="-127000">
              <a:spcAft>
                <a:spcPts val="600"/>
              </a:spcAft>
              <a:buChar char="•"/>
              <a:defRPr sz="1650">
                <a:solidFill>
                  <a:srgbClr val="1D2833"/>
                </a:solidFill>
                <a:latin typeface="Arial"/>
                <a:ea typeface="Arial"/>
                <a:cs typeface="Arial"/>
              </a:defRPr>
            </a:pPr>
            <a:r>
              <a:t>Keep decisions, conditions, and review dates documented.</a:t>
            </a:r>
          </a:p>
          <a:p xmlns:a="http://schemas.openxmlformats.org/drawingml/2006/main">
            <a:pPr marL="254000" indent="-127000">
              <a:spcAft>
                <a:spcPts val="600"/>
              </a:spcAft>
              <a:buChar char="•"/>
              <a:defRPr sz="1650">
                <a:solidFill>
                  <a:srgbClr val="1D2833"/>
                </a:solidFill>
                <a:latin typeface="Arial"/>
                <a:ea typeface="Arial"/>
                <a:cs typeface="Arial"/>
              </a:defRPr>
            </a:pPr>
            <a:r>
              <a:t>Give employees a clear route for questions and concerns.</a:t>
            </a:r>
          </a:p>
        </p:txBody>
      </p:sp>
      <p:sp>
        <p:nvSpPr>
          <p:cNvPr id="7" name="">
            <a:extLst xmlns:a="http://schemas.openxmlformats.org/drawingml/2006/main">
              <a:ext uri="{FF2B5EF4-FFF2-40B4-BE49-F238E27FC236}">
                <a16:creationId xmlns:a16="http://schemas.microsoft.com/office/drawing/2014/main" id="{ABEE23EF-1291-4BFB-90C0-88883F4A53C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6FC24C1-3A44-442E-BEEE-DF86DA47BF5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department wants to use an approved tool for a new type of member communication. The tool may be approved, but the new use case is sent through the governance review process before staff begin using it.</a:t>
            </a:r>
          </a:p>
        </p:txBody>
      </p:sp>
      <p:sp>
        <p:nvSpPr>
          <p:cNvPr id="9" name="">
            <a:extLst xmlns:a="http://schemas.openxmlformats.org/drawingml/2006/main">
              <a:ext uri="{FF2B5EF4-FFF2-40B4-BE49-F238E27FC236}">
                <a16:creationId xmlns:a16="http://schemas.microsoft.com/office/drawing/2014/main" id="{C0B78AE0-4CB1-4B09-861C-4D8D42EB72C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9FD9B0F-1157-4ED2-8144-38C67BC549B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Governance applies to tool selection, new use cases, policy maintenance, vendor review, access decisions, performance monitoring, and incident learning.</a:t>
            </a:r>
          </a:p>
        </p:txBody>
      </p:sp>
      <p:sp>
        <p:nvSpPr>
          <p:cNvPr id="11" name="">
            <a:extLst xmlns:a="http://schemas.openxmlformats.org/drawingml/2006/main">
              <a:ext uri="{FF2B5EF4-FFF2-40B4-BE49-F238E27FC236}">
                <a16:creationId xmlns:a16="http://schemas.microsoft.com/office/drawing/2014/main" id="{7DAA0EEA-198D-46FE-ABE0-5BCF935AB82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491D939B-7281-42AA-9C69-289162EDC68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82</a:t>
            </a:r>
          </a:p>
        </p:txBody>
      </p:sp>
    </p:spTree>
    <p:extLst>
      <p:ext uri="{BB962C8B-B14F-4D97-AF65-F5344CB8AC3E}">
        <p14:creationId xmlns:p14="http://schemas.microsoft.com/office/powerpoint/2010/main" val="1282245664"/>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96F3A5-26C1-4A01-B128-2A68AAB8BBA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32810D1C-4CE0-4E2D-991C-5CAC63B094F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 process and practice</a:t>
            </a:r>
          </a:p>
        </p:txBody>
      </p:sp>
      <p:sp>
        <p:nvSpPr>
          <p:cNvPr id="3" name="">
            <a:extLst xmlns:a="http://schemas.openxmlformats.org/drawingml/2006/main">
              <a:ext uri="{FF2B5EF4-FFF2-40B4-BE49-F238E27FC236}">
                <a16:creationId xmlns:a16="http://schemas.microsoft.com/office/drawing/2014/main" id="{FB95EA24-761F-4FE3-8BCA-C4D6E8A4436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BC7AFDC-4ED1-4B19-B23F-AF1CEBC20BE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A team submits a defined AI use case.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Relevant owners review purpose, information, risk, and controls.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The authorized body approves, rejects, or places conditions on use.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Owners monitor the approved workflow and record concerns.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The decision is reviewed when the tool, data, purpose, or risk changes.</a:t>
            </a:r>
          </a:p>
        </p:txBody>
      </p:sp>
      <p:sp>
        <p:nvSpPr>
          <p:cNvPr id="5" name="">
            <a:extLst xmlns:a="http://schemas.openxmlformats.org/drawingml/2006/main">
              <a:ext uri="{FF2B5EF4-FFF2-40B4-BE49-F238E27FC236}">
                <a16:creationId xmlns:a16="http://schemas.microsoft.com/office/drawing/2014/main" id="{D11144D9-44EB-465B-A706-02095ED81AE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BD91D87-FFD2-4073-86F2-272D0D75C9D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governance register can store use-case ID, business owner, tool, data classes, intended users, approved purpose, risk rating, controls, approvers, monitoring measures, and next review date.</a:t>
            </a:r>
          </a:p>
        </p:txBody>
      </p:sp>
      <p:sp>
        <p:nvSpPr>
          <p:cNvPr id="7" name="">
            <a:extLst xmlns:a="http://schemas.openxmlformats.org/drawingml/2006/main">
              <a:ext uri="{FF2B5EF4-FFF2-40B4-BE49-F238E27FC236}">
                <a16:creationId xmlns:a16="http://schemas.microsoft.com/office/drawing/2014/main" id="{177D006D-1148-49D5-BE8F-E6D504957CB4}"/>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EA78DA8-7B9C-4BCA-8CAE-FE3DEC416A4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an approved tool permits every use, treat governance as only an information-technology task, omit frontline users, or fail to review a workflow after a major change.</a:t>
            </a:r>
          </a:p>
        </p:txBody>
      </p:sp>
      <p:sp>
        <p:nvSpPr>
          <p:cNvPr id="9" name="">
            <a:extLst xmlns:a="http://schemas.openxmlformats.org/drawingml/2006/main">
              <a:ext uri="{FF2B5EF4-FFF2-40B4-BE49-F238E27FC236}">
                <a16:creationId xmlns:a16="http://schemas.microsoft.com/office/drawing/2014/main" id="{D326DB0C-3099-4D8F-97B4-3B1581FD7B9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3A128492-4A51-4A7C-84D0-5718B1E2478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83</a:t>
            </a:r>
          </a:p>
        </p:txBody>
      </p:sp>
    </p:spTree>
    <p:extLst>
      <p:ext uri="{BB962C8B-B14F-4D97-AF65-F5344CB8AC3E}">
        <p14:creationId xmlns:p14="http://schemas.microsoft.com/office/powerpoint/2010/main" val="1459638748"/>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D80E6C-46AA-44AB-930C-FA551A5E468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E86D9B30-F944-451C-B177-5C17C9C2643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a:t>
            </a:r>
          </a:p>
        </p:txBody>
      </p:sp>
      <p:sp>
        <p:nvSpPr>
          <p:cNvPr id="3" name="">
            <a:extLst xmlns:a="http://schemas.openxmlformats.org/drawingml/2006/main">
              <a:ext uri="{FF2B5EF4-FFF2-40B4-BE49-F238E27FC236}">
                <a16:creationId xmlns:a16="http://schemas.microsoft.com/office/drawing/2014/main" id="{9BBD2E67-5254-439A-86AA-3459432A409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B64F174-7BBE-4502-B43F-897445BBED3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AI-related concern is any event or output that may threaten accuracy, fairness, privacy, security, policy compliance, service quality, or human safety. Employees should report what they observe without waiting to prove the final cause or incident category.</a:t>
            </a:r>
          </a:p>
        </p:txBody>
      </p:sp>
      <p:sp>
        <p:nvSpPr>
          <p:cNvPr id="5" name="">
            <a:extLst xmlns:a="http://schemas.openxmlformats.org/drawingml/2006/main">
              <a:ext uri="{FF2B5EF4-FFF2-40B4-BE49-F238E27FC236}">
                <a16:creationId xmlns:a16="http://schemas.microsoft.com/office/drawing/2014/main" id="{6C55CB5D-F12F-4F83-9A71-A3307148914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9FFBD1D-AE21-45A2-A1E3-42DA4FCBC5D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Notice unauthorized use, harmful output, exposure, and unusual behavior.</a:t>
            </a:r>
          </a:p>
          <a:p xmlns:a="http://schemas.openxmlformats.org/drawingml/2006/main">
            <a:pPr marL="254000" indent="-127000">
              <a:spcAft>
                <a:spcPts val="600"/>
              </a:spcAft>
              <a:buChar char="•"/>
              <a:defRPr sz="1650">
                <a:solidFill>
                  <a:srgbClr val="1D2833"/>
                </a:solidFill>
                <a:latin typeface="Arial"/>
                <a:ea typeface="Arial"/>
                <a:cs typeface="Arial"/>
              </a:defRPr>
            </a:pPr>
            <a:r>
              <a:t>Pause only as directed by the confirmed procedure.</a:t>
            </a:r>
          </a:p>
          <a:p xmlns:a="http://schemas.openxmlformats.org/drawingml/2006/main">
            <a:pPr marL="254000" indent="-127000">
              <a:spcAft>
                <a:spcPts val="600"/>
              </a:spcAft>
              <a:buChar char="•"/>
              <a:defRPr sz="1650">
                <a:solidFill>
                  <a:srgbClr val="1D2833"/>
                </a:solidFill>
                <a:latin typeface="Arial"/>
                <a:ea typeface="Arial"/>
                <a:cs typeface="Arial"/>
              </a:defRPr>
            </a:pPr>
            <a:r>
              <a:t>Record facts, time, tool, account, and visible impact.</a:t>
            </a:r>
          </a:p>
          <a:p xmlns:a="http://schemas.openxmlformats.org/drawingml/2006/main">
            <a:pPr marL="254000" indent="-127000">
              <a:spcAft>
                <a:spcPts val="600"/>
              </a:spcAft>
              <a:buChar char="•"/>
              <a:defRPr sz="1650">
                <a:solidFill>
                  <a:srgbClr val="1D2833"/>
                </a:solidFill>
                <a:latin typeface="Arial"/>
                <a:ea typeface="Arial"/>
                <a:cs typeface="Arial"/>
              </a:defRPr>
            </a:pPr>
            <a:r>
              <a:t>Report promptly through the approved route.</a:t>
            </a:r>
          </a:p>
        </p:txBody>
      </p:sp>
      <p:sp>
        <p:nvSpPr>
          <p:cNvPr id="7" name="">
            <a:extLst xmlns:a="http://schemas.openxmlformats.org/drawingml/2006/main">
              <a:ext uri="{FF2B5EF4-FFF2-40B4-BE49-F238E27FC236}">
                <a16:creationId xmlns:a16="http://schemas.microsoft.com/office/drawing/2014/main" id="{4A5E1687-F3D3-4FF4-9A0A-3903BF8DBF6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480AA6D7-15A5-4BD7-AD54-2891A13B870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notices that a generated report uses the wrong denominator and could mislead a leadership decision. The employee pauses use of the report, records the error, and contacts the confirmed owner.</a:t>
            </a:r>
          </a:p>
        </p:txBody>
      </p:sp>
      <p:sp>
        <p:nvSpPr>
          <p:cNvPr id="9" name="">
            <a:extLst xmlns:a="http://schemas.openxmlformats.org/drawingml/2006/main">
              <a:ext uri="{FF2B5EF4-FFF2-40B4-BE49-F238E27FC236}">
                <a16:creationId xmlns:a16="http://schemas.microsoft.com/office/drawing/2014/main" id="{2FA38A83-CEB9-4E63-AB12-927A7408779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65023098-F7E7-4FEA-B653-2A59776BB2B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Recognition is required during prompting, dashboard analysis, call-center assistance, report sharing, automated routing, access management, and any AI-supported decision.</a:t>
            </a:r>
          </a:p>
        </p:txBody>
      </p:sp>
      <p:sp>
        <p:nvSpPr>
          <p:cNvPr id="11" name="">
            <a:extLst xmlns:a="http://schemas.openxmlformats.org/drawingml/2006/main">
              <a:ext uri="{FF2B5EF4-FFF2-40B4-BE49-F238E27FC236}">
                <a16:creationId xmlns:a16="http://schemas.microsoft.com/office/drawing/2014/main" id="{3E9D5DC9-5EA4-47DA-AAD0-0F9ECA5C53C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6326DAEC-14E3-4543-84AE-FE59E64D94E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84</a:t>
            </a:r>
          </a:p>
        </p:txBody>
      </p:sp>
    </p:spTree>
    <p:extLst>
      <p:ext uri="{BB962C8B-B14F-4D97-AF65-F5344CB8AC3E}">
        <p14:creationId xmlns:p14="http://schemas.microsoft.com/office/powerpoint/2010/main" val="1878225384"/>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E486A7-5025-4A10-96C7-DF1AD72D69E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FFEAA908-EC6B-4E78-88C3-3E115D7A3AA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 process and practice</a:t>
            </a:r>
          </a:p>
        </p:txBody>
      </p:sp>
      <p:sp>
        <p:nvSpPr>
          <p:cNvPr id="3" name="">
            <a:extLst xmlns:a="http://schemas.openxmlformats.org/drawingml/2006/main">
              <a:ext uri="{FF2B5EF4-FFF2-40B4-BE49-F238E27FC236}">
                <a16:creationId xmlns:a16="http://schemas.microsoft.com/office/drawing/2014/main" id="{078C6A9A-A1C9-4666-A995-16BE7E68F98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CE4AC74-F874-4B88-BBC7-FBD170CAA11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Notice a possible quality, policy, security, privacy, or harm issue.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Avoid unnecessary additional use or sharing.</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Preserve the known facts allowed by procedure.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Contact the confirmed owner or reporting channel.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Follow authorized instructions and do not investigate independently.</a:t>
            </a:r>
          </a:p>
        </p:txBody>
      </p:sp>
      <p:sp>
        <p:nvSpPr>
          <p:cNvPr id="5" name="">
            <a:extLst xmlns:a="http://schemas.openxmlformats.org/drawingml/2006/main">
              <a:ext uri="{FF2B5EF4-FFF2-40B4-BE49-F238E27FC236}">
                <a16:creationId xmlns:a16="http://schemas.microsoft.com/office/drawing/2014/main" id="{9F92BB2D-0051-4460-9A97-119B680057C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3635DB9-1EBB-4C6F-9765-4F4B9EDDBBD3}"/>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37"/>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quality concern can be recorded with timestamp, system, feature, input type, output reference, observed error, affected workflow, immediate action, and reporter. Sensitive details should be handled only as the approved process allows.</a:t>
            </a:r>
          </a:p>
        </p:txBody>
      </p:sp>
      <p:sp>
        <p:nvSpPr>
          <p:cNvPr id="7" name="">
            <a:extLst xmlns:a="http://schemas.openxmlformats.org/drawingml/2006/main">
              <a:ext uri="{FF2B5EF4-FFF2-40B4-BE49-F238E27FC236}">
                <a16:creationId xmlns:a16="http://schemas.microsoft.com/office/drawing/2014/main" id="{1B9F9D41-847E-4428-99A8-6B21FC65E84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3A5C42C-92A3-4342-9A03-17465260D1C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hide an error, wait for proof, delete evidence, diagnose the cause themselves, contact affected people without instruction, or describe assumptions as established facts.</a:t>
            </a:r>
          </a:p>
        </p:txBody>
      </p:sp>
      <p:sp>
        <p:nvSpPr>
          <p:cNvPr id="9" name="">
            <a:extLst xmlns:a="http://schemas.openxmlformats.org/drawingml/2006/main">
              <a:ext uri="{FF2B5EF4-FFF2-40B4-BE49-F238E27FC236}">
                <a16:creationId xmlns:a16="http://schemas.microsoft.com/office/drawing/2014/main" id="{0009E8DD-1441-40F2-B39C-3192F3D6B34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15C8E7FD-B9A7-4620-9FA4-B9CC31AF1DD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85</a:t>
            </a:r>
          </a:p>
        </p:txBody>
      </p:sp>
    </p:spTree>
    <p:extLst>
      <p:ext uri="{BB962C8B-B14F-4D97-AF65-F5344CB8AC3E}">
        <p14:creationId xmlns:p14="http://schemas.microsoft.com/office/powerpoint/2010/main" val="1984719516"/>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839EAF6-C54F-48B7-B7BB-B0A44B503B5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05401376-E82E-498A-A00D-870B4222F90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a:t>
            </a:r>
          </a:p>
        </p:txBody>
      </p:sp>
      <p:sp>
        <p:nvSpPr>
          <p:cNvPr id="3" name="">
            <a:extLst xmlns:a="http://schemas.openxmlformats.org/drawingml/2006/main">
              <a:ext uri="{FF2B5EF4-FFF2-40B4-BE49-F238E27FC236}">
                <a16:creationId xmlns:a16="http://schemas.microsoft.com/office/drawing/2014/main" id="{B06DD508-B01E-4515-9FF3-3C178937B7D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DE0A808-9C7B-4434-8EF7-1AEF909A714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mentions a five-step process and a 24-hour expectation, but it does not provide the governing DWIHN procedure. The curriculum therefore uses recognize, protect, report, record, and follow only as a draft teaching structure. The actual contacts, immediate actions, documentation, and timelines must be confirmed before training.</a:t>
            </a:r>
          </a:p>
        </p:txBody>
      </p:sp>
      <p:sp>
        <p:nvSpPr>
          <p:cNvPr id="5" name="">
            <a:extLst xmlns:a="http://schemas.openxmlformats.org/drawingml/2006/main">
              <a:ext uri="{FF2B5EF4-FFF2-40B4-BE49-F238E27FC236}">
                <a16:creationId xmlns:a16="http://schemas.microsoft.com/office/drawing/2014/main" id="{7897A7BF-6F8B-4C53-8CD6-C52BC7570F2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4B677B1-9AEA-4AB9-9B14-533ACADC07E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DWIHN's approved process, contacts, and timing.</a:t>
            </a:r>
          </a:p>
          <a:p xmlns:a="http://schemas.openxmlformats.org/drawingml/2006/main">
            <a:pPr marL="254000" indent="-127000">
              <a:spcAft>
                <a:spcPts val="600"/>
              </a:spcAft>
              <a:buChar char="•"/>
              <a:defRPr sz="1650">
                <a:solidFill>
                  <a:srgbClr val="1D2833"/>
                </a:solidFill>
                <a:latin typeface="Arial"/>
                <a:ea typeface="Arial"/>
                <a:cs typeface="Arial"/>
              </a:defRPr>
            </a:pPr>
            <a:r>
              <a:t>Take only immediate actions authorized by that process.</a:t>
            </a:r>
          </a:p>
          <a:p xmlns:a="http://schemas.openxmlformats.org/drawingml/2006/main">
            <a:pPr marL="254000" indent="-127000">
              <a:spcAft>
                <a:spcPts val="600"/>
              </a:spcAft>
              <a:buChar char="•"/>
              <a:defRPr sz="1650">
                <a:solidFill>
                  <a:srgbClr val="1D2833"/>
                </a:solidFill>
                <a:latin typeface="Arial"/>
                <a:ea typeface="Arial"/>
                <a:cs typeface="Arial"/>
              </a:defRPr>
            </a:pPr>
            <a:r>
              <a:t>Provide known facts without blame or speculation.</a:t>
            </a:r>
          </a:p>
          <a:p xmlns:a="http://schemas.openxmlformats.org/drawingml/2006/main">
            <a:pPr marL="254000" indent="-127000">
              <a:spcAft>
                <a:spcPts val="600"/>
              </a:spcAft>
              <a:buChar char="•"/>
              <a:defRPr sz="1650">
                <a:solidFill>
                  <a:srgbClr val="1D2833"/>
                </a:solidFill>
                <a:latin typeface="Arial"/>
                <a:ea typeface="Arial"/>
                <a:cs typeface="Arial"/>
              </a:defRPr>
            </a:pPr>
            <a:r>
              <a:t>Follow responder instructions and preserve relevant records.</a:t>
            </a:r>
          </a:p>
        </p:txBody>
      </p:sp>
      <p:sp>
        <p:nvSpPr>
          <p:cNvPr id="7" name="">
            <a:extLst xmlns:a="http://schemas.openxmlformats.org/drawingml/2006/main">
              <a:ext uri="{FF2B5EF4-FFF2-40B4-BE49-F238E27FC236}">
                <a16:creationId xmlns:a16="http://schemas.microsoft.com/office/drawing/2014/main" id="{1C34B64C-0204-4BD9-ACC1-1DADE5840CB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115CD97-EAE6-4555-8A54-7BB87B88937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realizes information may have been entered into the wrong account. They avoid independent deletion, note the approximate time and tool, use the confirmed reporting route, and follow responder instructions.</a:t>
            </a:r>
          </a:p>
        </p:txBody>
      </p:sp>
      <p:sp>
        <p:nvSpPr>
          <p:cNvPr id="9" name="">
            <a:extLst xmlns:a="http://schemas.openxmlformats.org/drawingml/2006/main">
              <a:ext uri="{FF2B5EF4-FFF2-40B4-BE49-F238E27FC236}">
                <a16:creationId xmlns:a16="http://schemas.microsoft.com/office/drawing/2014/main" id="{6761F5A0-E374-43E1-984F-B9F399872F9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6DB3073D-4F11-4FAC-B1AA-46F146D1CB1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15"/>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process applies to suspected exposure, wrong-account use, inaccurate high-impact output, unauthorized sharing, biased recommendations, unusual system behavior, and other confirmed incident types.</a:t>
            </a:r>
          </a:p>
        </p:txBody>
      </p:sp>
      <p:sp>
        <p:nvSpPr>
          <p:cNvPr id="11" name="">
            <a:extLst xmlns:a="http://schemas.openxmlformats.org/drawingml/2006/main">
              <a:ext uri="{FF2B5EF4-FFF2-40B4-BE49-F238E27FC236}">
                <a16:creationId xmlns:a16="http://schemas.microsoft.com/office/drawing/2014/main" id="{ACD647D6-5689-4698-BEDA-D4887C89D04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4C73D260-9DD3-45C7-AD3C-DB1E329A7FB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86</a:t>
            </a:r>
          </a:p>
        </p:txBody>
      </p:sp>
    </p:spTree>
    <p:extLst>
      <p:ext uri="{BB962C8B-B14F-4D97-AF65-F5344CB8AC3E}">
        <p14:creationId xmlns:p14="http://schemas.microsoft.com/office/powerpoint/2010/main" val="514615309"/>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653D65-EE48-4AD2-B004-DABD84126F7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EB2C1A5C-4E2C-4C97-8ECF-945E0F5FE68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6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 process and practice</a:t>
            </a:r>
          </a:p>
        </p:txBody>
      </p:sp>
      <p:sp>
        <p:nvSpPr>
          <p:cNvPr id="3" name="">
            <a:extLst xmlns:a="http://schemas.openxmlformats.org/drawingml/2006/main">
              <a:ext uri="{FF2B5EF4-FFF2-40B4-BE49-F238E27FC236}">
                <a16:creationId xmlns:a16="http://schemas.microsoft.com/office/drawing/2014/main" id="{0E3714BE-0E8C-43E0-A787-8B702C61CF8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92DBF54F-03CF-48A2-8D55-5E73C11FE03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Recognize the concern and stop unnecessary activity.</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Protect information using only approved immediate steps.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Report through the confirmed DWIHN route.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Record known facts in the required system.</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Follow responder directions through closure and learning review.</a:t>
            </a:r>
          </a:p>
        </p:txBody>
      </p:sp>
      <p:sp>
        <p:nvSpPr>
          <p:cNvPr id="5" name="">
            <a:extLst xmlns:a="http://schemas.openxmlformats.org/drawingml/2006/main">
              <a:ext uri="{FF2B5EF4-FFF2-40B4-BE49-F238E27FC236}">
                <a16:creationId xmlns:a16="http://schemas.microsoft.com/office/drawing/2014/main" id="{0B6206D1-2949-4DAC-9AE9-6D58E71C4C1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B78A610-85C6-4ACC-BCFD-FC52FE7BE73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incident record may include event ID, reporter, date and time, tool and account, information category, action attempted, output destination, people or systems involved, evidence references, and responder status.</a:t>
            </a:r>
          </a:p>
        </p:txBody>
      </p:sp>
      <p:sp>
        <p:nvSpPr>
          <p:cNvPr id="7" name="">
            <a:extLst xmlns:a="http://schemas.openxmlformats.org/drawingml/2006/main">
              <a:ext uri="{FF2B5EF4-FFF2-40B4-BE49-F238E27FC236}">
                <a16:creationId xmlns:a16="http://schemas.microsoft.com/office/drawing/2014/main" id="{AB02797D-8FD8-418F-982E-759A87DAE3C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BF48607-A0EF-4023-99CF-5FA7886E8D5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 not teach the proposal's 24-hour claim or five-step labels as official policy until confirmed. Other mistakes include delaying for a perfect report, changing evidence, or treating a quality issue as too small to raise.</a:t>
            </a:r>
          </a:p>
        </p:txBody>
      </p:sp>
      <p:sp>
        <p:nvSpPr>
          <p:cNvPr id="9" name="">
            <a:extLst xmlns:a="http://schemas.openxmlformats.org/drawingml/2006/main">
              <a:ext uri="{FF2B5EF4-FFF2-40B4-BE49-F238E27FC236}">
                <a16:creationId xmlns:a16="http://schemas.microsoft.com/office/drawing/2014/main" id="{D554F652-7077-4CAA-A2AD-6B15D58B55F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1FBF1747-5102-490A-8960-385D7A9D665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87</a:t>
            </a:r>
          </a:p>
        </p:txBody>
      </p:sp>
    </p:spTree>
    <p:extLst>
      <p:ext uri="{BB962C8B-B14F-4D97-AF65-F5344CB8AC3E}">
        <p14:creationId xmlns:p14="http://schemas.microsoft.com/office/powerpoint/2010/main" val="1049586604"/>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B671C0-95C1-4FFF-977B-5520C258F2C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F0D60D02-6BD0-4947-B158-EC102F00DD6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a:t>
            </a:r>
          </a:p>
        </p:txBody>
      </p:sp>
      <p:sp>
        <p:nvSpPr>
          <p:cNvPr id="3" name="">
            <a:extLst xmlns:a="http://schemas.openxmlformats.org/drawingml/2006/main">
              <a:ext uri="{FF2B5EF4-FFF2-40B4-BE49-F238E27FC236}">
                <a16:creationId xmlns:a16="http://schemas.microsoft.com/office/drawing/2014/main" id="{04BED516-29AD-4A8B-B162-67D84C326FC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E401951-DB4A-4685-A6F1-A44C1E07D6A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Managers create the conditions for responsible use. They reinforce approved workflows, make questions and early reporting easy, help staff reach the right owner, and pause work when the confirmed process requires it. They should not conduct an investigation beyond their authority.</a:t>
            </a:r>
          </a:p>
        </p:txBody>
      </p:sp>
      <p:sp>
        <p:nvSpPr>
          <p:cNvPr id="5" name="">
            <a:extLst xmlns:a="http://schemas.openxmlformats.org/drawingml/2006/main">
              <a:ext uri="{FF2B5EF4-FFF2-40B4-BE49-F238E27FC236}">
                <a16:creationId xmlns:a16="http://schemas.microsoft.com/office/drawing/2014/main" id="{E799FBE1-98E2-496A-8E17-29106597AAE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8494478-A172-44A6-B3FF-5FB60CB71B73}"/>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Encourage prompt questions and factual reporting.</a:t>
            </a:r>
          </a:p>
          <a:p xmlns:a="http://schemas.openxmlformats.org/drawingml/2006/main">
            <a:pPr marL="254000" indent="-127000">
              <a:spcAft>
                <a:spcPts val="600"/>
              </a:spcAft>
              <a:buChar char="•"/>
              <a:defRPr sz="1650">
                <a:solidFill>
                  <a:srgbClr val="1D2833"/>
                </a:solidFill>
                <a:latin typeface="Arial"/>
                <a:ea typeface="Arial"/>
                <a:cs typeface="Arial"/>
              </a:defRPr>
            </a:pPr>
            <a:r>
              <a:t>Protect people from retaliation for good-faith reporting.</a:t>
            </a:r>
          </a:p>
          <a:p xmlns:a="http://schemas.openxmlformats.org/drawingml/2006/main">
            <a:pPr marL="254000" indent="-127000">
              <a:spcAft>
                <a:spcPts val="600"/>
              </a:spcAft>
              <a:buChar char="•"/>
              <a:defRPr sz="1650">
                <a:solidFill>
                  <a:srgbClr val="1D2833"/>
                </a:solidFill>
                <a:latin typeface="Arial"/>
                <a:ea typeface="Arial"/>
                <a:cs typeface="Arial"/>
              </a:defRPr>
            </a:pPr>
            <a:r>
              <a:t>Escalate through confirmed owners and preserve required evidence.</a:t>
            </a:r>
          </a:p>
          <a:p xmlns:a="http://schemas.openxmlformats.org/drawingml/2006/main">
            <a:pPr marL="254000" indent="-127000">
              <a:spcAft>
                <a:spcPts val="600"/>
              </a:spcAft>
              <a:buChar char="•"/>
              <a:defRPr sz="1650">
                <a:solidFill>
                  <a:srgbClr val="1D2833"/>
                </a:solidFill>
                <a:latin typeface="Arial"/>
                <a:ea typeface="Arial"/>
                <a:cs typeface="Arial"/>
              </a:defRPr>
            </a:pPr>
            <a:r>
              <a:t>Turn recurring issues into training and control improvements.</a:t>
            </a:r>
          </a:p>
        </p:txBody>
      </p:sp>
      <p:sp>
        <p:nvSpPr>
          <p:cNvPr id="7" name="">
            <a:extLst xmlns:a="http://schemas.openxmlformats.org/drawingml/2006/main">
              <a:ext uri="{FF2B5EF4-FFF2-40B4-BE49-F238E27FC236}">
                <a16:creationId xmlns:a16="http://schemas.microsoft.com/office/drawing/2014/main" id="{F6568649-6896-4027-9FEB-9724B7BD375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246E316-166F-4537-BB34-E734CD511CE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team member reports a possible mistake immediately. The manager thanks them for raising it, preserves the known facts, contacts the designated response team, and avoids blaming the employee before the issue is assessed.</a:t>
            </a:r>
          </a:p>
        </p:txBody>
      </p:sp>
      <p:sp>
        <p:nvSpPr>
          <p:cNvPr id="9" name="">
            <a:extLst xmlns:a="http://schemas.openxmlformats.org/drawingml/2006/main">
              <a:ext uri="{FF2B5EF4-FFF2-40B4-BE49-F238E27FC236}">
                <a16:creationId xmlns:a16="http://schemas.microsoft.com/office/drawing/2014/main" id="{995B970E-851F-4F62-A451-9BF53C33F0C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ED13C3D-92EC-4B14-8F38-18513FA7DEA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 responsibilities apply during onboarding, daily supervision, workflow changes, access approvals, quality review, incident response, coaching, and governance reporting.</a:t>
            </a:r>
          </a:p>
        </p:txBody>
      </p:sp>
      <p:sp>
        <p:nvSpPr>
          <p:cNvPr id="11" name="">
            <a:extLst xmlns:a="http://schemas.openxmlformats.org/drawingml/2006/main">
              <a:ext uri="{FF2B5EF4-FFF2-40B4-BE49-F238E27FC236}">
                <a16:creationId xmlns:a16="http://schemas.microsoft.com/office/drawing/2014/main" id="{EDF9320D-DE60-465F-9829-F3CFB371C02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D94115A4-29CC-4E77-91C4-3EC1E6634EF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88</a:t>
            </a:r>
          </a:p>
        </p:txBody>
      </p:sp>
    </p:spTree>
    <p:extLst>
      <p:ext uri="{BB962C8B-B14F-4D97-AF65-F5344CB8AC3E}">
        <p14:creationId xmlns:p14="http://schemas.microsoft.com/office/powerpoint/2010/main" val="65289089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3A45CB-8CF9-4740-956F-83C0669E15D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08CE3634-2259-4E0C-9BCD-CA1EF01EF98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 process and practice</a:t>
            </a:r>
          </a:p>
        </p:txBody>
      </p:sp>
      <p:sp>
        <p:nvSpPr>
          <p:cNvPr id="3" name="">
            <a:extLst xmlns:a="http://schemas.openxmlformats.org/drawingml/2006/main">
              <a:ext uri="{FF2B5EF4-FFF2-40B4-BE49-F238E27FC236}">
                <a16:creationId xmlns:a16="http://schemas.microsoft.com/office/drawing/2014/main" id="{ED70FCD4-7E5A-4908-83C9-4369103908E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A8F9F6B-C6C6-4040-BC2E-8D269E790D7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Listen and collect the employee's known facts.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Check the confirmed immediate-action guidance.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Contact the designated privacy, security, tool, compliance, or governance owner.</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Support the authorized response without changing evidence.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Reinforce lessons and controls after formal review.</a:t>
            </a:r>
          </a:p>
        </p:txBody>
      </p:sp>
      <p:sp>
        <p:nvSpPr>
          <p:cNvPr id="5" name="">
            <a:extLst xmlns:a="http://schemas.openxmlformats.org/drawingml/2006/main">
              <a:ext uri="{FF2B5EF4-FFF2-40B4-BE49-F238E27FC236}">
                <a16:creationId xmlns:a16="http://schemas.microsoft.com/office/drawing/2014/main" id="{0EA42862-8679-47E1-BF47-77E60271F3B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A5B6B4D-593F-47C8-AF1D-56BEB51F617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manager dashboard may track approved training completion, open concerns by category, response status, recurring quality themes, and corrective-action owners without exposing information beyond authorized roles.</a:t>
            </a:r>
          </a:p>
        </p:txBody>
      </p:sp>
      <p:sp>
        <p:nvSpPr>
          <p:cNvPr id="7" name="">
            <a:extLst xmlns:a="http://schemas.openxmlformats.org/drawingml/2006/main">
              <a:ext uri="{FF2B5EF4-FFF2-40B4-BE49-F238E27FC236}">
                <a16:creationId xmlns:a16="http://schemas.microsoft.com/office/drawing/2014/main" id="{71B5A7B8-6975-4970-95F4-5B03B5DE92D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C1D91F0-534F-4A4B-ABCD-734CFC141B3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Managers may blame the reporter, promise an outcome before assessment, run an informal investigation, continue a risky workflow, share details too widely, or invent a response deadline that policy has not confirmed.</a:t>
            </a:r>
          </a:p>
        </p:txBody>
      </p:sp>
      <p:sp>
        <p:nvSpPr>
          <p:cNvPr id="9" name="">
            <a:extLst xmlns:a="http://schemas.openxmlformats.org/drawingml/2006/main">
              <a:ext uri="{FF2B5EF4-FFF2-40B4-BE49-F238E27FC236}">
                <a16:creationId xmlns:a16="http://schemas.microsoft.com/office/drawing/2014/main" id="{8D694F73-CA66-404B-A3E1-D920851ECCA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43776E1C-CC1F-400C-840E-83712ED4329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89</a:t>
            </a:r>
          </a:p>
        </p:txBody>
      </p:sp>
    </p:spTree>
    <p:extLst>
      <p:ext uri="{BB962C8B-B14F-4D97-AF65-F5344CB8AC3E}">
        <p14:creationId xmlns:p14="http://schemas.microsoft.com/office/powerpoint/2010/main" val="1420625304"/>
      </p:ext>
    </p:extLst>
  </p:cSld>
</p:sld>
</file>

<file path=ppt/slides/slide9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0672C7-2D30-41BF-A350-825AD95E0A9E}"/>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10</a:t>
            </a:r>
          </a:p>
        </p:txBody>
      </p:sp>
      <p:sp>
        <p:nvSpPr>
          <p:cNvPr id="2" name="">
            <a:extLst xmlns:a="http://schemas.openxmlformats.org/drawingml/2006/main">
              <a:ext uri="{FF2B5EF4-FFF2-40B4-BE49-F238E27FC236}">
                <a16:creationId xmlns:a16="http://schemas.microsoft.com/office/drawing/2014/main" id="{53B9D15B-AFD9-4649-B70F-B3E33BDA8BF3}"/>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01"/>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Knowledge Consolidation and Applied Learning</a:t>
            </a:r>
          </a:p>
        </p:txBody>
      </p:sp>
      <p:sp>
        <p:nvSpPr>
          <p:cNvPr id="3" name="">
            <a:extLst xmlns:a="http://schemas.openxmlformats.org/drawingml/2006/main">
              <a:ext uri="{FF2B5EF4-FFF2-40B4-BE49-F238E27FC236}">
                <a16:creationId xmlns:a16="http://schemas.microsoft.com/office/drawing/2014/main" id="{C37E0638-55BC-4C91-BF4F-E3EB95352D4A}"/>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consolidates the previous nine modules and asks learners to demonstrate safe, accurate, and role-relevant AI use. It is important because course completion should show both knowledge and practical judgment, not attendance alone.</a:t>
            </a:r>
          </a:p>
        </p:txBody>
      </p:sp>
      <p:sp>
        <p:nvSpPr>
          <p:cNvPr id="4" name="">
            <a:extLst xmlns:a="http://schemas.openxmlformats.org/drawingml/2006/main">
              <a:ext uri="{FF2B5EF4-FFF2-40B4-BE49-F238E27FC236}">
                <a16:creationId xmlns:a16="http://schemas.microsoft.com/office/drawing/2014/main" id="{A3026CE2-2510-4147-8611-0DA17748C83F}"/>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B95E189D-9D55-499A-A73E-4C4FCF68AF96}"/>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a complete human-owned AI workflow.</a:t>
            </a:r>
          </a:p>
          <a:p xmlns:a="http://schemas.openxmlformats.org/drawingml/2006/main">
            <a:pPr marL="254000" indent="-127000">
              <a:spcAft>
                <a:spcPts val="600"/>
              </a:spcAft>
              <a:buChar char="•"/>
              <a:defRPr sz="1500">
                <a:solidFill>
                  <a:srgbClr val="F1F6F8"/>
                </a:solidFill>
                <a:latin typeface="Arial"/>
                <a:ea typeface="Arial"/>
                <a:cs typeface="Arial"/>
              </a:defRPr>
            </a:pPr>
            <a:r>
              <a:t>Demonstrate safe tool, account, task, and information choices.</a:t>
            </a:r>
          </a:p>
          <a:p xmlns:a="http://schemas.openxmlformats.org/drawingml/2006/main">
            <a:pPr marL="254000" indent="-127000">
              <a:spcAft>
                <a:spcPts val="600"/>
              </a:spcAft>
              <a:buChar char="•"/>
              <a:defRPr sz="1500">
                <a:solidFill>
                  <a:srgbClr val="F1F6F8"/>
                </a:solidFill>
                <a:latin typeface="Arial"/>
                <a:ea typeface="Arial"/>
                <a:cs typeface="Arial"/>
              </a:defRPr>
            </a:pPr>
            <a:r>
              <a:t>Verify an AI-supported result against its source.</a:t>
            </a:r>
          </a:p>
          <a:p xmlns:a="http://schemas.openxmlformats.org/drawingml/2006/main">
            <a:pPr marL="254000" indent="-127000">
              <a:spcAft>
                <a:spcPts val="600"/>
              </a:spcAft>
              <a:buChar char="•"/>
              <a:defRPr sz="1500">
                <a:solidFill>
                  <a:srgbClr val="F1F6F8"/>
                </a:solidFill>
                <a:latin typeface="Arial"/>
                <a:ea typeface="Arial"/>
                <a:cs typeface="Arial"/>
              </a:defRPr>
            </a:pPr>
            <a:r>
              <a:t>Communicate limitations, uncertainty, and required approval.</a:t>
            </a:r>
          </a:p>
          <a:p xmlns:a="http://schemas.openxmlformats.org/drawingml/2006/main">
            <a:pPr marL="254000" indent="-127000">
              <a:spcAft>
                <a:spcPts val="600"/>
              </a:spcAft>
              <a:buChar char="•"/>
              <a:defRPr sz="1500">
                <a:solidFill>
                  <a:srgbClr val="F1F6F8"/>
                </a:solidFill>
                <a:latin typeface="Arial"/>
                <a:ea typeface="Arial"/>
                <a:cs typeface="Arial"/>
              </a:defRPr>
            </a:pPr>
            <a:r>
              <a:t>Respond appropriately when a concern appears.</a:t>
            </a:r>
          </a:p>
          <a:p xmlns:a="http://schemas.openxmlformats.org/drawingml/2006/main">
            <a:pPr marL="254000" indent="-127000">
              <a:spcAft>
                <a:spcPts val="600"/>
              </a:spcAft>
              <a:buChar char="•"/>
              <a:defRPr sz="1500">
                <a:solidFill>
                  <a:srgbClr val="F1F6F8"/>
                </a:solidFill>
                <a:latin typeface="Arial"/>
                <a:ea typeface="Arial"/>
                <a:cs typeface="Arial"/>
              </a:defRPr>
            </a:pPr>
            <a:r>
              <a:t>Reflect on performance and identify a next learning goal.</a:t>
            </a:r>
          </a:p>
        </p:txBody>
      </p:sp>
      <p:sp>
        <p:nvSpPr>
          <p:cNvPr id="6" name="">
            <a:extLst xmlns:a="http://schemas.openxmlformats.org/drawingml/2006/main">
              <a:ext uri="{FF2B5EF4-FFF2-40B4-BE49-F238E27FC236}">
                <a16:creationId xmlns:a16="http://schemas.microsoft.com/office/drawing/2014/main" id="{337B7B4E-FC44-4992-AEB4-EB32D643AB0E}"/>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02CE1198-0946-4E8C-8D1B-F05D9FDD3C28}"/>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Reviewing the complete learning pathway</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Resolving outstanding questions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Completing the knowledge assessment</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Demonstrating practical readiness</a:t>
            </a:r>
          </a:p>
        </p:txBody>
      </p:sp>
      <p:sp>
        <p:nvSpPr>
          <p:cNvPr id="8" name="">
            <a:extLst xmlns:a="http://schemas.openxmlformats.org/drawingml/2006/main">
              <a:ext uri="{FF2B5EF4-FFF2-40B4-BE49-F238E27FC236}">
                <a16:creationId xmlns:a16="http://schemas.microsoft.com/office/drawing/2014/main" id="{155957BC-5769-444D-AD3A-1AA374A8A021}"/>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Learners completing the full pathway    Prerequisites: Required role pathway    Level: Applied</a:t>
            </a:r>
          </a:p>
        </p:txBody>
      </p:sp>
      <p:sp>
        <p:nvSpPr>
          <p:cNvPr id="9" name="">
            <a:extLst xmlns:a="http://schemas.openxmlformats.org/drawingml/2006/main">
              <a:ext uri="{FF2B5EF4-FFF2-40B4-BE49-F238E27FC236}">
                <a16:creationId xmlns:a16="http://schemas.microsoft.com/office/drawing/2014/main" id="{77DBF61F-9ED0-4DDB-A8AB-6C849A83173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10</a:t>
            </a:r>
          </a:p>
        </p:txBody>
      </p:sp>
      <p:sp>
        <p:nvSpPr>
          <p:cNvPr id="10" name="">
            <a:extLst xmlns:a="http://schemas.openxmlformats.org/drawingml/2006/main">
              <a:ext uri="{FF2B5EF4-FFF2-40B4-BE49-F238E27FC236}">
                <a16:creationId xmlns:a16="http://schemas.microsoft.com/office/drawing/2014/main" id="{C3972A46-2D82-4D3A-B1FF-B1CA54DCC18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90</a:t>
            </a:r>
          </a:p>
        </p:txBody>
      </p:sp>
    </p:spTree>
    <p:extLst>
      <p:ext uri="{BB962C8B-B14F-4D97-AF65-F5344CB8AC3E}">
        <p14:creationId xmlns:p14="http://schemas.microsoft.com/office/powerpoint/2010/main" val="1879119363"/>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D1C9B3-9B5F-4F0D-BE18-5BF68098943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B82EB48A-D96F-4D90-B442-FC8D04D38A2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a:t>
            </a:r>
          </a:p>
        </p:txBody>
      </p:sp>
      <p:sp>
        <p:nvSpPr>
          <p:cNvPr id="3" name="">
            <a:extLst xmlns:a="http://schemas.openxmlformats.org/drawingml/2006/main">
              <a:ext uri="{FF2B5EF4-FFF2-40B4-BE49-F238E27FC236}">
                <a16:creationId xmlns:a16="http://schemas.microsoft.com/office/drawing/2014/main" id="{E2E9BFDE-9EF3-4820-997F-AC86EF062E8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CDB6A59-EF13-4FED-BD2E-75FA493A3E2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20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Learners connect tool selection, data classification, prompting, output review, role-specific tools, evidence interpretation, governance, and incident reporting. The review uses realistic scenarios so learners must combine the skills instead of remembering definitions in isolation.</a:t>
            </a:r>
          </a:p>
        </p:txBody>
      </p:sp>
      <p:sp>
        <p:nvSpPr>
          <p:cNvPr id="5" name="">
            <a:extLst xmlns:a="http://schemas.openxmlformats.org/drawingml/2006/main">
              <a:ext uri="{FF2B5EF4-FFF2-40B4-BE49-F238E27FC236}">
                <a16:creationId xmlns:a16="http://schemas.microsoft.com/office/drawing/2014/main" id="{92A1AABD-E1EE-476A-8320-ED80D2CAEDA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77B1BB8-DD8C-4370-8CB8-46BA83329A7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with the business need and authorization.</a:t>
            </a:r>
          </a:p>
          <a:p xmlns:a="http://schemas.openxmlformats.org/drawingml/2006/main">
            <a:pPr marL="254000" indent="-127000">
              <a:spcAft>
                <a:spcPts val="600"/>
              </a:spcAft>
              <a:buChar char="•"/>
              <a:defRPr sz="1650">
                <a:solidFill>
                  <a:srgbClr val="1D2833"/>
                </a:solidFill>
                <a:latin typeface="Arial"/>
                <a:ea typeface="Arial"/>
                <a:cs typeface="Arial"/>
              </a:defRPr>
            </a:pPr>
            <a:r>
              <a:t>Protect information before entering or sharing it.</a:t>
            </a:r>
          </a:p>
          <a:p xmlns:a="http://schemas.openxmlformats.org/drawingml/2006/main">
            <a:pPr marL="254000" indent="-127000">
              <a:spcAft>
                <a:spcPts val="600"/>
              </a:spcAft>
              <a:buChar char="•"/>
              <a:defRPr sz="1650">
                <a:solidFill>
                  <a:srgbClr val="1D2833"/>
                </a:solidFill>
                <a:latin typeface="Arial"/>
                <a:ea typeface="Arial"/>
                <a:cs typeface="Arial"/>
              </a:defRPr>
            </a:pPr>
            <a:r>
              <a:t>Verify outputs against approved sources.</a:t>
            </a:r>
          </a:p>
          <a:p xmlns:a="http://schemas.openxmlformats.org/drawingml/2006/main">
            <a:pPr marL="254000" indent="-127000">
              <a:spcAft>
                <a:spcPts val="600"/>
              </a:spcAft>
              <a:buChar char="•"/>
              <a:defRPr sz="1650">
                <a:solidFill>
                  <a:srgbClr val="1D2833"/>
                </a:solidFill>
                <a:latin typeface="Arial"/>
                <a:ea typeface="Arial"/>
                <a:cs typeface="Arial"/>
              </a:defRPr>
            </a:pPr>
            <a:r>
              <a:t>Preserve human judgment, approval, and escalation.</a:t>
            </a:r>
          </a:p>
        </p:txBody>
      </p:sp>
      <p:sp>
        <p:nvSpPr>
          <p:cNvPr id="7" name="">
            <a:extLst xmlns:a="http://schemas.openxmlformats.org/drawingml/2006/main">
              <a:ext uri="{FF2B5EF4-FFF2-40B4-BE49-F238E27FC236}">
                <a16:creationId xmlns:a16="http://schemas.microsoft.com/office/drawing/2014/main" id="{26733EEF-0CC6-4673-938B-CF1D6FAC606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10B9A90-C4CE-4B5D-B4E2-5C383021067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receives a fictional request to summarize a call and include a dashboard trend. Before starting, they identify the permitted tools, classify both sources, and plan how each output will be verified.</a:t>
            </a:r>
          </a:p>
        </p:txBody>
      </p:sp>
      <p:sp>
        <p:nvSpPr>
          <p:cNvPr id="9" name="">
            <a:extLst xmlns:a="http://schemas.openxmlformats.org/drawingml/2006/main">
              <a:ext uri="{FF2B5EF4-FFF2-40B4-BE49-F238E27FC236}">
                <a16:creationId xmlns:a16="http://schemas.microsoft.com/office/drawing/2014/main" id="{F37F1A71-997A-48CB-ABCD-ECCE0EEE9A1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98EFA5C-84AF-4C8F-9F20-F39325238AD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review prepares learners for final assessment and for everyday workflows that combine documentation, data, communication, and responsible decision making.</a:t>
            </a:r>
          </a:p>
        </p:txBody>
      </p:sp>
      <p:sp>
        <p:nvSpPr>
          <p:cNvPr id="11" name="">
            <a:extLst xmlns:a="http://schemas.openxmlformats.org/drawingml/2006/main">
              <a:ext uri="{FF2B5EF4-FFF2-40B4-BE49-F238E27FC236}">
                <a16:creationId xmlns:a16="http://schemas.microsoft.com/office/drawing/2014/main" id="{51F26F80-0FD0-4869-843E-14941AE3A37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3D291067-D3E7-4025-AEA8-09AABDE7BF9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91</a:t>
            </a:r>
          </a:p>
        </p:txBody>
      </p:sp>
    </p:spTree>
    <p:extLst>
      <p:ext uri="{BB962C8B-B14F-4D97-AF65-F5344CB8AC3E}">
        <p14:creationId xmlns:p14="http://schemas.microsoft.com/office/powerpoint/2010/main" val="505036405"/>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4FAADC-599A-4599-9B6F-C0BA3AC451B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18846EA2-BB8E-4643-88BA-DDDFC19FE07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0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 process and practice</a:t>
            </a:r>
          </a:p>
        </p:txBody>
      </p:sp>
      <p:sp>
        <p:nvSpPr>
          <p:cNvPr id="3" name="">
            <a:extLst xmlns:a="http://schemas.openxmlformats.org/drawingml/2006/main">
              <a:ext uri="{FF2B5EF4-FFF2-40B4-BE49-F238E27FC236}">
                <a16:creationId xmlns:a16="http://schemas.microsoft.com/office/drawing/2014/main" id="{7169E336-BF48-45BD-8DD8-924179B8507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305B8B5-8C50-47AD-AC67-0A23D92DEFC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Present a scenario that combines several modules.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Ask the learner to select the authorized workflow.</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Require a clear prompt, query, or review plan.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Compare the output with the approved source.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Explain handling, approval, limitations, and escalation.</a:t>
            </a:r>
          </a:p>
        </p:txBody>
      </p:sp>
      <p:sp>
        <p:nvSpPr>
          <p:cNvPr id="5" name="">
            <a:extLst xmlns:a="http://schemas.openxmlformats.org/drawingml/2006/main">
              <a:ext uri="{FF2B5EF4-FFF2-40B4-BE49-F238E27FC236}">
                <a16:creationId xmlns:a16="http://schemas.microsoft.com/office/drawing/2014/main" id="{12B720F6-E8C9-49D5-BF16-56BB851DAA0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5A121BB-350E-45B6-A34E-BD4A69BD90D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record can connect task purpose, tool and account, input classification, prompt or query, source references, corrections, reviewer, destination, and final approval in one traceable package.</a:t>
            </a:r>
          </a:p>
        </p:txBody>
      </p:sp>
      <p:sp>
        <p:nvSpPr>
          <p:cNvPr id="7" name="">
            <a:extLst xmlns:a="http://schemas.openxmlformats.org/drawingml/2006/main">
              <a:ext uri="{FF2B5EF4-FFF2-40B4-BE49-F238E27FC236}">
                <a16:creationId xmlns:a16="http://schemas.microsoft.com/office/drawing/2014/main" id="{541BEB1C-D0FE-42C1-9B2C-4DE8F97FBA5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29BF435-A6FC-4FCC-8827-F0CB8C16B3F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Learners may focus only on prompt quality, forget input permission, verify wording but not numbers, omit the intended audience, or assume course completion removes the need for local approval.</a:t>
            </a:r>
          </a:p>
        </p:txBody>
      </p:sp>
      <p:sp>
        <p:nvSpPr>
          <p:cNvPr id="9" name="">
            <a:extLst xmlns:a="http://schemas.openxmlformats.org/drawingml/2006/main">
              <a:ext uri="{FF2B5EF4-FFF2-40B4-BE49-F238E27FC236}">
                <a16:creationId xmlns:a16="http://schemas.microsoft.com/office/drawing/2014/main" id="{E79D62D0-3492-48F9-9295-10856E8CBFB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BCB3CD77-1EAD-4E4B-91F2-7CA10DC287B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92</a:t>
            </a:r>
          </a:p>
        </p:txBody>
      </p:sp>
    </p:spTree>
    <p:extLst>
      <p:ext uri="{BB962C8B-B14F-4D97-AF65-F5344CB8AC3E}">
        <p14:creationId xmlns:p14="http://schemas.microsoft.com/office/powerpoint/2010/main" val="1270849610"/>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1D5DF24-93D2-4992-86EA-0A4ADD3F41F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DD231FE9-87C9-4383-894A-3E615A1CA90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a:t>
            </a:r>
          </a:p>
        </p:txBody>
      </p:sp>
      <p:sp>
        <p:nvSpPr>
          <p:cNvPr id="3" name="">
            <a:extLst xmlns:a="http://schemas.openxmlformats.org/drawingml/2006/main">
              <a:ext uri="{FF2B5EF4-FFF2-40B4-BE49-F238E27FC236}">
                <a16:creationId xmlns:a16="http://schemas.microsoft.com/office/drawing/2014/main" id="{48A0E15B-92F6-4F3F-84BC-786A133153C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8F92D02-D4AF-4B73-9AD4-A71B160DB90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35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final review should surface uncertainties about approved tools, local policies, role permissions, data handling, and escalation routes. Trainers should distinguish a concept question from a local policy question and send unresolved local questions to the confirmed owner.</a:t>
            </a:r>
          </a:p>
        </p:txBody>
      </p:sp>
      <p:sp>
        <p:nvSpPr>
          <p:cNvPr id="5" name="">
            <a:extLst xmlns:a="http://schemas.openxmlformats.org/drawingml/2006/main">
              <a:ext uri="{FF2B5EF4-FFF2-40B4-BE49-F238E27FC236}">
                <a16:creationId xmlns:a16="http://schemas.microsoft.com/office/drawing/2014/main" id="{DB5A16FB-879E-488B-805C-088A1203CCD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DC634E1-F820-486D-8513-DFE00F7CF52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Invite questions without penalizing uncertainty.</a:t>
            </a:r>
          </a:p>
          <a:p xmlns:a="http://schemas.openxmlformats.org/drawingml/2006/main">
            <a:pPr marL="254000" indent="-127000">
              <a:spcAft>
                <a:spcPts val="600"/>
              </a:spcAft>
              <a:buChar char="•"/>
              <a:defRPr sz="1650">
                <a:solidFill>
                  <a:srgbClr val="1D2833"/>
                </a:solidFill>
                <a:latin typeface="Arial"/>
                <a:ea typeface="Arial"/>
                <a:cs typeface="Arial"/>
              </a:defRPr>
            </a:pPr>
            <a:r>
              <a:t>Record unanswered questions and assign an owner.</a:t>
            </a:r>
          </a:p>
          <a:p xmlns:a="http://schemas.openxmlformats.org/drawingml/2006/main">
            <a:pPr marL="254000" indent="-127000">
              <a:spcAft>
                <a:spcPts val="600"/>
              </a:spcAft>
              <a:buChar char="•"/>
              <a:defRPr sz="1650">
                <a:solidFill>
                  <a:srgbClr val="1D2833"/>
                </a:solidFill>
                <a:latin typeface="Arial"/>
                <a:ea typeface="Arial"/>
                <a:cs typeface="Arial"/>
              </a:defRPr>
            </a:pPr>
            <a:r>
              <a:t>Use approved sources instead of trainer memory.</a:t>
            </a:r>
          </a:p>
          <a:p xmlns:a="http://schemas.openxmlformats.org/drawingml/2006/main">
            <a:pPr marL="254000" indent="-127000">
              <a:spcAft>
                <a:spcPts val="600"/>
              </a:spcAft>
              <a:buChar char="•"/>
              <a:defRPr sz="1650">
                <a:solidFill>
                  <a:srgbClr val="1D2833"/>
                </a:solidFill>
                <a:latin typeface="Arial"/>
                <a:ea typeface="Arial"/>
                <a:cs typeface="Arial"/>
              </a:defRPr>
            </a:pPr>
            <a:r>
              <a:t>Update the course when an authoritative answer changes.</a:t>
            </a:r>
          </a:p>
        </p:txBody>
      </p:sp>
      <p:sp>
        <p:nvSpPr>
          <p:cNvPr id="7" name="">
            <a:extLst xmlns:a="http://schemas.openxmlformats.org/drawingml/2006/main">
              <a:ext uri="{FF2B5EF4-FFF2-40B4-BE49-F238E27FC236}">
                <a16:creationId xmlns:a16="http://schemas.microsoft.com/office/drawing/2014/main" id="{77578578-E4CB-4393-BC67-4C82ED4A901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506ECC8-6308-4C06-BAC4-0C1C59165F4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asks whether a specific transcript may be exported. The trainer does not guess. The question is checked against the approved catalog and the designated DWIHN owner provides the answer.</a:t>
            </a:r>
          </a:p>
        </p:txBody>
      </p:sp>
      <p:sp>
        <p:nvSpPr>
          <p:cNvPr id="9" name="">
            <a:extLst xmlns:a="http://schemas.openxmlformats.org/drawingml/2006/main">
              <a:ext uri="{FF2B5EF4-FFF2-40B4-BE49-F238E27FC236}">
                <a16:creationId xmlns:a16="http://schemas.microsoft.com/office/drawing/2014/main" id="{7577357C-C585-432F-9316-6B00E9FB75B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9ADD107-6871-4B92-9896-8965EFD2429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process supports live question sessions, office hours, trainer preparation, frequently asked questions, remediation, and post-course support.</a:t>
            </a:r>
          </a:p>
        </p:txBody>
      </p:sp>
      <p:sp>
        <p:nvSpPr>
          <p:cNvPr id="11" name="">
            <a:extLst xmlns:a="http://schemas.openxmlformats.org/drawingml/2006/main">
              <a:ext uri="{FF2B5EF4-FFF2-40B4-BE49-F238E27FC236}">
                <a16:creationId xmlns:a16="http://schemas.microsoft.com/office/drawing/2014/main" id="{9445D898-0464-42CF-9FD6-9C44A46A42E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6F66C58D-44AF-4464-B23E-3407887F476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93</a:t>
            </a:r>
          </a:p>
        </p:txBody>
      </p:sp>
    </p:spTree>
    <p:extLst>
      <p:ext uri="{BB962C8B-B14F-4D97-AF65-F5344CB8AC3E}">
        <p14:creationId xmlns:p14="http://schemas.microsoft.com/office/powerpoint/2010/main" val="627310561"/>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88699C-5EE0-416C-A34F-23110794CA5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BA499DCC-28B8-4652-B32A-F5D61C6BD61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 process and practice</a:t>
            </a:r>
          </a:p>
        </p:txBody>
      </p:sp>
      <p:sp>
        <p:nvSpPr>
          <p:cNvPr id="3" name="">
            <a:extLst xmlns:a="http://schemas.openxmlformats.org/drawingml/2006/main">
              <a:ext uri="{FF2B5EF4-FFF2-40B4-BE49-F238E27FC236}">
                <a16:creationId xmlns:a16="http://schemas.microsoft.com/office/drawing/2014/main" id="{274AEFE7-0263-44A4-A6FB-367432A1C53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5A8BAAA-0A71-4889-A76D-17E21E3A91B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Collect unresolved questions during review and practice.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Classify each as conceptual, technical, policy, or role-specific.</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Answer from the approved curriculum or assign it to the named owner.</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Record the confirmed answer and source.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Communicate changes to affected learners and materials.</a:t>
            </a:r>
          </a:p>
        </p:txBody>
      </p:sp>
      <p:sp>
        <p:nvSpPr>
          <p:cNvPr id="5" name="">
            <a:extLst xmlns:a="http://schemas.openxmlformats.org/drawingml/2006/main">
              <a:ext uri="{FF2B5EF4-FFF2-40B4-BE49-F238E27FC236}">
                <a16:creationId xmlns:a16="http://schemas.microsoft.com/office/drawing/2014/main" id="{30A48E6C-174F-4F51-A54E-968517DD996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B674BF0-17FF-4B1F-9C20-E2875C5A3BC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question log can include question ID, module, role, policy or tool owner, approved source, answer, decision date, version, and course pages that require an update.</a:t>
            </a:r>
          </a:p>
        </p:txBody>
      </p:sp>
      <p:sp>
        <p:nvSpPr>
          <p:cNvPr id="7" name="">
            <a:extLst xmlns:a="http://schemas.openxmlformats.org/drawingml/2006/main">
              <a:ext uri="{FF2B5EF4-FFF2-40B4-BE49-F238E27FC236}">
                <a16:creationId xmlns:a16="http://schemas.microsoft.com/office/drawing/2014/main" id="{E82CAFE0-C266-4BD4-AF9C-01FC27CD2E2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DD7F07C-1E74-46F1-8E88-E0C71D08F067}"/>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Trainers may guess to keep the session moving, confuse vendor documentation with local approval, give one role's permission to everyone, or fail to update old materials after an answer changes.</a:t>
            </a:r>
          </a:p>
        </p:txBody>
      </p:sp>
      <p:sp>
        <p:nvSpPr>
          <p:cNvPr id="9" name="">
            <a:extLst xmlns:a="http://schemas.openxmlformats.org/drawingml/2006/main">
              <a:ext uri="{FF2B5EF4-FFF2-40B4-BE49-F238E27FC236}">
                <a16:creationId xmlns:a16="http://schemas.microsoft.com/office/drawing/2014/main" id="{C2B09527-DED0-440B-9CF1-FCE774DDC40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7EFEDFC1-AF9D-4C31-A45E-7DBF56A8B92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94</a:t>
            </a:r>
          </a:p>
        </p:txBody>
      </p:sp>
    </p:spTree>
    <p:extLst>
      <p:ext uri="{BB962C8B-B14F-4D97-AF65-F5344CB8AC3E}">
        <p14:creationId xmlns:p14="http://schemas.microsoft.com/office/powerpoint/2010/main" val="141979250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2BF77BB-1C53-4CD2-A44B-5CC96EDA5E7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0ACA7ACE-362B-4C7D-80EC-067835E5977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a:t>
            </a:r>
          </a:p>
        </p:txBody>
      </p:sp>
      <p:sp>
        <p:nvSpPr>
          <p:cNvPr id="3" name="">
            <a:extLst xmlns:a="http://schemas.openxmlformats.org/drawingml/2006/main">
              <a:ext uri="{FF2B5EF4-FFF2-40B4-BE49-F238E27FC236}">
                <a16:creationId xmlns:a16="http://schemas.microsoft.com/office/drawing/2014/main" id="{2020F92D-EF34-4A59-88CB-08B311641F6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606E920-44D4-4512-B2B1-61477EC3A4F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calls for an online 20-question final assessment and also describes a 200-plus-question role-based bank. The final form should sample the course fairly and measure decisions as well as recall through realistic scenarios.</a:t>
            </a:r>
          </a:p>
        </p:txBody>
      </p:sp>
      <p:sp>
        <p:nvSpPr>
          <p:cNvPr id="5" name="">
            <a:extLst xmlns:a="http://schemas.openxmlformats.org/drawingml/2006/main">
              <a:ext uri="{FF2B5EF4-FFF2-40B4-BE49-F238E27FC236}">
                <a16:creationId xmlns:a16="http://schemas.microsoft.com/office/drawing/2014/main" id="{646ECC75-D80F-46E5-9C0C-02D92FB4BCD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1145D71-B64F-44D0-9488-FA20FB25BD2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Map every question to an objective and module.</a:t>
            </a:r>
          </a:p>
          <a:p xmlns:a="http://schemas.openxmlformats.org/drawingml/2006/main">
            <a:pPr marL="254000" indent="-127000">
              <a:spcAft>
                <a:spcPts val="600"/>
              </a:spcAft>
              <a:buChar char="•"/>
              <a:defRPr sz="1650">
                <a:solidFill>
                  <a:srgbClr val="1D2833"/>
                </a:solidFill>
                <a:latin typeface="Arial"/>
                <a:ea typeface="Arial"/>
                <a:cs typeface="Arial"/>
              </a:defRPr>
            </a:pPr>
            <a:r>
              <a:t>Use plausible choices that test judgment.</a:t>
            </a:r>
          </a:p>
          <a:p xmlns:a="http://schemas.openxmlformats.org/drawingml/2006/main">
            <a:pPr marL="254000" indent="-127000">
              <a:spcAft>
                <a:spcPts val="600"/>
              </a:spcAft>
              <a:buChar char="•"/>
              <a:defRPr sz="1650">
                <a:solidFill>
                  <a:srgbClr val="1D2833"/>
                </a:solidFill>
                <a:latin typeface="Arial"/>
                <a:ea typeface="Arial"/>
                <a:cs typeface="Arial"/>
              </a:defRPr>
            </a:pPr>
            <a:r>
              <a:t>Set passing, retake, and remediation rules before launch.</a:t>
            </a:r>
          </a:p>
          <a:p xmlns:a="http://schemas.openxmlformats.org/drawingml/2006/main">
            <a:pPr marL="254000" indent="-127000">
              <a:spcAft>
                <a:spcPts val="600"/>
              </a:spcAft>
              <a:buChar char="•"/>
              <a:defRPr sz="1650">
                <a:solidFill>
                  <a:srgbClr val="1D2833"/>
                </a:solidFill>
                <a:latin typeface="Arial"/>
                <a:ea typeface="Arial"/>
                <a:cs typeface="Arial"/>
              </a:defRPr>
            </a:pPr>
            <a:r>
              <a:t>Review question quality, accessibility, and security.</a:t>
            </a:r>
          </a:p>
        </p:txBody>
      </p:sp>
      <p:sp>
        <p:nvSpPr>
          <p:cNvPr id="7" name="">
            <a:extLst xmlns:a="http://schemas.openxmlformats.org/drawingml/2006/main">
              <a:ext uri="{FF2B5EF4-FFF2-40B4-BE49-F238E27FC236}">
                <a16:creationId xmlns:a16="http://schemas.microsoft.com/office/drawing/2014/main" id="{CB2D551E-05D9-408F-9B47-26B1B3F31D7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77A7E18-115C-4213-8E7C-EDE6782E2AB8}"/>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Instead of asking only for the definition of restricted information, a question shows a fictional screenshot and asks what the employee should check before using it in an AI tool.</a:t>
            </a:r>
          </a:p>
        </p:txBody>
      </p:sp>
      <p:sp>
        <p:nvSpPr>
          <p:cNvPr id="9" name="">
            <a:extLst xmlns:a="http://schemas.openxmlformats.org/drawingml/2006/main">
              <a:ext uri="{FF2B5EF4-FFF2-40B4-BE49-F238E27FC236}">
                <a16:creationId xmlns:a16="http://schemas.microsoft.com/office/drawing/2014/main" id="{DF0005C9-4A55-48A9-9F07-CA952B4C8EF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467E604-8096-4AA6-B4CF-4FBDECC2D7E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assessment supports course completion, knowledge checks, remediation planning, refresher training, and evidence that required concepts were tested.</a:t>
            </a:r>
          </a:p>
        </p:txBody>
      </p:sp>
      <p:sp>
        <p:nvSpPr>
          <p:cNvPr id="11" name="">
            <a:extLst xmlns:a="http://schemas.openxmlformats.org/drawingml/2006/main">
              <a:ext uri="{FF2B5EF4-FFF2-40B4-BE49-F238E27FC236}">
                <a16:creationId xmlns:a16="http://schemas.microsoft.com/office/drawing/2014/main" id="{1A2A2FF4-5A66-43B9-81F1-A92FCB144D8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941D8271-E517-4634-938C-A042FAB45AD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95</a:t>
            </a:r>
          </a:p>
        </p:txBody>
      </p:sp>
    </p:spTree>
    <p:extLst>
      <p:ext uri="{BB962C8B-B14F-4D97-AF65-F5344CB8AC3E}">
        <p14:creationId xmlns:p14="http://schemas.microsoft.com/office/powerpoint/2010/main" val="667506347"/>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DDEEF0-6DA2-4C5A-9B43-E952FD7A603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E24D0F9A-1E33-4603-B274-6608E9EF2A8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 process and practice</a:t>
            </a:r>
          </a:p>
        </p:txBody>
      </p:sp>
      <p:sp>
        <p:nvSpPr>
          <p:cNvPr id="3" name="">
            <a:extLst xmlns:a="http://schemas.openxmlformats.org/drawingml/2006/main">
              <a:ext uri="{FF2B5EF4-FFF2-40B4-BE49-F238E27FC236}">
                <a16:creationId xmlns:a16="http://schemas.microsoft.com/office/drawing/2014/main" id="{46D00580-BE4A-445D-A877-A1F4559CB53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7EBB647-D3FB-41CA-AE0A-4772282A9FF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Build an assessment blueprint from learning objectives.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Create and review scenario-based questions.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Assemble a balanced 20-question form from the approved bank.</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Score responses using the confirmed passing standard.</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Provide approved feedback, remediation, and retake steps.</a:t>
            </a:r>
          </a:p>
        </p:txBody>
      </p:sp>
      <p:sp>
        <p:nvSpPr>
          <p:cNvPr id="5" name="">
            <a:extLst xmlns:a="http://schemas.openxmlformats.org/drawingml/2006/main">
              <a:ext uri="{FF2B5EF4-FFF2-40B4-BE49-F238E27FC236}">
                <a16:creationId xmlns:a16="http://schemas.microsoft.com/office/drawing/2014/main" id="{D261328E-DFDE-4F83-BF7C-53A451DD85D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F520A43-D636-4B7A-B29E-C5073FDFA0D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Tag each question with module, objective, role, difficulty, data class, correct answer, rationale, and version. A 20-question form can then draw a balanced set from the approved bank without over-testing one module.</a:t>
            </a:r>
          </a:p>
        </p:txBody>
      </p:sp>
      <p:sp>
        <p:nvSpPr>
          <p:cNvPr id="7" name="">
            <a:extLst xmlns:a="http://schemas.openxmlformats.org/drawingml/2006/main">
              <a:ext uri="{FF2B5EF4-FFF2-40B4-BE49-F238E27FC236}">
                <a16:creationId xmlns:a16="http://schemas.microsoft.com/office/drawing/2014/main" id="{BEB4F4D7-0E70-4BBB-B674-B9DE23AE830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BC0C4F2-A900-441A-848D-9209FC670E2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Weak assessments overuse definition questions, reveal sensitive details, contain more than one defensible answer, test content that was not taught, or issue a certificate without confirmed passing rules.</a:t>
            </a:r>
          </a:p>
        </p:txBody>
      </p:sp>
      <p:sp>
        <p:nvSpPr>
          <p:cNvPr id="9" name="">
            <a:extLst xmlns:a="http://schemas.openxmlformats.org/drawingml/2006/main">
              <a:ext uri="{FF2B5EF4-FFF2-40B4-BE49-F238E27FC236}">
                <a16:creationId xmlns:a16="http://schemas.microsoft.com/office/drawing/2014/main" id="{603AA8D0-50D5-4209-A8D7-17B9EF79B1D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370A9AD0-6806-4FD8-8D09-B1522127329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96</a:t>
            </a:r>
          </a:p>
        </p:txBody>
      </p:sp>
    </p:spTree>
    <p:extLst>
      <p:ext uri="{BB962C8B-B14F-4D97-AF65-F5344CB8AC3E}">
        <p14:creationId xmlns:p14="http://schemas.microsoft.com/office/powerpoint/2010/main" val="553858468"/>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EDF80C-9D7A-41CB-B6DF-BDDAFA5227F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FD224B84-93AE-4A86-B658-6FABDE44DE8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a:t>
            </a:r>
          </a:p>
        </p:txBody>
      </p:sp>
      <p:sp>
        <p:nvSpPr>
          <p:cNvPr id="3" name="">
            <a:extLst xmlns:a="http://schemas.openxmlformats.org/drawingml/2006/main">
              <a:ext uri="{FF2B5EF4-FFF2-40B4-BE49-F238E27FC236}">
                <a16:creationId xmlns:a16="http://schemas.microsoft.com/office/drawing/2014/main" id="{B3D281CE-D499-4A83-926D-8DD7558F946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F7FE335-B404-43E3-A805-C9D0DC7009B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Practical readiness means a learner can perform a role-relevant task safely, accurately, and transparently. A certificate should reflect only the criteria approved by DWIHN and Netlink. A strong model combines knowledge results with observed practical evidence.</a:t>
            </a:r>
          </a:p>
        </p:txBody>
      </p:sp>
      <p:sp>
        <p:nvSpPr>
          <p:cNvPr id="5" name="">
            <a:extLst xmlns:a="http://schemas.openxmlformats.org/drawingml/2006/main">
              <a:ext uri="{FF2B5EF4-FFF2-40B4-BE49-F238E27FC236}">
                <a16:creationId xmlns:a16="http://schemas.microsoft.com/office/drawing/2014/main" id="{78C2A309-DFD4-4B4D-884C-85381EA6134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D2CDBB4-9419-48FC-A119-9BA9F0FF5FD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synthetic or specifically approved training information.</a:t>
            </a:r>
          </a:p>
          <a:p xmlns:a="http://schemas.openxmlformats.org/drawingml/2006/main">
            <a:pPr marL="254000" indent="-127000">
              <a:spcAft>
                <a:spcPts val="600"/>
              </a:spcAft>
              <a:buChar char="•"/>
              <a:defRPr sz="1650">
                <a:solidFill>
                  <a:srgbClr val="1D2833"/>
                </a:solidFill>
                <a:latin typeface="Arial"/>
                <a:ea typeface="Arial"/>
                <a:cs typeface="Arial"/>
              </a:defRPr>
            </a:pPr>
            <a:r>
              <a:t>Assess the process as well as the final product.</a:t>
            </a:r>
          </a:p>
          <a:p xmlns:a="http://schemas.openxmlformats.org/drawingml/2006/main">
            <a:pPr marL="254000" indent="-127000">
              <a:spcAft>
                <a:spcPts val="600"/>
              </a:spcAft>
              <a:buChar char="•"/>
              <a:defRPr sz="1650">
                <a:solidFill>
                  <a:srgbClr val="1D2833"/>
                </a:solidFill>
                <a:latin typeface="Arial"/>
                <a:ea typeface="Arial"/>
                <a:cs typeface="Arial"/>
              </a:defRPr>
            </a:pPr>
            <a:r>
              <a:t>Require source verification and correct human approval.</a:t>
            </a:r>
          </a:p>
          <a:p xmlns:a="http://schemas.openxmlformats.org/drawingml/2006/main">
            <a:pPr marL="254000" indent="-127000">
              <a:spcAft>
                <a:spcPts val="600"/>
              </a:spcAft>
              <a:buChar char="•"/>
              <a:defRPr sz="1650">
                <a:solidFill>
                  <a:srgbClr val="1D2833"/>
                </a:solidFill>
                <a:latin typeface="Arial"/>
                <a:ea typeface="Arial"/>
                <a:cs typeface="Arial"/>
              </a:defRPr>
            </a:pPr>
            <a:r>
              <a:t>Define remediation, reassessment, and certificate wording.</a:t>
            </a:r>
          </a:p>
        </p:txBody>
      </p:sp>
      <p:sp>
        <p:nvSpPr>
          <p:cNvPr id="7" name="">
            <a:extLst xmlns:a="http://schemas.openxmlformats.org/drawingml/2006/main">
              <a:ext uri="{FF2B5EF4-FFF2-40B4-BE49-F238E27FC236}">
                <a16:creationId xmlns:a16="http://schemas.microsoft.com/office/drawing/2014/main" id="{C4EAAAA1-5B58-4ACD-A45E-79644146CBA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372A8E2-7061-40ED-9073-ACA966E34A0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call-center learner corrects a fictional summary, identifies the evidence for every correction, protects the information, and explains the required follow-up. The assessor scores the process, not just the final wording.</a:t>
            </a:r>
          </a:p>
        </p:txBody>
      </p:sp>
      <p:sp>
        <p:nvSpPr>
          <p:cNvPr id="9" name="">
            <a:extLst xmlns:a="http://schemas.openxmlformats.org/drawingml/2006/main">
              <a:ext uri="{FF2B5EF4-FFF2-40B4-BE49-F238E27FC236}">
                <a16:creationId xmlns:a16="http://schemas.microsoft.com/office/drawing/2014/main" id="{64F98A06-2EFC-4807-A23E-DD4F2CA57D8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91D1173-7B62-4377-9317-307280A2FBF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Practical assessment supports certification decisions, supervisor confidence, targeted coaching, onboarding evidence, and planning for continued supervised practice.</a:t>
            </a:r>
          </a:p>
        </p:txBody>
      </p:sp>
      <p:sp>
        <p:nvSpPr>
          <p:cNvPr id="11" name="">
            <a:extLst xmlns:a="http://schemas.openxmlformats.org/drawingml/2006/main">
              <a:ext uri="{FF2B5EF4-FFF2-40B4-BE49-F238E27FC236}">
                <a16:creationId xmlns:a16="http://schemas.microsoft.com/office/drawing/2014/main" id="{213317A1-8805-44BE-AD9F-6DDE27BB899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7E8A3912-9AB2-4B26-8543-97290F6E63A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97</a:t>
            </a:r>
          </a:p>
        </p:txBody>
      </p:sp>
    </p:spTree>
    <p:extLst>
      <p:ext uri="{BB962C8B-B14F-4D97-AF65-F5344CB8AC3E}">
        <p14:creationId xmlns:p14="http://schemas.microsoft.com/office/powerpoint/2010/main" val="1578751152"/>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2FB848-F8F0-474A-AA8E-B76A66507F5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1BBF98C1-2C8B-4C56-845F-0D91CB8A8BB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5"/>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 process and practice</a:t>
            </a:r>
          </a:p>
        </p:txBody>
      </p:sp>
      <p:sp>
        <p:nvSpPr>
          <p:cNvPr id="3" name="">
            <a:extLst xmlns:a="http://schemas.openxmlformats.org/drawingml/2006/main">
              <a:ext uri="{FF2B5EF4-FFF2-40B4-BE49-F238E27FC236}">
                <a16:creationId xmlns:a16="http://schemas.microsoft.com/office/drawing/2014/main" id="{00447CFC-07F2-4E1C-BADB-A0F79167C67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4EB045E-62FD-4AA4-9CC4-F0ECA4D9305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Assign an approved role-specific capstone scenario.</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Observe the learner's tool, data, prompt, and verification choices.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Score the evidence with a consistent rubric.</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Provide feedback and remediation where needed.</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Record completion and issue any certificate under the confirmed rules.</a:t>
            </a:r>
          </a:p>
        </p:txBody>
      </p:sp>
      <p:sp>
        <p:nvSpPr>
          <p:cNvPr id="5" name="">
            <a:extLst xmlns:a="http://schemas.openxmlformats.org/drawingml/2006/main">
              <a:ext uri="{FF2B5EF4-FFF2-40B4-BE49-F238E27FC236}">
                <a16:creationId xmlns:a16="http://schemas.microsoft.com/office/drawing/2014/main" id="{FE7A10B1-9D32-43B8-8F2E-FC8F1A31BCF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A362C46-7F39-47BF-86AC-DF5D0678F0A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practical rubric can score authorization, accuracy, privacy, tool operation, critical thinking, human accountability, communication, and governance response as meets, partially meets, or does not yet meet.</a:t>
            </a:r>
          </a:p>
        </p:txBody>
      </p:sp>
      <p:sp>
        <p:nvSpPr>
          <p:cNvPr id="7" name="">
            <a:extLst xmlns:a="http://schemas.openxmlformats.org/drawingml/2006/main">
              <a:ext uri="{FF2B5EF4-FFF2-40B4-BE49-F238E27FC236}">
                <a16:creationId xmlns:a16="http://schemas.microsoft.com/office/drawing/2014/main" id="{03A26339-BADC-4369-B272-A481748B7CC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8F84DDF-26CC-4EB2-BED2-09B11129882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Programs may score only the polished output, use real sensitive data unnecessarily, certify attendance instead of competence, apply different standards across assessors, or imply that a certificate authorizes unapproved AI use.</a:t>
            </a:r>
          </a:p>
        </p:txBody>
      </p:sp>
      <p:sp>
        <p:nvSpPr>
          <p:cNvPr id="9" name="">
            <a:extLst xmlns:a="http://schemas.openxmlformats.org/drawingml/2006/main">
              <a:ext uri="{FF2B5EF4-FFF2-40B4-BE49-F238E27FC236}">
                <a16:creationId xmlns:a16="http://schemas.microsoft.com/office/drawing/2014/main" id="{017E0DCA-0648-4702-B230-0F29B7741B7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59BD779E-3A75-43C6-96AA-F4C5D48D022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98</a:t>
            </a:r>
          </a:p>
        </p:txBody>
      </p:sp>
    </p:spTree>
    <p:extLst>
      <p:ext uri="{BB962C8B-B14F-4D97-AF65-F5344CB8AC3E}">
        <p14:creationId xmlns:p14="http://schemas.microsoft.com/office/powerpoint/2010/main" val="170220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2026-10-01T07:26:44.4570000Z</dcterms:created>
  <dcterms:modified xsi:type="dcterms:W3CDTF">2026-10-01T07:26:44.4570000Z</dcterms:modified>
</coreProperties>
</file>